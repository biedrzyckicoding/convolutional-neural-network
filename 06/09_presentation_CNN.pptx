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29.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459" r:id="rId3"/>
    <p:sldId id="463" r:id="rId4"/>
    <p:sldId id="433" r:id="rId5"/>
    <p:sldId id="478" r:id="rId6"/>
    <p:sldId id="437" r:id="rId7"/>
    <p:sldId id="477" r:id="rId8"/>
    <p:sldId id="479" r:id="rId9"/>
    <p:sldId id="476" r:id="rId10"/>
    <p:sldId id="440" r:id="rId11"/>
    <p:sldId id="452" r:id="rId12"/>
    <p:sldId id="480" r:id="rId13"/>
    <p:sldId id="442" r:id="rId14"/>
    <p:sldId id="465" r:id="rId15"/>
    <p:sldId id="443" r:id="rId16"/>
    <p:sldId id="464" r:id="rId17"/>
    <p:sldId id="462" r:id="rId18"/>
    <p:sldId id="466" r:id="rId19"/>
    <p:sldId id="448" r:id="rId20"/>
    <p:sldId id="446" r:id="rId21"/>
    <p:sldId id="447" r:id="rId22"/>
    <p:sldId id="450" r:id="rId23"/>
    <p:sldId id="451" r:id="rId24"/>
    <p:sldId id="454" r:id="rId25"/>
    <p:sldId id="481" r:id="rId26"/>
    <p:sldId id="456" r:id="rId27"/>
    <p:sldId id="457" r:id="rId28"/>
    <p:sldId id="468" r:id="rId29"/>
    <p:sldId id="482" r:id="rId30"/>
    <p:sldId id="434" r:id="rId31"/>
    <p:sldId id="469" r:id="rId32"/>
    <p:sldId id="470" r:id="rId33"/>
    <p:sldId id="472" r:id="rId34"/>
    <p:sldId id="475" r:id="rId35"/>
    <p:sldId id="382" r:id="rId36"/>
    <p:sldId id="473" r:id="rId37"/>
    <p:sldId id="474" r:id="rId38"/>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1D12"/>
    <a:srgbClr val="D50B14"/>
    <a:srgbClr val="D9D9D9"/>
    <a:srgbClr val="FFFFFF"/>
    <a:srgbClr val="A6A6A6"/>
    <a:srgbClr val="0097FF"/>
    <a:srgbClr val="FFF6F6"/>
    <a:srgbClr val="077FD1"/>
    <a:srgbClr val="CCCC00"/>
    <a:srgbClr val="FE8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56" autoAdjust="0"/>
  </p:normalViewPr>
  <p:slideViewPr>
    <p:cSldViewPr snapToGrid="0">
      <p:cViewPr varScale="1">
        <p:scale>
          <a:sx n="65" d="100"/>
          <a:sy n="65" d="100"/>
        </p:scale>
        <p:origin x="115" y="12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B374E-C124-41D9-BBB6-ECAA2500807F}" type="datetimeFigureOut">
              <a:rPr lang="en-GB" smtClean="0"/>
              <a:t>03/05/2026</a:t>
            </a:fld>
            <a:endParaRPr lang="en-GB"/>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D5780C-498F-4D80-A2E8-CAEC8B43167D}" type="slidenum">
              <a:rPr lang="en-GB" smtClean="0"/>
              <a:t>‹#›</a:t>
            </a:fld>
            <a:endParaRPr lang="en-GB"/>
          </a:p>
        </p:txBody>
      </p:sp>
    </p:spTree>
    <p:extLst>
      <p:ext uri="{BB962C8B-B14F-4D97-AF65-F5344CB8AC3E}">
        <p14:creationId xmlns:p14="http://schemas.microsoft.com/office/powerpoint/2010/main" val="1657984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1</a:t>
            </a:fld>
            <a:endParaRPr lang="en-GB"/>
          </a:p>
        </p:txBody>
      </p:sp>
    </p:spTree>
    <p:extLst>
      <p:ext uri="{BB962C8B-B14F-4D97-AF65-F5344CB8AC3E}">
        <p14:creationId xmlns:p14="http://schemas.microsoft.com/office/powerpoint/2010/main" val="336538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2</a:t>
            </a:fld>
            <a:endParaRPr lang="en-GB"/>
          </a:p>
        </p:txBody>
      </p:sp>
    </p:spTree>
    <p:extLst>
      <p:ext uri="{BB962C8B-B14F-4D97-AF65-F5344CB8AC3E}">
        <p14:creationId xmlns:p14="http://schemas.microsoft.com/office/powerpoint/2010/main" val="2653739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3</a:t>
            </a:fld>
            <a:endParaRPr lang="en-GB"/>
          </a:p>
        </p:txBody>
      </p:sp>
    </p:spTree>
    <p:extLst>
      <p:ext uri="{BB962C8B-B14F-4D97-AF65-F5344CB8AC3E}">
        <p14:creationId xmlns:p14="http://schemas.microsoft.com/office/powerpoint/2010/main" val="4250342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4</a:t>
            </a:fld>
            <a:endParaRPr lang="en-GB"/>
          </a:p>
        </p:txBody>
      </p:sp>
    </p:spTree>
    <p:extLst>
      <p:ext uri="{BB962C8B-B14F-4D97-AF65-F5344CB8AC3E}">
        <p14:creationId xmlns:p14="http://schemas.microsoft.com/office/powerpoint/2010/main" val="274343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5</a:t>
            </a:fld>
            <a:endParaRPr lang="en-GB"/>
          </a:p>
        </p:txBody>
      </p:sp>
    </p:spTree>
    <p:extLst>
      <p:ext uri="{BB962C8B-B14F-4D97-AF65-F5344CB8AC3E}">
        <p14:creationId xmlns:p14="http://schemas.microsoft.com/office/powerpoint/2010/main" val="39617274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6</a:t>
            </a:fld>
            <a:endParaRPr lang="en-GB"/>
          </a:p>
        </p:txBody>
      </p:sp>
    </p:spTree>
    <p:extLst>
      <p:ext uri="{BB962C8B-B14F-4D97-AF65-F5344CB8AC3E}">
        <p14:creationId xmlns:p14="http://schemas.microsoft.com/office/powerpoint/2010/main" val="29050469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7</a:t>
            </a:fld>
            <a:endParaRPr lang="en-GB"/>
          </a:p>
        </p:txBody>
      </p:sp>
    </p:spTree>
    <p:extLst>
      <p:ext uri="{BB962C8B-B14F-4D97-AF65-F5344CB8AC3E}">
        <p14:creationId xmlns:p14="http://schemas.microsoft.com/office/powerpoint/2010/main" val="4046142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8</a:t>
            </a:fld>
            <a:endParaRPr lang="en-GB"/>
          </a:p>
        </p:txBody>
      </p:sp>
    </p:spTree>
    <p:extLst>
      <p:ext uri="{BB962C8B-B14F-4D97-AF65-F5344CB8AC3E}">
        <p14:creationId xmlns:p14="http://schemas.microsoft.com/office/powerpoint/2010/main" val="1949781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9</a:t>
            </a:fld>
            <a:endParaRPr lang="en-GB"/>
          </a:p>
        </p:txBody>
      </p:sp>
    </p:spTree>
    <p:extLst>
      <p:ext uri="{BB962C8B-B14F-4D97-AF65-F5344CB8AC3E}">
        <p14:creationId xmlns:p14="http://schemas.microsoft.com/office/powerpoint/2010/main" val="18640053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10</a:t>
            </a:fld>
            <a:endParaRPr lang="en-GB"/>
          </a:p>
        </p:txBody>
      </p:sp>
    </p:spTree>
    <p:extLst>
      <p:ext uri="{BB962C8B-B14F-4D97-AF65-F5344CB8AC3E}">
        <p14:creationId xmlns:p14="http://schemas.microsoft.com/office/powerpoint/2010/main" val="3186012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11</a:t>
            </a:fld>
            <a:endParaRPr lang="en-GB"/>
          </a:p>
        </p:txBody>
      </p:sp>
    </p:spTree>
    <p:extLst>
      <p:ext uri="{BB962C8B-B14F-4D97-AF65-F5344CB8AC3E}">
        <p14:creationId xmlns:p14="http://schemas.microsoft.com/office/powerpoint/2010/main" val="3260767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12</a:t>
            </a:fld>
            <a:endParaRPr lang="en-GB"/>
          </a:p>
        </p:txBody>
      </p:sp>
    </p:spTree>
    <p:extLst>
      <p:ext uri="{BB962C8B-B14F-4D97-AF65-F5344CB8AC3E}">
        <p14:creationId xmlns:p14="http://schemas.microsoft.com/office/powerpoint/2010/main" val="34236076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13</a:t>
            </a:fld>
            <a:endParaRPr lang="en-GB"/>
          </a:p>
        </p:txBody>
      </p:sp>
    </p:spTree>
    <p:extLst>
      <p:ext uri="{BB962C8B-B14F-4D97-AF65-F5344CB8AC3E}">
        <p14:creationId xmlns:p14="http://schemas.microsoft.com/office/powerpoint/2010/main" val="36630404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14</a:t>
            </a:fld>
            <a:endParaRPr lang="en-GB"/>
          </a:p>
        </p:txBody>
      </p:sp>
    </p:spTree>
    <p:extLst>
      <p:ext uri="{BB962C8B-B14F-4D97-AF65-F5344CB8AC3E}">
        <p14:creationId xmlns:p14="http://schemas.microsoft.com/office/powerpoint/2010/main" val="9102680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15</a:t>
            </a:fld>
            <a:endParaRPr lang="en-GB"/>
          </a:p>
        </p:txBody>
      </p:sp>
    </p:spTree>
    <p:extLst>
      <p:ext uri="{BB962C8B-B14F-4D97-AF65-F5344CB8AC3E}">
        <p14:creationId xmlns:p14="http://schemas.microsoft.com/office/powerpoint/2010/main" val="32445405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16</a:t>
            </a:fld>
            <a:endParaRPr lang="en-GB"/>
          </a:p>
        </p:txBody>
      </p:sp>
    </p:spTree>
    <p:extLst>
      <p:ext uri="{BB962C8B-B14F-4D97-AF65-F5344CB8AC3E}">
        <p14:creationId xmlns:p14="http://schemas.microsoft.com/office/powerpoint/2010/main" val="26772894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17</a:t>
            </a:fld>
            <a:endParaRPr lang="en-GB"/>
          </a:p>
        </p:txBody>
      </p:sp>
    </p:spTree>
    <p:extLst>
      <p:ext uri="{BB962C8B-B14F-4D97-AF65-F5344CB8AC3E}">
        <p14:creationId xmlns:p14="http://schemas.microsoft.com/office/powerpoint/2010/main" val="6620456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18</a:t>
            </a:fld>
            <a:endParaRPr lang="en-GB"/>
          </a:p>
        </p:txBody>
      </p:sp>
    </p:spTree>
    <p:extLst>
      <p:ext uri="{BB962C8B-B14F-4D97-AF65-F5344CB8AC3E}">
        <p14:creationId xmlns:p14="http://schemas.microsoft.com/office/powerpoint/2010/main" val="5065826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19</a:t>
            </a:fld>
            <a:endParaRPr lang="en-GB"/>
          </a:p>
        </p:txBody>
      </p:sp>
    </p:spTree>
    <p:extLst>
      <p:ext uri="{BB962C8B-B14F-4D97-AF65-F5344CB8AC3E}">
        <p14:creationId xmlns:p14="http://schemas.microsoft.com/office/powerpoint/2010/main" val="19092248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20</a:t>
            </a:fld>
            <a:endParaRPr lang="en-GB"/>
          </a:p>
        </p:txBody>
      </p:sp>
    </p:spTree>
    <p:extLst>
      <p:ext uri="{BB962C8B-B14F-4D97-AF65-F5344CB8AC3E}">
        <p14:creationId xmlns:p14="http://schemas.microsoft.com/office/powerpoint/2010/main" val="8631753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21</a:t>
            </a:fld>
            <a:endParaRPr lang="en-GB"/>
          </a:p>
        </p:txBody>
      </p:sp>
    </p:spTree>
    <p:extLst>
      <p:ext uri="{BB962C8B-B14F-4D97-AF65-F5344CB8AC3E}">
        <p14:creationId xmlns:p14="http://schemas.microsoft.com/office/powerpoint/2010/main" val="37119845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22</a:t>
            </a:fld>
            <a:endParaRPr lang="en-GB"/>
          </a:p>
        </p:txBody>
      </p:sp>
    </p:spTree>
    <p:extLst>
      <p:ext uri="{BB962C8B-B14F-4D97-AF65-F5344CB8AC3E}">
        <p14:creationId xmlns:p14="http://schemas.microsoft.com/office/powerpoint/2010/main" val="29534018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23</a:t>
            </a:fld>
            <a:endParaRPr lang="en-GB"/>
          </a:p>
        </p:txBody>
      </p:sp>
    </p:spTree>
    <p:extLst>
      <p:ext uri="{BB962C8B-B14F-4D97-AF65-F5344CB8AC3E}">
        <p14:creationId xmlns:p14="http://schemas.microsoft.com/office/powerpoint/2010/main" val="9959125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24</a:t>
            </a:fld>
            <a:endParaRPr lang="en-GB"/>
          </a:p>
        </p:txBody>
      </p:sp>
    </p:spTree>
    <p:extLst>
      <p:ext uri="{BB962C8B-B14F-4D97-AF65-F5344CB8AC3E}">
        <p14:creationId xmlns:p14="http://schemas.microsoft.com/office/powerpoint/2010/main" val="27740502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25</a:t>
            </a:fld>
            <a:endParaRPr lang="en-GB"/>
          </a:p>
        </p:txBody>
      </p:sp>
    </p:spTree>
    <p:extLst>
      <p:ext uri="{BB962C8B-B14F-4D97-AF65-F5344CB8AC3E}">
        <p14:creationId xmlns:p14="http://schemas.microsoft.com/office/powerpoint/2010/main" val="22889830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26</a:t>
            </a:fld>
            <a:endParaRPr lang="en-GB"/>
          </a:p>
        </p:txBody>
      </p:sp>
    </p:spTree>
    <p:extLst>
      <p:ext uri="{BB962C8B-B14F-4D97-AF65-F5344CB8AC3E}">
        <p14:creationId xmlns:p14="http://schemas.microsoft.com/office/powerpoint/2010/main" val="36107549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27</a:t>
            </a:fld>
            <a:endParaRPr lang="en-GB"/>
          </a:p>
        </p:txBody>
      </p:sp>
    </p:spTree>
    <p:extLst>
      <p:ext uri="{BB962C8B-B14F-4D97-AF65-F5344CB8AC3E}">
        <p14:creationId xmlns:p14="http://schemas.microsoft.com/office/powerpoint/2010/main" val="28409538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28</a:t>
            </a:fld>
            <a:endParaRPr lang="en-GB"/>
          </a:p>
        </p:txBody>
      </p:sp>
    </p:spTree>
    <p:extLst>
      <p:ext uri="{BB962C8B-B14F-4D97-AF65-F5344CB8AC3E}">
        <p14:creationId xmlns:p14="http://schemas.microsoft.com/office/powerpoint/2010/main" val="5731790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29</a:t>
            </a:fld>
            <a:endParaRPr lang="en-GB"/>
          </a:p>
        </p:txBody>
      </p:sp>
    </p:spTree>
    <p:extLst>
      <p:ext uri="{BB962C8B-B14F-4D97-AF65-F5344CB8AC3E}">
        <p14:creationId xmlns:p14="http://schemas.microsoft.com/office/powerpoint/2010/main" val="19709203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30</a:t>
            </a:fld>
            <a:endParaRPr lang="en-GB"/>
          </a:p>
        </p:txBody>
      </p:sp>
    </p:spTree>
    <p:extLst>
      <p:ext uri="{BB962C8B-B14F-4D97-AF65-F5344CB8AC3E}">
        <p14:creationId xmlns:p14="http://schemas.microsoft.com/office/powerpoint/2010/main" val="26432162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31</a:t>
            </a:fld>
            <a:endParaRPr lang="en-GB"/>
          </a:p>
        </p:txBody>
      </p:sp>
    </p:spTree>
    <p:extLst>
      <p:ext uri="{BB962C8B-B14F-4D97-AF65-F5344CB8AC3E}">
        <p14:creationId xmlns:p14="http://schemas.microsoft.com/office/powerpoint/2010/main" val="800187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CDD5780C-498F-4D80-A2E8-CAEC8B43167D}" type="slidenum">
              <a:rPr lang="en-GB" smtClean="0"/>
              <a:t>32</a:t>
            </a:fld>
            <a:endParaRPr lang="en-GB"/>
          </a:p>
        </p:txBody>
      </p:sp>
    </p:spTree>
    <p:extLst>
      <p:ext uri="{BB962C8B-B14F-4D97-AF65-F5344CB8AC3E}">
        <p14:creationId xmlns:p14="http://schemas.microsoft.com/office/powerpoint/2010/main" val="1126609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2E747AB-326F-B2E1-7146-1E927BA114BF}"/>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endParaRPr lang="en-GB"/>
          </a:p>
        </p:txBody>
      </p:sp>
      <p:sp>
        <p:nvSpPr>
          <p:cNvPr id="3" name="Podtytuł 2">
            <a:extLst>
              <a:ext uri="{FF2B5EF4-FFF2-40B4-BE49-F238E27FC236}">
                <a16:creationId xmlns:a16="http://schemas.microsoft.com/office/drawing/2014/main" id="{343827C0-D8A4-20A4-3074-A24BC937EB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endParaRPr lang="en-GB"/>
          </a:p>
        </p:txBody>
      </p:sp>
      <p:sp>
        <p:nvSpPr>
          <p:cNvPr id="4" name="Symbol zastępczy daty 3">
            <a:extLst>
              <a:ext uri="{FF2B5EF4-FFF2-40B4-BE49-F238E27FC236}">
                <a16:creationId xmlns:a16="http://schemas.microsoft.com/office/drawing/2014/main" id="{E9093A10-0B8F-E7D8-558D-2C709AE7DC71}"/>
              </a:ext>
            </a:extLst>
          </p:cNvPr>
          <p:cNvSpPr>
            <a:spLocks noGrp="1"/>
          </p:cNvSpPr>
          <p:nvPr>
            <p:ph type="dt" sz="half" idx="10"/>
          </p:nvPr>
        </p:nvSpPr>
        <p:spPr/>
        <p:txBody>
          <a:bodyPr/>
          <a:lstStyle/>
          <a:p>
            <a:fld id="{B11F8598-CEE1-4313-B0EC-9E2E7844C6A9}" type="datetimeFigureOut">
              <a:rPr lang="en-GB" smtClean="0"/>
              <a:t>03/05/2026</a:t>
            </a:fld>
            <a:endParaRPr lang="en-GB"/>
          </a:p>
        </p:txBody>
      </p:sp>
      <p:sp>
        <p:nvSpPr>
          <p:cNvPr id="5" name="Symbol zastępczy stopki 4">
            <a:extLst>
              <a:ext uri="{FF2B5EF4-FFF2-40B4-BE49-F238E27FC236}">
                <a16:creationId xmlns:a16="http://schemas.microsoft.com/office/drawing/2014/main" id="{153EEF81-BFC4-4A61-0DFE-D1198487A7A8}"/>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0D4E90CC-5A5E-03A6-640D-32ADB831BE36}"/>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2025929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26FC42C-294B-3013-FE56-6D8A4D0B748B}"/>
              </a:ext>
            </a:extLst>
          </p:cNvPr>
          <p:cNvSpPr>
            <a:spLocks noGrp="1"/>
          </p:cNvSpPr>
          <p:nvPr>
            <p:ph type="title"/>
          </p:nvPr>
        </p:nvSpPr>
        <p:spPr/>
        <p:txBody>
          <a:body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F0CC13FC-E145-92B1-F10B-E65A43FC269E}"/>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9C5BE417-FEB8-EC14-CA75-B1C3A93EA29F}"/>
              </a:ext>
            </a:extLst>
          </p:cNvPr>
          <p:cNvSpPr>
            <a:spLocks noGrp="1"/>
          </p:cNvSpPr>
          <p:nvPr>
            <p:ph type="dt" sz="half" idx="10"/>
          </p:nvPr>
        </p:nvSpPr>
        <p:spPr/>
        <p:txBody>
          <a:bodyPr/>
          <a:lstStyle/>
          <a:p>
            <a:fld id="{B11F8598-CEE1-4313-B0EC-9E2E7844C6A9}" type="datetimeFigureOut">
              <a:rPr lang="en-GB" smtClean="0"/>
              <a:t>03/05/2026</a:t>
            </a:fld>
            <a:endParaRPr lang="en-GB"/>
          </a:p>
        </p:txBody>
      </p:sp>
      <p:sp>
        <p:nvSpPr>
          <p:cNvPr id="5" name="Symbol zastępczy stopki 4">
            <a:extLst>
              <a:ext uri="{FF2B5EF4-FFF2-40B4-BE49-F238E27FC236}">
                <a16:creationId xmlns:a16="http://schemas.microsoft.com/office/drawing/2014/main" id="{2EC0E7AE-4A8E-5EC2-5778-71BA72F1A59F}"/>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0C5A110E-F859-5194-8C20-10C2171BFEAE}"/>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205023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F463A25-FB08-1EE1-A6E8-1F95F09C05A5}"/>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endParaRPr lang="en-GB"/>
          </a:p>
        </p:txBody>
      </p:sp>
      <p:sp>
        <p:nvSpPr>
          <p:cNvPr id="3" name="Symbol zastępczy tekstu 2">
            <a:extLst>
              <a:ext uri="{FF2B5EF4-FFF2-40B4-BE49-F238E27FC236}">
                <a16:creationId xmlns:a16="http://schemas.microsoft.com/office/drawing/2014/main" id="{BEA0E39A-59F3-D655-0414-999176D366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A67E7050-F760-DBD5-CAAE-52EAE6053BA5}"/>
              </a:ext>
            </a:extLst>
          </p:cNvPr>
          <p:cNvSpPr>
            <a:spLocks noGrp="1"/>
          </p:cNvSpPr>
          <p:nvPr>
            <p:ph type="dt" sz="half" idx="10"/>
          </p:nvPr>
        </p:nvSpPr>
        <p:spPr/>
        <p:txBody>
          <a:bodyPr/>
          <a:lstStyle/>
          <a:p>
            <a:fld id="{B11F8598-CEE1-4313-B0EC-9E2E7844C6A9}" type="datetimeFigureOut">
              <a:rPr lang="en-GB" smtClean="0"/>
              <a:t>03/05/2026</a:t>
            </a:fld>
            <a:endParaRPr lang="en-GB"/>
          </a:p>
        </p:txBody>
      </p:sp>
      <p:sp>
        <p:nvSpPr>
          <p:cNvPr id="5" name="Symbol zastępczy stopki 4">
            <a:extLst>
              <a:ext uri="{FF2B5EF4-FFF2-40B4-BE49-F238E27FC236}">
                <a16:creationId xmlns:a16="http://schemas.microsoft.com/office/drawing/2014/main" id="{731E1B1B-D894-975A-9A4F-EE19C4B3BA49}"/>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4B47EC01-C127-4C96-5D90-003A47ECD01C}"/>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2373564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6169E4B-00AE-0F35-8B6B-81403B1BB26D}"/>
              </a:ext>
            </a:extLst>
          </p:cNvPr>
          <p:cNvSpPr>
            <a:spLocks noGrp="1"/>
          </p:cNvSpPr>
          <p:nvPr>
            <p:ph type="title"/>
          </p:nvPr>
        </p:nvSpPr>
        <p:spPr/>
        <p:txBody>
          <a:body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9293F1B7-1403-88EE-2621-F611F94A123B}"/>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zawartości 3">
            <a:extLst>
              <a:ext uri="{FF2B5EF4-FFF2-40B4-BE49-F238E27FC236}">
                <a16:creationId xmlns:a16="http://schemas.microsoft.com/office/drawing/2014/main" id="{4EA9CDC6-CE61-0671-496B-8B34B5179605}"/>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daty 4">
            <a:extLst>
              <a:ext uri="{FF2B5EF4-FFF2-40B4-BE49-F238E27FC236}">
                <a16:creationId xmlns:a16="http://schemas.microsoft.com/office/drawing/2014/main" id="{BDBBF54D-B151-7996-C9F0-22D5021222FE}"/>
              </a:ext>
            </a:extLst>
          </p:cNvPr>
          <p:cNvSpPr>
            <a:spLocks noGrp="1"/>
          </p:cNvSpPr>
          <p:nvPr>
            <p:ph type="dt" sz="half" idx="10"/>
          </p:nvPr>
        </p:nvSpPr>
        <p:spPr/>
        <p:txBody>
          <a:bodyPr/>
          <a:lstStyle/>
          <a:p>
            <a:fld id="{B11F8598-CEE1-4313-B0EC-9E2E7844C6A9}" type="datetimeFigureOut">
              <a:rPr lang="en-GB" smtClean="0"/>
              <a:t>03/05/2026</a:t>
            </a:fld>
            <a:endParaRPr lang="en-GB"/>
          </a:p>
        </p:txBody>
      </p:sp>
      <p:sp>
        <p:nvSpPr>
          <p:cNvPr id="6" name="Symbol zastępczy stopki 5">
            <a:extLst>
              <a:ext uri="{FF2B5EF4-FFF2-40B4-BE49-F238E27FC236}">
                <a16:creationId xmlns:a16="http://schemas.microsoft.com/office/drawing/2014/main" id="{40943587-D689-0712-1F52-936F56D42CC7}"/>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4287F366-6A0B-CACF-CAFB-FF2BBDAE49E3}"/>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1503831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480877D-5264-A4BC-CA1C-7F8180A5E936}"/>
              </a:ext>
            </a:extLst>
          </p:cNvPr>
          <p:cNvSpPr>
            <a:spLocks noGrp="1"/>
          </p:cNvSpPr>
          <p:nvPr>
            <p:ph type="title"/>
          </p:nvPr>
        </p:nvSpPr>
        <p:spPr>
          <a:xfrm>
            <a:off x="839788" y="365125"/>
            <a:ext cx="10515600" cy="1325563"/>
          </a:xfrm>
        </p:spPr>
        <p:txBody>
          <a:bodyPr/>
          <a:lstStyle/>
          <a:p>
            <a:r>
              <a:rPr lang="pl-PL"/>
              <a:t>Kliknij, aby edytować styl</a:t>
            </a:r>
            <a:endParaRPr lang="en-GB"/>
          </a:p>
        </p:txBody>
      </p:sp>
      <p:sp>
        <p:nvSpPr>
          <p:cNvPr id="3" name="Symbol zastępczy tekstu 2">
            <a:extLst>
              <a:ext uri="{FF2B5EF4-FFF2-40B4-BE49-F238E27FC236}">
                <a16:creationId xmlns:a16="http://schemas.microsoft.com/office/drawing/2014/main" id="{47E6C10A-5534-58C7-C5BD-7B50624C5F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7DA490DE-D352-CDB5-F2CC-FFC3086DEBC0}"/>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tekstu 4">
            <a:extLst>
              <a:ext uri="{FF2B5EF4-FFF2-40B4-BE49-F238E27FC236}">
                <a16:creationId xmlns:a16="http://schemas.microsoft.com/office/drawing/2014/main" id="{190733E1-6CEA-5E79-37A9-84143D9DCA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E4568DC5-03DA-4769-FE5C-FB1DA4FC926F}"/>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7" name="Symbol zastępczy daty 6">
            <a:extLst>
              <a:ext uri="{FF2B5EF4-FFF2-40B4-BE49-F238E27FC236}">
                <a16:creationId xmlns:a16="http://schemas.microsoft.com/office/drawing/2014/main" id="{95D7FA7F-473A-9911-6E8F-C03C77199F4C}"/>
              </a:ext>
            </a:extLst>
          </p:cNvPr>
          <p:cNvSpPr>
            <a:spLocks noGrp="1"/>
          </p:cNvSpPr>
          <p:nvPr>
            <p:ph type="dt" sz="half" idx="10"/>
          </p:nvPr>
        </p:nvSpPr>
        <p:spPr/>
        <p:txBody>
          <a:bodyPr/>
          <a:lstStyle/>
          <a:p>
            <a:fld id="{B11F8598-CEE1-4313-B0EC-9E2E7844C6A9}" type="datetimeFigureOut">
              <a:rPr lang="en-GB" smtClean="0"/>
              <a:t>03/05/2026</a:t>
            </a:fld>
            <a:endParaRPr lang="en-GB"/>
          </a:p>
        </p:txBody>
      </p:sp>
      <p:sp>
        <p:nvSpPr>
          <p:cNvPr id="8" name="Symbol zastępczy stopki 7">
            <a:extLst>
              <a:ext uri="{FF2B5EF4-FFF2-40B4-BE49-F238E27FC236}">
                <a16:creationId xmlns:a16="http://schemas.microsoft.com/office/drawing/2014/main" id="{013135E1-EEC1-CE00-FD55-45F41D83CD2D}"/>
              </a:ext>
            </a:extLst>
          </p:cNvPr>
          <p:cNvSpPr>
            <a:spLocks noGrp="1"/>
          </p:cNvSpPr>
          <p:nvPr>
            <p:ph type="ftr" sz="quarter" idx="11"/>
          </p:nvPr>
        </p:nvSpPr>
        <p:spPr/>
        <p:txBody>
          <a:bodyPr/>
          <a:lstStyle/>
          <a:p>
            <a:endParaRPr lang="en-GB"/>
          </a:p>
        </p:txBody>
      </p:sp>
      <p:sp>
        <p:nvSpPr>
          <p:cNvPr id="9" name="Symbol zastępczy numeru slajdu 8">
            <a:extLst>
              <a:ext uri="{FF2B5EF4-FFF2-40B4-BE49-F238E27FC236}">
                <a16:creationId xmlns:a16="http://schemas.microsoft.com/office/drawing/2014/main" id="{0F9114E1-647E-63AE-0406-D314C9BB7AF8}"/>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3621798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59B9C78-3902-3508-7FF1-F56E402DE779}"/>
              </a:ext>
            </a:extLst>
          </p:cNvPr>
          <p:cNvSpPr>
            <a:spLocks noGrp="1"/>
          </p:cNvSpPr>
          <p:nvPr>
            <p:ph type="title"/>
          </p:nvPr>
        </p:nvSpPr>
        <p:spPr/>
        <p:txBody>
          <a:bodyPr/>
          <a:lstStyle/>
          <a:p>
            <a:r>
              <a:rPr lang="pl-PL"/>
              <a:t>Kliknij, aby edytować styl</a:t>
            </a:r>
            <a:endParaRPr lang="en-GB"/>
          </a:p>
        </p:txBody>
      </p:sp>
      <p:sp>
        <p:nvSpPr>
          <p:cNvPr id="3" name="Symbol zastępczy daty 2">
            <a:extLst>
              <a:ext uri="{FF2B5EF4-FFF2-40B4-BE49-F238E27FC236}">
                <a16:creationId xmlns:a16="http://schemas.microsoft.com/office/drawing/2014/main" id="{90F099F8-9E9C-D882-9E1F-661CC4ACA418}"/>
              </a:ext>
            </a:extLst>
          </p:cNvPr>
          <p:cNvSpPr>
            <a:spLocks noGrp="1"/>
          </p:cNvSpPr>
          <p:nvPr>
            <p:ph type="dt" sz="half" idx="10"/>
          </p:nvPr>
        </p:nvSpPr>
        <p:spPr/>
        <p:txBody>
          <a:bodyPr/>
          <a:lstStyle/>
          <a:p>
            <a:fld id="{B11F8598-CEE1-4313-B0EC-9E2E7844C6A9}" type="datetimeFigureOut">
              <a:rPr lang="en-GB" smtClean="0"/>
              <a:t>03/05/2026</a:t>
            </a:fld>
            <a:endParaRPr lang="en-GB"/>
          </a:p>
        </p:txBody>
      </p:sp>
      <p:sp>
        <p:nvSpPr>
          <p:cNvPr id="4" name="Symbol zastępczy stopki 3">
            <a:extLst>
              <a:ext uri="{FF2B5EF4-FFF2-40B4-BE49-F238E27FC236}">
                <a16:creationId xmlns:a16="http://schemas.microsoft.com/office/drawing/2014/main" id="{4595CD80-65C3-D80F-38B7-25F223BE6F62}"/>
              </a:ext>
            </a:extLst>
          </p:cNvPr>
          <p:cNvSpPr>
            <a:spLocks noGrp="1"/>
          </p:cNvSpPr>
          <p:nvPr>
            <p:ph type="ftr" sz="quarter" idx="11"/>
          </p:nvPr>
        </p:nvSpPr>
        <p:spPr/>
        <p:txBody>
          <a:bodyPr/>
          <a:lstStyle/>
          <a:p>
            <a:endParaRPr lang="en-GB"/>
          </a:p>
        </p:txBody>
      </p:sp>
      <p:sp>
        <p:nvSpPr>
          <p:cNvPr id="5" name="Symbol zastępczy numeru slajdu 4">
            <a:extLst>
              <a:ext uri="{FF2B5EF4-FFF2-40B4-BE49-F238E27FC236}">
                <a16:creationId xmlns:a16="http://schemas.microsoft.com/office/drawing/2014/main" id="{272A0C49-B015-1DA1-335A-00E28CF25899}"/>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3896268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0086B763-5E96-7EF4-4DD5-F49B955990F1}"/>
              </a:ext>
            </a:extLst>
          </p:cNvPr>
          <p:cNvSpPr>
            <a:spLocks noGrp="1"/>
          </p:cNvSpPr>
          <p:nvPr>
            <p:ph type="dt" sz="half" idx="10"/>
          </p:nvPr>
        </p:nvSpPr>
        <p:spPr/>
        <p:txBody>
          <a:bodyPr/>
          <a:lstStyle/>
          <a:p>
            <a:fld id="{B11F8598-CEE1-4313-B0EC-9E2E7844C6A9}" type="datetimeFigureOut">
              <a:rPr lang="en-GB" smtClean="0"/>
              <a:t>03/05/2026</a:t>
            </a:fld>
            <a:endParaRPr lang="en-GB"/>
          </a:p>
        </p:txBody>
      </p:sp>
      <p:sp>
        <p:nvSpPr>
          <p:cNvPr id="3" name="Symbol zastępczy stopki 2">
            <a:extLst>
              <a:ext uri="{FF2B5EF4-FFF2-40B4-BE49-F238E27FC236}">
                <a16:creationId xmlns:a16="http://schemas.microsoft.com/office/drawing/2014/main" id="{DA13B523-FD47-2F48-852B-7F3F435DDEC8}"/>
              </a:ext>
            </a:extLst>
          </p:cNvPr>
          <p:cNvSpPr>
            <a:spLocks noGrp="1"/>
          </p:cNvSpPr>
          <p:nvPr>
            <p:ph type="ftr" sz="quarter" idx="11"/>
          </p:nvPr>
        </p:nvSpPr>
        <p:spPr/>
        <p:txBody>
          <a:bodyPr/>
          <a:lstStyle/>
          <a:p>
            <a:endParaRPr lang="en-GB"/>
          </a:p>
        </p:txBody>
      </p:sp>
      <p:sp>
        <p:nvSpPr>
          <p:cNvPr id="4" name="Symbol zastępczy numeru slajdu 3">
            <a:extLst>
              <a:ext uri="{FF2B5EF4-FFF2-40B4-BE49-F238E27FC236}">
                <a16:creationId xmlns:a16="http://schemas.microsoft.com/office/drawing/2014/main" id="{98235721-CF5A-11A4-830F-14CF12ED594C}"/>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2721650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829C407-1FC3-E890-12F7-1DD2C558CAE3}"/>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2F6770E2-6296-2DCE-7309-DFE41CB9AD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tekstu 3">
            <a:extLst>
              <a:ext uri="{FF2B5EF4-FFF2-40B4-BE49-F238E27FC236}">
                <a16:creationId xmlns:a16="http://schemas.microsoft.com/office/drawing/2014/main" id="{9A695488-34C4-0F46-D9EC-7A2118A57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432B74D8-4BE8-7E72-21A6-9C27DCBA5C23}"/>
              </a:ext>
            </a:extLst>
          </p:cNvPr>
          <p:cNvSpPr>
            <a:spLocks noGrp="1"/>
          </p:cNvSpPr>
          <p:nvPr>
            <p:ph type="dt" sz="half" idx="10"/>
          </p:nvPr>
        </p:nvSpPr>
        <p:spPr/>
        <p:txBody>
          <a:bodyPr/>
          <a:lstStyle/>
          <a:p>
            <a:fld id="{B11F8598-CEE1-4313-B0EC-9E2E7844C6A9}" type="datetimeFigureOut">
              <a:rPr lang="en-GB" smtClean="0"/>
              <a:t>03/05/2026</a:t>
            </a:fld>
            <a:endParaRPr lang="en-GB"/>
          </a:p>
        </p:txBody>
      </p:sp>
      <p:sp>
        <p:nvSpPr>
          <p:cNvPr id="6" name="Symbol zastępczy stopki 5">
            <a:extLst>
              <a:ext uri="{FF2B5EF4-FFF2-40B4-BE49-F238E27FC236}">
                <a16:creationId xmlns:a16="http://schemas.microsoft.com/office/drawing/2014/main" id="{1427F37E-8D53-C97D-1141-D14211DA56F6}"/>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F4F53947-3040-8E7E-88EF-6E88C73142C0}"/>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2150739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61D4589-2891-C6F8-5E1B-5C21793C9DAA}"/>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GB"/>
          </a:p>
        </p:txBody>
      </p:sp>
      <p:sp>
        <p:nvSpPr>
          <p:cNvPr id="3" name="Symbol zastępczy obrazu 2">
            <a:extLst>
              <a:ext uri="{FF2B5EF4-FFF2-40B4-BE49-F238E27FC236}">
                <a16:creationId xmlns:a16="http://schemas.microsoft.com/office/drawing/2014/main" id="{3F7EC560-BD00-7D14-C84E-2C4D47950C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ymbol zastępczy tekstu 3">
            <a:extLst>
              <a:ext uri="{FF2B5EF4-FFF2-40B4-BE49-F238E27FC236}">
                <a16:creationId xmlns:a16="http://schemas.microsoft.com/office/drawing/2014/main" id="{CDFDDD40-736C-C06F-171F-3F876AEE38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92DA1BAC-9759-183D-299D-37BD1C7B8145}"/>
              </a:ext>
            </a:extLst>
          </p:cNvPr>
          <p:cNvSpPr>
            <a:spLocks noGrp="1"/>
          </p:cNvSpPr>
          <p:nvPr>
            <p:ph type="dt" sz="half" idx="10"/>
          </p:nvPr>
        </p:nvSpPr>
        <p:spPr/>
        <p:txBody>
          <a:bodyPr/>
          <a:lstStyle/>
          <a:p>
            <a:fld id="{B11F8598-CEE1-4313-B0EC-9E2E7844C6A9}" type="datetimeFigureOut">
              <a:rPr lang="en-GB" smtClean="0"/>
              <a:t>03/05/2026</a:t>
            </a:fld>
            <a:endParaRPr lang="en-GB"/>
          </a:p>
        </p:txBody>
      </p:sp>
      <p:sp>
        <p:nvSpPr>
          <p:cNvPr id="6" name="Symbol zastępczy stopki 5">
            <a:extLst>
              <a:ext uri="{FF2B5EF4-FFF2-40B4-BE49-F238E27FC236}">
                <a16:creationId xmlns:a16="http://schemas.microsoft.com/office/drawing/2014/main" id="{3D1DAD6C-7168-D319-D3BF-FBE7C0C3D146}"/>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F8716449-CF42-05AA-92FC-0D1970C94266}"/>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3324930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8AB8DF6-CC8D-3D59-B04D-0EAE86A78D23}"/>
              </a:ext>
            </a:extLst>
          </p:cNvPr>
          <p:cNvSpPr>
            <a:spLocks noGrp="1"/>
          </p:cNvSpPr>
          <p:nvPr>
            <p:ph type="title"/>
          </p:nvPr>
        </p:nvSpPr>
        <p:spPr/>
        <p:txBody>
          <a:bodyPr/>
          <a:lstStyle/>
          <a:p>
            <a:r>
              <a:rPr lang="pl-PL"/>
              <a:t>Kliknij, aby edytować styl</a:t>
            </a:r>
            <a:endParaRPr lang="en-GB"/>
          </a:p>
        </p:txBody>
      </p:sp>
      <p:sp>
        <p:nvSpPr>
          <p:cNvPr id="3" name="Symbol zastępczy tytułu pionowego 2">
            <a:extLst>
              <a:ext uri="{FF2B5EF4-FFF2-40B4-BE49-F238E27FC236}">
                <a16:creationId xmlns:a16="http://schemas.microsoft.com/office/drawing/2014/main" id="{8ABC36A5-5667-183A-6054-97DDCDC0899E}"/>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95FAF951-2689-9084-7E89-F19664F505FA}"/>
              </a:ext>
            </a:extLst>
          </p:cNvPr>
          <p:cNvSpPr>
            <a:spLocks noGrp="1"/>
          </p:cNvSpPr>
          <p:nvPr>
            <p:ph type="dt" sz="half" idx="10"/>
          </p:nvPr>
        </p:nvSpPr>
        <p:spPr/>
        <p:txBody>
          <a:bodyPr/>
          <a:lstStyle/>
          <a:p>
            <a:fld id="{B11F8598-CEE1-4313-B0EC-9E2E7844C6A9}" type="datetimeFigureOut">
              <a:rPr lang="en-GB" smtClean="0"/>
              <a:t>03/05/2026</a:t>
            </a:fld>
            <a:endParaRPr lang="en-GB"/>
          </a:p>
        </p:txBody>
      </p:sp>
      <p:sp>
        <p:nvSpPr>
          <p:cNvPr id="5" name="Symbol zastępczy stopki 4">
            <a:extLst>
              <a:ext uri="{FF2B5EF4-FFF2-40B4-BE49-F238E27FC236}">
                <a16:creationId xmlns:a16="http://schemas.microsoft.com/office/drawing/2014/main" id="{121B1319-EAD1-91F6-D711-DB0D5502EB02}"/>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19B41CFD-4D1F-8A53-2986-2C8C23EC48AC}"/>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460585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FB2FE6BF-4F5F-CF2F-364B-3AB5BAAF80B0}"/>
              </a:ext>
            </a:extLst>
          </p:cNvPr>
          <p:cNvSpPr>
            <a:spLocks noGrp="1"/>
          </p:cNvSpPr>
          <p:nvPr>
            <p:ph type="title" orient="vert"/>
          </p:nvPr>
        </p:nvSpPr>
        <p:spPr>
          <a:xfrm>
            <a:off x="8724900" y="365125"/>
            <a:ext cx="2628900" cy="5811838"/>
          </a:xfrm>
        </p:spPr>
        <p:txBody>
          <a:bodyPr vert="eaVert"/>
          <a:lstStyle/>
          <a:p>
            <a:r>
              <a:rPr lang="pl-PL"/>
              <a:t>Kliknij, aby edytować styl</a:t>
            </a:r>
            <a:endParaRPr lang="en-GB"/>
          </a:p>
        </p:txBody>
      </p:sp>
      <p:sp>
        <p:nvSpPr>
          <p:cNvPr id="3" name="Symbol zastępczy tytułu pionowego 2">
            <a:extLst>
              <a:ext uri="{FF2B5EF4-FFF2-40B4-BE49-F238E27FC236}">
                <a16:creationId xmlns:a16="http://schemas.microsoft.com/office/drawing/2014/main" id="{4441972B-E788-21E9-2E9E-A2DD2034E823}"/>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5A5E385C-F1B0-8E2C-44E6-E886FB9C068D}"/>
              </a:ext>
            </a:extLst>
          </p:cNvPr>
          <p:cNvSpPr>
            <a:spLocks noGrp="1"/>
          </p:cNvSpPr>
          <p:nvPr>
            <p:ph type="dt" sz="half" idx="10"/>
          </p:nvPr>
        </p:nvSpPr>
        <p:spPr/>
        <p:txBody>
          <a:bodyPr/>
          <a:lstStyle/>
          <a:p>
            <a:fld id="{B11F8598-CEE1-4313-B0EC-9E2E7844C6A9}" type="datetimeFigureOut">
              <a:rPr lang="en-GB" smtClean="0"/>
              <a:t>03/05/2026</a:t>
            </a:fld>
            <a:endParaRPr lang="en-GB"/>
          </a:p>
        </p:txBody>
      </p:sp>
      <p:sp>
        <p:nvSpPr>
          <p:cNvPr id="5" name="Symbol zastępczy stopki 4">
            <a:extLst>
              <a:ext uri="{FF2B5EF4-FFF2-40B4-BE49-F238E27FC236}">
                <a16:creationId xmlns:a16="http://schemas.microsoft.com/office/drawing/2014/main" id="{AB5D1531-B7AF-21C8-8279-BEF2903DCEAD}"/>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892F2754-5E6E-6FC2-CF1D-03651FBF92E3}"/>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1947279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14702B23-6CDE-DA75-F729-234F81B360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endParaRPr lang="en-GB"/>
          </a:p>
        </p:txBody>
      </p:sp>
      <p:sp>
        <p:nvSpPr>
          <p:cNvPr id="3" name="Symbol zastępczy tekstu 2">
            <a:extLst>
              <a:ext uri="{FF2B5EF4-FFF2-40B4-BE49-F238E27FC236}">
                <a16:creationId xmlns:a16="http://schemas.microsoft.com/office/drawing/2014/main" id="{43B77AB8-C759-89AB-97BD-D98ADC3E57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A533BD9D-9CB8-49F1-0A43-E9488AC042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1F8598-CEE1-4313-B0EC-9E2E7844C6A9}" type="datetimeFigureOut">
              <a:rPr lang="en-GB" smtClean="0"/>
              <a:t>03/05/2026</a:t>
            </a:fld>
            <a:endParaRPr lang="en-GB"/>
          </a:p>
        </p:txBody>
      </p:sp>
      <p:sp>
        <p:nvSpPr>
          <p:cNvPr id="5" name="Symbol zastępczy stopki 4">
            <a:extLst>
              <a:ext uri="{FF2B5EF4-FFF2-40B4-BE49-F238E27FC236}">
                <a16:creationId xmlns:a16="http://schemas.microsoft.com/office/drawing/2014/main" id="{036A3CBB-D49C-F181-3C39-8FC22F0415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ymbol zastępczy numeru slajdu 5">
            <a:extLst>
              <a:ext uri="{FF2B5EF4-FFF2-40B4-BE49-F238E27FC236}">
                <a16:creationId xmlns:a16="http://schemas.microsoft.com/office/drawing/2014/main" id="{551852B1-CCC9-AC98-72F3-28F3562D33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D1ED3B-6DD1-43CE-AFDE-2D43C42D67E5}" type="slidenum">
              <a:rPr lang="en-GB" smtClean="0"/>
              <a:t>‹#›</a:t>
            </a:fld>
            <a:endParaRPr lang="en-GB"/>
          </a:p>
        </p:txBody>
      </p:sp>
    </p:spTree>
    <p:extLst>
      <p:ext uri="{BB962C8B-B14F-4D97-AF65-F5344CB8AC3E}">
        <p14:creationId xmlns:p14="http://schemas.microsoft.com/office/powerpoint/2010/main" val="3960343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hyperlink" Target="https://towardsdatascience.com/the-most-intuitive-and-easiest-guide-for-convolutional-neural-network-3607be47480"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hyperlink" Target="https://www.youtube.com/watch?v=HGwBXDKFk9I"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hyperlink" Target="https://www.youtube.com/watch?v=HGwBXDKFk9I"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HGwBXDKFk9I"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HGwBXDKFk9I"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HGwBXDKFk9I"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HGwBXDKFk9I"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HGwBXDKFk9I" TargetMode="External"/><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hyperlink" Target="https://www.youtube.com/watch?v=HGwBXDKFk9I" TargetMode="Externa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hyperlink" Target="https://www.youtube.com/watch?v=HGwBXDKFk9I" TargetMode="Externa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hyperlink" Target="https://www.youtube.com/watch?v=HGwBXDKFk9I" TargetMode="Externa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hyperlink" Target="https://www.youtube.com/watch?v=HGwBXDKFk9I" TargetMode="External"/><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hyperlink" Target="https://www.youtube.com/watch?v=HGwBXDKFk9I" TargetMode="External"/><Relationship Id="rId4" Type="http://schemas.microsoft.com/office/2007/relationships/hdphoto" Target="../media/hdphoto2.wdp"/></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hyperlink" Target="https://www.youtube.com/watch?v=HGwBXDKFk9I" TargetMode="External"/><Relationship Id="rId4" Type="http://schemas.microsoft.com/office/2007/relationships/hdphoto" Target="../media/hdphoto2.wdp"/></Relationships>
</file>

<file path=ppt/slides/_rels/slide16.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hyperlink" Target="https://towardsdatascience.com/the-most-intuitive-and-easiest-guide-for-convolutional-neural-network-3607be47480"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towardsdatascience.com/a-comprehensive-guide-to-convolutional-neural-networks-the-eli5-way-3bd2b1164a53" TargetMode="External"/><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6.gif"/><Relationship Id="rId4" Type="http://schemas.openxmlformats.org/officeDocument/2006/relationships/image" Target="../media/image15.gif"/></Relationships>
</file>

<file path=ppt/slides/_rels/slide18.xml.rels><?xml version="1.0" encoding="UTF-8" standalone="yes"?>
<Relationships xmlns="http://schemas.openxmlformats.org/package/2006/relationships"><Relationship Id="rId3" Type="http://schemas.openxmlformats.org/officeDocument/2006/relationships/hyperlink" Target="https://towardsdatascience.com/the-most-intuitive-and-easiest-guide-for-convolutional-neural-network-3607be47480" TargetMode="External"/><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hyperlink" Target="https://www.youtube.com/watch?v=HGwBXDKFk9I" TargetMode="External"/><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HGwBXDKFk9I" TargetMode="External"/><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hyperlink" Target="https://www.youtube.com/watch?v=HGwBXDKFk9I" TargetMode="External"/><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6.xml"/><Relationship Id="rId5" Type="http://schemas.openxmlformats.org/officeDocument/2006/relationships/hyperlink" Target="https://www.youtube.com/watch?v=HGwBXDKFk9I" TargetMode="Externa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hyperlink" Target="https://www.youtube.com/watch?v=HGwBXDKFk9I"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6.xml"/><Relationship Id="rId5" Type="http://schemas.openxmlformats.org/officeDocument/2006/relationships/hyperlink" Target="https://www.youtube.com/watch?v=HGwBXDKFk9I" TargetMode="Externa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hyperlink" Target="https://www.youtube.com/watch?v=HGwBXDKFk9I" TargetMode="External"/><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hyperlink" Target="https://www.youtube.com/watch?v=HGwBXDKFk9I" TargetMode="External"/><Relationship Id="rId5" Type="http://schemas.openxmlformats.org/officeDocument/2006/relationships/image" Target="../media/image2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hyperlink" Target="https://keras.io/examples/vision/" TargetMode="External"/><Relationship Id="rId7"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hyperlink" Target="https://keras.io/api/datasets/" TargetMode="External"/></Relationships>
</file>

<file path=ppt/slides/_rels/slide2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jpe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6.xml"/><Relationship Id="rId5" Type="http://schemas.openxmlformats.org/officeDocument/2006/relationships/image" Target="../media/image38.png"/><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3" Type="http://schemas.openxmlformats.org/officeDocument/2006/relationships/hyperlink" Target="https://www.kaggle.com/code/kedarsai/cifar-10-88-accuracy-using-keras/" TargetMode="External"/><Relationship Id="rId2" Type="http://schemas.openxmlformats.org/officeDocument/2006/relationships/hyperlink" Target="https://franky07724-57962.medium.com/once-upon-a-time-in-cifar-10-c26bb056b4ce" TargetMode="Externa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hyperlink" Target="https://machinelearningmastery.com/how-to-develop-a-cnn-from-scratch-for-cifar-10-photo-classification/"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keras.io/api/layers/normalization_layers/batch_normalizati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D3ACA5E-EE3D-7F06-9786-F0E85344B328}"/>
              </a:ext>
            </a:extLst>
          </p:cNvPr>
          <p:cNvSpPr>
            <a:spLocks noGrp="1"/>
          </p:cNvSpPr>
          <p:nvPr>
            <p:ph type="ctrTitle"/>
          </p:nvPr>
        </p:nvSpPr>
        <p:spPr/>
        <p:txBody>
          <a:bodyPr/>
          <a:lstStyle/>
          <a:p>
            <a:r>
              <a:rPr lang="pl-PL" dirty="0"/>
              <a:t>Machine </a:t>
            </a:r>
            <a:r>
              <a:rPr lang="en-US" dirty="0"/>
              <a:t>Vision</a:t>
            </a:r>
            <a:endParaRPr lang="en-GB" dirty="0"/>
          </a:p>
        </p:txBody>
      </p:sp>
      <p:sp>
        <p:nvSpPr>
          <p:cNvPr id="3" name="Podtytuł 2">
            <a:extLst>
              <a:ext uri="{FF2B5EF4-FFF2-40B4-BE49-F238E27FC236}">
                <a16:creationId xmlns:a16="http://schemas.microsoft.com/office/drawing/2014/main" id="{865909F7-D972-04F8-1E2E-1691CA078F61}"/>
              </a:ext>
            </a:extLst>
          </p:cNvPr>
          <p:cNvSpPr>
            <a:spLocks noGrp="1"/>
          </p:cNvSpPr>
          <p:nvPr>
            <p:ph type="subTitle" idx="1"/>
          </p:nvPr>
        </p:nvSpPr>
        <p:spPr/>
        <p:txBody>
          <a:bodyPr>
            <a:normAutofit/>
          </a:bodyPr>
          <a:lstStyle/>
          <a:p>
            <a:r>
              <a:rPr lang="pl-PL" sz="2600" dirty="0" err="1"/>
              <a:t>Convolutional</a:t>
            </a:r>
            <a:r>
              <a:rPr lang="pl-PL" sz="2600" dirty="0"/>
              <a:t> </a:t>
            </a:r>
            <a:r>
              <a:rPr lang="pl-PL" sz="2600" dirty="0" err="1"/>
              <a:t>neural</a:t>
            </a:r>
            <a:r>
              <a:rPr lang="pl-PL" sz="2600" dirty="0"/>
              <a:t> networks</a:t>
            </a:r>
          </a:p>
          <a:p>
            <a:endParaRPr lang="en-GB" dirty="0"/>
          </a:p>
        </p:txBody>
      </p:sp>
    </p:spTree>
    <p:extLst>
      <p:ext uri="{BB962C8B-B14F-4D97-AF65-F5344CB8AC3E}">
        <p14:creationId xmlns:p14="http://schemas.microsoft.com/office/powerpoint/2010/main" val="1915223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onvolutional gifì ëí ì´ë¯¸ì§ ê²ìê²°ê³¼">
            <a:extLst>
              <a:ext uri="{FF2B5EF4-FFF2-40B4-BE49-F238E27FC236}">
                <a16:creationId xmlns:a16="http://schemas.microsoft.com/office/drawing/2014/main" id="{FF202ED1-E3EA-C375-BD7A-C19D3FAE24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ytuł 4">
            <a:extLst>
              <a:ext uri="{FF2B5EF4-FFF2-40B4-BE49-F238E27FC236}">
                <a16:creationId xmlns:a16="http://schemas.microsoft.com/office/drawing/2014/main" id="{749658E0-488D-D737-61C2-9604F6D54FC1}"/>
              </a:ext>
            </a:extLst>
          </p:cNvPr>
          <p:cNvSpPr>
            <a:spLocks noGrp="1"/>
          </p:cNvSpPr>
          <p:nvPr>
            <p:ph type="title"/>
          </p:nvPr>
        </p:nvSpPr>
        <p:spPr>
          <a:xfrm>
            <a:off x="0" y="0"/>
            <a:ext cx="7470843" cy="696286"/>
          </a:xfrm>
        </p:spPr>
        <p:txBody>
          <a:bodyPr>
            <a:noAutofit/>
          </a:bodyPr>
          <a:lstStyle/>
          <a:p>
            <a:pPr algn="ctr"/>
            <a:r>
              <a:rPr lang="pl-PL" sz="3200" dirty="0"/>
              <a:t>Image </a:t>
            </a:r>
            <a:r>
              <a:rPr lang="pl-PL" sz="3200" dirty="0" err="1"/>
              <a:t>classification</a:t>
            </a:r>
            <a:endParaRPr lang="en-GB" sz="3200" dirty="0"/>
          </a:p>
        </p:txBody>
      </p:sp>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4"/>
              </a:rPr>
              <a:t>https://towardsdatascience.com/the-most-intuitive-and-easiest-guide-for-convolutional-neural-network-3607be47480</a:t>
            </a:r>
            <a:r>
              <a:rPr lang="pl-PL" sz="1200" dirty="0"/>
              <a:t> </a:t>
            </a:r>
            <a:endParaRPr lang="en-GB" sz="1200" dirty="0"/>
          </a:p>
        </p:txBody>
      </p:sp>
    </p:spTree>
    <p:extLst>
      <p:ext uri="{BB962C8B-B14F-4D97-AF65-F5344CB8AC3E}">
        <p14:creationId xmlns:p14="http://schemas.microsoft.com/office/powerpoint/2010/main" val="908598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ęka Trzymająca Tablet Z Białym Ekranem | Zdjęcie Premium">
            <a:extLst>
              <a:ext uri="{FF2B5EF4-FFF2-40B4-BE49-F238E27FC236}">
                <a16:creationId xmlns:a16="http://schemas.microsoft.com/office/drawing/2014/main" id="{09327D0D-48A4-55C2-153B-345CAA4528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9350" y="0"/>
            <a:ext cx="5962650" cy="3343275"/>
          </a:xfrm>
          <a:prstGeom prst="rect">
            <a:avLst/>
          </a:prstGeom>
          <a:noFill/>
          <a:extLst>
            <a:ext uri="{909E8E84-426E-40DD-AFC4-6F175D3DCCD1}">
              <a14:hiddenFill xmlns:a14="http://schemas.microsoft.com/office/drawing/2010/main">
                <a:solidFill>
                  <a:srgbClr val="FFFFFF"/>
                </a:solidFill>
              </a14:hiddenFill>
            </a:ext>
          </a:extLst>
        </p:spPr>
      </p:pic>
      <p:sp>
        <p:nvSpPr>
          <p:cNvPr id="5" name="Tytuł 4">
            <a:extLst>
              <a:ext uri="{FF2B5EF4-FFF2-40B4-BE49-F238E27FC236}">
                <a16:creationId xmlns:a16="http://schemas.microsoft.com/office/drawing/2014/main" id="{749658E0-488D-D737-61C2-9604F6D54FC1}"/>
              </a:ext>
            </a:extLst>
          </p:cNvPr>
          <p:cNvSpPr>
            <a:spLocks noGrp="1"/>
          </p:cNvSpPr>
          <p:nvPr>
            <p:ph type="title"/>
          </p:nvPr>
        </p:nvSpPr>
        <p:spPr>
          <a:xfrm>
            <a:off x="0" y="0"/>
            <a:ext cx="7470843" cy="696286"/>
          </a:xfrm>
        </p:spPr>
        <p:txBody>
          <a:bodyPr>
            <a:noAutofit/>
          </a:bodyPr>
          <a:lstStyle/>
          <a:p>
            <a:pPr algn="ctr"/>
            <a:r>
              <a:rPr lang="en-GB" sz="3200" dirty="0"/>
              <a:t>Image recognition in tic-tac-toe game</a:t>
            </a:r>
          </a:p>
        </p:txBody>
      </p:sp>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4"/>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sp>
        <p:nvSpPr>
          <p:cNvPr id="16" name="Dymek mowy: prostokąt 15">
            <a:extLst>
              <a:ext uri="{FF2B5EF4-FFF2-40B4-BE49-F238E27FC236}">
                <a16:creationId xmlns:a16="http://schemas.microsoft.com/office/drawing/2014/main" id="{222CEA9A-12A7-EC66-6D65-DD6767227897}"/>
              </a:ext>
            </a:extLst>
          </p:cNvPr>
          <p:cNvSpPr/>
          <p:nvPr/>
        </p:nvSpPr>
        <p:spPr>
          <a:xfrm>
            <a:off x="3230332" y="593606"/>
            <a:ext cx="3038503" cy="1072486"/>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t</a:t>
            </a:r>
            <a:r>
              <a:rPr lang="en-GB" sz="2000" dirty="0">
                <a:solidFill>
                  <a:schemeClr val="tx1"/>
                </a:solidFill>
                <a:latin typeface="Comic Sans MS" panose="030F0702030302020204" pitchFamily="66" charset="0"/>
              </a:rPr>
              <a:t>he player can start and draw either O or X...</a:t>
            </a:r>
            <a:endParaRPr lang="pl-PL" sz="2000" dirty="0">
              <a:solidFill>
                <a:schemeClr val="tx1"/>
              </a:solidFill>
              <a:latin typeface="Comic Sans MS" panose="030F0702030302020204" pitchFamily="66" charset="0"/>
            </a:endParaRPr>
          </a:p>
        </p:txBody>
      </p:sp>
      <p:cxnSp>
        <p:nvCxnSpPr>
          <p:cNvPr id="23" name="Łącznik prosty 22">
            <a:extLst>
              <a:ext uri="{FF2B5EF4-FFF2-40B4-BE49-F238E27FC236}">
                <a16:creationId xmlns:a16="http://schemas.microsoft.com/office/drawing/2014/main" id="{80E10912-3339-DCB4-8FB8-2BDD8101DD4E}"/>
              </a:ext>
            </a:extLst>
          </p:cNvPr>
          <p:cNvCxnSpPr>
            <a:cxnSpLocks/>
          </p:cNvCxnSpPr>
          <p:nvPr/>
        </p:nvCxnSpPr>
        <p:spPr>
          <a:xfrm flipH="1">
            <a:off x="8875099" y="408562"/>
            <a:ext cx="223737" cy="1916719"/>
          </a:xfrm>
          <a:prstGeom prst="line">
            <a:avLst/>
          </a:prstGeom>
          <a:ln w="114300" cap="rnd">
            <a:gradFill>
              <a:gsLst>
                <a:gs pos="0">
                  <a:schemeClr val="accent1">
                    <a:lumMod val="5000"/>
                    <a:lumOff val="95000"/>
                  </a:schemeClr>
                </a:gs>
                <a:gs pos="16000">
                  <a:schemeClr val="accent1">
                    <a:lumMod val="45000"/>
                    <a:lumOff val="55000"/>
                  </a:schemeClr>
                </a:gs>
                <a:gs pos="80000">
                  <a:schemeClr val="accent1">
                    <a:lumMod val="45000"/>
                    <a:lumOff val="55000"/>
                  </a:schemeClr>
                </a:gs>
                <a:gs pos="100000">
                  <a:schemeClr val="accent1">
                    <a:lumMod val="30000"/>
                    <a:lumOff val="70000"/>
                  </a:schemeClr>
                </a:gs>
              </a:gsLst>
              <a:lin ang="5400000" scaled="1"/>
            </a:gradFill>
            <a:round/>
          </a:ln>
          <a:effectLst>
            <a:softEdge rad="12700"/>
          </a:effectLst>
        </p:spPr>
        <p:style>
          <a:lnRef idx="3">
            <a:schemeClr val="accent6"/>
          </a:lnRef>
          <a:fillRef idx="0">
            <a:schemeClr val="accent6"/>
          </a:fillRef>
          <a:effectRef idx="2">
            <a:schemeClr val="accent6"/>
          </a:effectRef>
          <a:fontRef idx="minor">
            <a:schemeClr val="tx1"/>
          </a:fontRef>
        </p:style>
      </p:cxnSp>
      <p:cxnSp>
        <p:nvCxnSpPr>
          <p:cNvPr id="25" name="Łącznik prosty 24">
            <a:extLst>
              <a:ext uri="{FF2B5EF4-FFF2-40B4-BE49-F238E27FC236}">
                <a16:creationId xmlns:a16="http://schemas.microsoft.com/office/drawing/2014/main" id="{E9428C85-8A0C-8067-7A58-47DFCA5C2233}"/>
              </a:ext>
            </a:extLst>
          </p:cNvPr>
          <p:cNvCxnSpPr>
            <a:cxnSpLocks/>
          </p:cNvCxnSpPr>
          <p:nvPr/>
        </p:nvCxnSpPr>
        <p:spPr>
          <a:xfrm flipH="1">
            <a:off x="9711678" y="408562"/>
            <a:ext cx="184826" cy="1916719"/>
          </a:xfrm>
          <a:prstGeom prst="line">
            <a:avLst/>
          </a:prstGeom>
          <a:ln w="114300" cap="rnd">
            <a:gradFill>
              <a:gsLst>
                <a:gs pos="0">
                  <a:schemeClr val="accent1">
                    <a:lumMod val="5000"/>
                    <a:lumOff val="95000"/>
                  </a:schemeClr>
                </a:gs>
                <a:gs pos="16000">
                  <a:schemeClr val="accent1">
                    <a:lumMod val="45000"/>
                    <a:lumOff val="55000"/>
                  </a:schemeClr>
                </a:gs>
                <a:gs pos="80000">
                  <a:schemeClr val="accent1">
                    <a:lumMod val="45000"/>
                    <a:lumOff val="55000"/>
                  </a:schemeClr>
                </a:gs>
                <a:gs pos="100000">
                  <a:schemeClr val="accent1">
                    <a:lumMod val="30000"/>
                    <a:lumOff val="70000"/>
                  </a:schemeClr>
                </a:gs>
              </a:gsLst>
              <a:lin ang="5400000" scaled="1"/>
            </a:gradFill>
            <a:round/>
          </a:ln>
          <a:effectLst>
            <a:softEdge rad="12700"/>
          </a:effectLst>
        </p:spPr>
        <p:style>
          <a:lnRef idx="3">
            <a:schemeClr val="accent6"/>
          </a:lnRef>
          <a:fillRef idx="0">
            <a:schemeClr val="accent6"/>
          </a:fillRef>
          <a:effectRef idx="2">
            <a:schemeClr val="accent6"/>
          </a:effectRef>
          <a:fontRef idx="minor">
            <a:schemeClr val="tx1"/>
          </a:fontRef>
        </p:style>
      </p:cxnSp>
      <p:cxnSp>
        <p:nvCxnSpPr>
          <p:cNvPr id="30" name="Łącznik prosty 29">
            <a:extLst>
              <a:ext uri="{FF2B5EF4-FFF2-40B4-BE49-F238E27FC236}">
                <a16:creationId xmlns:a16="http://schemas.microsoft.com/office/drawing/2014/main" id="{37A3FC45-C23E-15E5-BBFC-F6CBA7AAD7B1}"/>
              </a:ext>
            </a:extLst>
          </p:cNvPr>
          <p:cNvCxnSpPr>
            <a:cxnSpLocks/>
          </p:cNvCxnSpPr>
          <p:nvPr/>
        </p:nvCxnSpPr>
        <p:spPr>
          <a:xfrm flipH="1">
            <a:off x="8209564" y="1018005"/>
            <a:ext cx="2299782" cy="90949"/>
          </a:xfrm>
          <a:prstGeom prst="line">
            <a:avLst/>
          </a:prstGeom>
          <a:ln w="114300" cap="rnd">
            <a:gradFill>
              <a:gsLst>
                <a:gs pos="0">
                  <a:schemeClr val="accent1">
                    <a:lumMod val="5000"/>
                    <a:lumOff val="95000"/>
                  </a:schemeClr>
                </a:gs>
                <a:gs pos="16000">
                  <a:schemeClr val="accent1">
                    <a:lumMod val="45000"/>
                    <a:lumOff val="55000"/>
                  </a:schemeClr>
                </a:gs>
                <a:gs pos="80000">
                  <a:schemeClr val="accent1">
                    <a:lumMod val="45000"/>
                    <a:lumOff val="55000"/>
                  </a:schemeClr>
                </a:gs>
                <a:gs pos="100000">
                  <a:schemeClr val="accent1">
                    <a:lumMod val="30000"/>
                    <a:lumOff val="70000"/>
                  </a:schemeClr>
                </a:gs>
              </a:gsLst>
              <a:lin ang="5400000" scaled="1"/>
            </a:gradFill>
            <a:round/>
          </a:ln>
          <a:effectLst>
            <a:softEdge rad="12700"/>
          </a:effectLst>
        </p:spPr>
        <p:style>
          <a:lnRef idx="3">
            <a:schemeClr val="accent6"/>
          </a:lnRef>
          <a:fillRef idx="0">
            <a:schemeClr val="accent6"/>
          </a:fillRef>
          <a:effectRef idx="2">
            <a:schemeClr val="accent6"/>
          </a:effectRef>
          <a:fontRef idx="minor">
            <a:schemeClr val="tx1"/>
          </a:fontRef>
        </p:style>
      </p:cxnSp>
      <p:cxnSp>
        <p:nvCxnSpPr>
          <p:cNvPr id="2049" name="Łącznik prosty 2048">
            <a:extLst>
              <a:ext uri="{FF2B5EF4-FFF2-40B4-BE49-F238E27FC236}">
                <a16:creationId xmlns:a16="http://schemas.microsoft.com/office/drawing/2014/main" id="{AE72C148-B9AB-9051-97C9-03C0144EE087}"/>
              </a:ext>
            </a:extLst>
          </p:cNvPr>
          <p:cNvCxnSpPr>
            <a:cxnSpLocks/>
          </p:cNvCxnSpPr>
          <p:nvPr/>
        </p:nvCxnSpPr>
        <p:spPr>
          <a:xfrm flipH="1" flipV="1">
            <a:off x="8209564" y="1655328"/>
            <a:ext cx="2200457" cy="133710"/>
          </a:xfrm>
          <a:prstGeom prst="line">
            <a:avLst/>
          </a:prstGeom>
          <a:ln w="114300" cap="rnd">
            <a:gradFill>
              <a:gsLst>
                <a:gs pos="0">
                  <a:schemeClr val="accent1">
                    <a:lumMod val="5000"/>
                    <a:lumOff val="95000"/>
                  </a:schemeClr>
                </a:gs>
                <a:gs pos="16000">
                  <a:schemeClr val="accent1">
                    <a:lumMod val="45000"/>
                    <a:lumOff val="55000"/>
                  </a:schemeClr>
                </a:gs>
                <a:gs pos="80000">
                  <a:schemeClr val="accent1">
                    <a:lumMod val="45000"/>
                    <a:lumOff val="55000"/>
                  </a:schemeClr>
                </a:gs>
                <a:gs pos="100000">
                  <a:schemeClr val="accent1">
                    <a:lumMod val="30000"/>
                    <a:lumOff val="70000"/>
                  </a:schemeClr>
                </a:gs>
              </a:gsLst>
              <a:lin ang="5400000" scaled="1"/>
            </a:gradFill>
            <a:round/>
          </a:ln>
          <a:effectLst>
            <a:softEdge rad="12700"/>
          </a:effectLst>
        </p:spPr>
        <p:style>
          <a:lnRef idx="3">
            <a:schemeClr val="accent6"/>
          </a:lnRef>
          <a:fillRef idx="0">
            <a:schemeClr val="accent6"/>
          </a:fillRef>
          <a:effectRef idx="2">
            <a:schemeClr val="accent6"/>
          </a:effectRef>
          <a:fontRef idx="minor">
            <a:schemeClr val="tx1"/>
          </a:fontRef>
        </p:style>
      </p:cxnSp>
      <p:sp>
        <p:nvSpPr>
          <p:cNvPr id="2055" name="Dymek mowy: prostokąt 2054">
            <a:extLst>
              <a:ext uri="{FF2B5EF4-FFF2-40B4-BE49-F238E27FC236}">
                <a16:creationId xmlns:a16="http://schemas.microsoft.com/office/drawing/2014/main" id="{EB87FCE8-952E-DE0C-9DBA-D155C4B26DA6}"/>
              </a:ext>
            </a:extLst>
          </p:cNvPr>
          <p:cNvSpPr/>
          <p:nvPr/>
        </p:nvSpPr>
        <p:spPr>
          <a:xfrm>
            <a:off x="281658" y="585694"/>
            <a:ext cx="2602613" cy="962280"/>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f</a:t>
            </a:r>
            <a:r>
              <a:rPr lang="en-GB" sz="2000" dirty="0">
                <a:solidFill>
                  <a:schemeClr val="tx1"/>
                </a:solidFill>
                <a:latin typeface="Comic Sans MS" panose="030F0702030302020204" pitchFamily="66" charset="0"/>
              </a:rPr>
              <a:t>or example, a graphic tablet.</a:t>
            </a:r>
            <a:endParaRPr lang="pl-PL" sz="2000" dirty="0">
              <a:solidFill>
                <a:schemeClr val="tx1"/>
              </a:solidFill>
              <a:latin typeface="Comic Sans MS" panose="030F0702030302020204" pitchFamily="66" charset="0"/>
            </a:endParaRPr>
          </a:p>
        </p:txBody>
      </p:sp>
      <p:cxnSp>
        <p:nvCxnSpPr>
          <p:cNvPr id="6" name="Łącznik prosty 5">
            <a:extLst>
              <a:ext uri="{FF2B5EF4-FFF2-40B4-BE49-F238E27FC236}">
                <a16:creationId xmlns:a16="http://schemas.microsoft.com/office/drawing/2014/main" id="{C350EDBE-CF4A-8AE8-E01A-C2BF5A92C6FB}"/>
              </a:ext>
            </a:extLst>
          </p:cNvPr>
          <p:cNvCxnSpPr>
            <a:cxnSpLocks/>
          </p:cNvCxnSpPr>
          <p:nvPr/>
        </p:nvCxnSpPr>
        <p:spPr>
          <a:xfrm flipH="1">
            <a:off x="9098836" y="1222298"/>
            <a:ext cx="612842" cy="325676"/>
          </a:xfrm>
          <a:prstGeom prst="line">
            <a:avLst/>
          </a:prstGeom>
          <a:ln w="79375" cap="rnd">
            <a:solidFill>
              <a:schemeClr val="tx1"/>
            </a:solidFill>
            <a:round/>
          </a:ln>
          <a:effectLst>
            <a:softEdge rad="12700"/>
          </a:effectLst>
        </p:spPr>
        <p:style>
          <a:lnRef idx="3">
            <a:schemeClr val="accent6"/>
          </a:lnRef>
          <a:fillRef idx="0">
            <a:schemeClr val="accent6"/>
          </a:fillRef>
          <a:effectRef idx="2">
            <a:schemeClr val="accent6"/>
          </a:effectRef>
          <a:fontRef idx="minor">
            <a:schemeClr val="tx1"/>
          </a:fontRef>
        </p:style>
      </p:cxnSp>
      <p:cxnSp>
        <p:nvCxnSpPr>
          <p:cNvPr id="9" name="Łącznik prosty 8">
            <a:extLst>
              <a:ext uri="{FF2B5EF4-FFF2-40B4-BE49-F238E27FC236}">
                <a16:creationId xmlns:a16="http://schemas.microsoft.com/office/drawing/2014/main" id="{1ABEF0EE-B727-E5DA-395B-49EDD2A127FF}"/>
              </a:ext>
            </a:extLst>
          </p:cNvPr>
          <p:cNvCxnSpPr>
            <a:cxnSpLocks/>
          </p:cNvCxnSpPr>
          <p:nvPr/>
        </p:nvCxnSpPr>
        <p:spPr>
          <a:xfrm flipH="1" flipV="1">
            <a:off x="9232827" y="1287124"/>
            <a:ext cx="294025" cy="260850"/>
          </a:xfrm>
          <a:prstGeom prst="line">
            <a:avLst/>
          </a:prstGeom>
          <a:ln w="79375" cap="rnd">
            <a:solidFill>
              <a:schemeClr val="tx1"/>
            </a:solidFill>
            <a:round/>
          </a:ln>
          <a:effectLst>
            <a:softEdge rad="12700"/>
          </a:effectLst>
        </p:spPr>
        <p:style>
          <a:lnRef idx="3">
            <a:schemeClr val="accent6"/>
          </a:lnRef>
          <a:fillRef idx="0">
            <a:schemeClr val="accent6"/>
          </a:fillRef>
          <a:effectRef idx="2">
            <a:schemeClr val="accent6"/>
          </a:effectRef>
          <a:fontRef idx="minor">
            <a:schemeClr val="tx1"/>
          </a:fontRef>
        </p:style>
      </p:cxnSp>
      <p:cxnSp>
        <p:nvCxnSpPr>
          <p:cNvPr id="18" name="Łącznik: łamany 17">
            <a:extLst>
              <a:ext uri="{FF2B5EF4-FFF2-40B4-BE49-F238E27FC236}">
                <a16:creationId xmlns:a16="http://schemas.microsoft.com/office/drawing/2014/main" id="{960EADE8-B6E6-90C7-1469-5F4A039E7733}"/>
              </a:ext>
            </a:extLst>
          </p:cNvPr>
          <p:cNvCxnSpPr>
            <a:cxnSpLocks/>
            <a:stCxn id="16" idx="3"/>
          </p:cNvCxnSpPr>
          <p:nvPr/>
        </p:nvCxnSpPr>
        <p:spPr>
          <a:xfrm>
            <a:off x="6268835" y="1129849"/>
            <a:ext cx="2844786" cy="274960"/>
          </a:xfrm>
          <a:prstGeom prst="bentConnector3">
            <a:avLst>
              <a:gd name="adj1" fmla="val 60258"/>
            </a:avLst>
          </a:prstGeom>
          <a:ln w="28575">
            <a:tailEnd type="triangle"/>
          </a:ln>
        </p:spPr>
        <p:style>
          <a:lnRef idx="1">
            <a:schemeClr val="dk1"/>
          </a:lnRef>
          <a:fillRef idx="0">
            <a:schemeClr val="dk1"/>
          </a:fillRef>
          <a:effectRef idx="0">
            <a:schemeClr val="dk1"/>
          </a:effectRef>
          <a:fontRef idx="minor">
            <a:schemeClr val="tx1"/>
          </a:fontRef>
        </p:style>
      </p:cxnSp>
      <p:sp>
        <p:nvSpPr>
          <p:cNvPr id="2" name="Dymek mowy: prostokąt 1">
            <a:extLst>
              <a:ext uri="{FF2B5EF4-FFF2-40B4-BE49-F238E27FC236}">
                <a16:creationId xmlns:a16="http://schemas.microsoft.com/office/drawing/2014/main" id="{74470945-5751-2A5D-0138-06C8E9434CB9}"/>
              </a:ext>
            </a:extLst>
          </p:cNvPr>
          <p:cNvSpPr/>
          <p:nvPr/>
        </p:nvSpPr>
        <p:spPr>
          <a:xfrm>
            <a:off x="3129095" y="1806796"/>
            <a:ext cx="3627142" cy="989146"/>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en-GB" sz="2000" dirty="0">
                <a:solidFill>
                  <a:schemeClr val="tx1"/>
                </a:solidFill>
                <a:latin typeface="Comic Sans MS" panose="030F0702030302020204" pitchFamily="66" charset="0"/>
              </a:rPr>
              <a:t>...so the program must recognize what the 'computer player' is playing.</a:t>
            </a:r>
            <a:endParaRPr lang="pl-PL"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43005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ęka Trzymająca Tablet Z Białym Ekranem | Zdjęcie Premium">
            <a:extLst>
              <a:ext uri="{FF2B5EF4-FFF2-40B4-BE49-F238E27FC236}">
                <a16:creationId xmlns:a16="http://schemas.microsoft.com/office/drawing/2014/main" id="{09327D0D-48A4-55C2-153B-345CAA4528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9350" y="0"/>
            <a:ext cx="5962650" cy="3343275"/>
          </a:xfrm>
          <a:prstGeom prst="rect">
            <a:avLst/>
          </a:prstGeom>
          <a:noFill/>
          <a:extLst>
            <a:ext uri="{909E8E84-426E-40DD-AFC4-6F175D3DCCD1}">
              <a14:hiddenFill xmlns:a14="http://schemas.microsoft.com/office/drawing/2010/main">
                <a:solidFill>
                  <a:srgbClr val="FFFFFF"/>
                </a:solidFill>
              </a14:hiddenFill>
            </a:ext>
          </a:extLst>
        </p:spPr>
      </p:pic>
      <p:sp>
        <p:nvSpPr>
          <p:cNvPr id="5" name="Tytuł 4">
            <a:extLst>
              <a:ext uri="{FF2B5EF4-FFF2-40B4-BE49-F238E27FC236}">
                <a16:creationId xmlns:a16="http://schemas.microsoft.com/office/drawing/2014/main" id="{749658E0-488D-D737-61C2-9604F6D54FC1}"/>
              </a:ext>
            </a:extLst>
          </p:cNvPr>
          <p:cNvSpPr>
            <a:spLocks noGrp="1"/>
          </p:cNvSpPr>
          <p:nvPr>
            <p:ph type="title"/>
          </p:nvPr>
        </p:nvSpPr>
        <p:spPr>
          <a:xfrm>
            <a:off x="0" y="0"/>
            <a:ext cx="7470843" cy="696286"/>
          </a:xfrm>
        </p:spPr>
        <p:txBody>
          <a:bodyPr>
            <a:noAutofit/>
          </a:bodyPr>
          <a:lstStyle/>
          <a:p>
            <a:pPr algn="ctr"/>
            <a:r>
              <a:rPr lang="en-GB" sz="3200" dirty="0"/>
              <a:t>Image recognition in tic-tac-toe game</a:t>
            </a:r>
          </a:p>
        </p:txBody>
      </p:sp>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4"/>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cxnSp>
        <p:nvCxnSpPr>
          <p:cNvPr id="23" name="Łącznik prosty 22">
            <a:extLst>
              <a:ext uri="{FF2B5EF4-FFF2-40B4-BE49-F238E27FC236}">
                <a16:creationId xmlns:a16="http://schemas.microsoft.com/office/drawing/2014/main" id="{80E10912-3339-DCB4-8FB8-2BDD8101DD4E}"/>
              </a:ext>
            </a:extLst>
          </p:cNvPr>
          <p:cNvCxnSpPr>
            <a:cxnSpLocks/>
          </p:cNvCxnSpPr>
          <p:nvPr/>
        </p:nvCxnSpPr>
        <p:spPr>
          <a:xfrm flipH="1">
            <a:off x="8875099" y="408562"/>
            <a:ext cx="223737" cy="1916719"/>
          </a:xfrm>
          <a:prstGeom prst="line">
            <a:avLst/>
          </a:prstGeom>
          <a:ln w="114300" cap="rnd">
            <a:gradFill>
              <a:gsLst>
                <a:gs pos="0">
                  <a:schemeClr val="accent1">
                    <a:lumMod val="5000"/>
                    <a:lumOff val="95000"/>
                  </a:schemeClr>
                </a:gs>
                <a:gs pos="16000">
                  <a:schemeClr val="accent1">
                    <a:lumMod val="45000"/>
                    <a:lumOff val="55000"/>
                  </a:schemeClr>
                </a:gs>
                <a:gs pos="80000">
                  <a:schemeClr val="accent1">
                    <a:lumMod val="45000"/>
                    <a:lumOff val="55000"/>
                  </a:schemeClr>
                </a:gs>
                <a:gs pos="100000">
                  <a:schemeClr val="accent1">
                    <a:lumMod val="30000"/>
                    <a:lumOff val="70000"/>
                  </a:schemeClr>
                </a:gs>
              </a:gsLst>
              <a:lin ang="5400000" scaled="1"/>
            </a:gradFill>
            <a:round/>
          </a:ln>
          <a:effectLst>
            <a:softEdge rad="12700"/>
          </a:effectLst>
        </p:spPr>
        <p:style>
          <a:lnRef idx="3">
            <a:schemeClr val="accent6"/>
          </a:lnRef>
          <a:fillRef idx="0">
            <a:schemeClr val="accent6"/>
          </a:fillRef>
          <a:effectRef idx="2">
            <a:schemeClr val="accent6"/>
          </a:effectRef>
          <a:fontRef idx="minor">
            <a:schemeClr val="tx1"/>
          </a:fontRef>
        </p:style>
      </p:cxnSp>
      <p:cxnSp>
        <p:nvCxnSpPr>
          <p:cNvPr id="25" name="Łącznik prosty 24">
            <a:extLst>
              <a:ext uri="{FF2B5EF4-FFF2-40B4-BE49-F238E27FC236}">
                <a16:creationId xmlns:a16="http://schemas.microsoft.com/office/drawing/2014/main" id="{E9428C85-8A0C-8067-7A58-47DFCA5C2233}"/>
              </a:ext>
            </a:extLst>
          </p:cNvPr>
          <p:cNvCxnSpPr>
            <a:cxnSpLocks/>
          </p:cNvCxnSpPr>
          <p:nvPr/>
        </p:nvCxnSpPr>
        <p:spPr>
          <a:xfrm flipH="1">
            <a:off x="9711678" y="408562"/>
            <a:ext cx="184826" cy="1916719"/>
          </a:xfrm>
          <a:prstGeom prst="line">
            <a:avLst/>
          </a:prstGeom>
          <a:ln w="114300" cap="rnd">
            <a:gradFill>
              <a:gsLst>
                <a:gs pos="0">
                  <a:schemeClr val="accent1">
                    <a:lumMod val="5000"/>
                    <a:lumOff val="95000"/>
                  </a:schemeClr>
                </a:gs>
                <a:gs pos="16000">
                  <a:schemeClr val="accent1">
                    <a:lumMod val="45000"/>
                    <a:lumOff val="55000"/>
                  </a:schemeClr>
                </a:gs>
                <a:gs pos="80000">
                  <a:schemeClr val="accent1">
                    <a:lumMod val="45000"/>
                    <a:lumOff val="55000"/>
                  </a:schemeClr>
                </a:gs>
                <a:gs pos="100000">
                  <a:schemeClr val="accent1">
                    <a:lumMod val="30000"/>
                    <a:lumOff val="70000"/>
                  </a:schemeClr>
                </a:gs>
              </a:gsLst>
              <a:lin ang="5400000" scaled="1"/>
            </a:gradFill>
            <a:round/>
          </a:ln>
          <a:effectLst>
            <a:softEdge rad="12700"/>
          </a:effectLst>
        </p:spPr>
        <p:style>
          <a:lnRef idx="3">
            <a:schemeClr val="accent6"/>
          </a:lnRef>
          <a:fillRef idx="0">
            <a:schemeClr val="accent6"/>
          </a:fillRef>
          <a:effectRef idx="2">
            <a:schemeClr val="accent6"/>
          </a:effectRef>
          <a:fontRef idx="minor">
            <a:schemeClr val="tx1"/>
          </a:fontRef>
        </p:style>
      </p:cxnSp>
      <p:cxnSp>
        <p:nvCxnSpPr>
          <p:cNvPr id="30" name="Łącznik prosty 29">
            <a:extLst>
              <a:ext uri="{FF2B5EF4-FFF2-40B4-BE49-F238E27FC236}">
                <a16:creationId xmlns:a16="http://schemas.microsoft.com/office/drawing/2014/main" id="{37A3FC45-C23E-15E5-BBFC-F6CBA7AAD7B1}"/>
              </a:ext>
            </a:extLst>
          </p:cNvPr>
          <p:cNvCxnSpPr>
            <a:cxnSpLocks/>
          </p:cNvCxnSpPr>
          <p:nvPr/>
        </p:nvCxnSpPr>
        <p:spPr>
          <a:xfrm flipH="1">
            <a:off x="8209564" y="1018005"/>
            <a:ext cx="2299782" cy="90949"/>
          </a:xfrm>
          <a:prstGeom prst="line">
            <a:avLst/>
          </a:prstGeom>
          <a:ln w="114300" cap="rnd">
            <a:gradFill>
              <a:gsLst>
                <a:gs pos="0">
                  <a:schemeClr val="accent1">
                    <a:lumMod val="5000"/>
                    <a:lumOff val="95000"/>
                  </a:schemeClr>
                </a:gs>
                <a:gs pos="16000">
                  <a:schemeClr val="accent1">
                    <a:lumMod val="45000"/>
                    <a:lumOff val="55000"/>
                  </a:schemeClr>
                </a:gs>
                <a:gs pos="80000">
                  <a:schemeClr val="accent1">
                    <a:lumMod val="45000"/>
                    <a:lumOff val="55000"/>
                  </a:schemeClr>
                </a:gs>
                <a:gs pos="100000">
                  <a:schemeClr val="accent1">
                    <a:lumMod val="30000"/>
                    <a:lumOff val="70000"/>
                  </a:schemeClr>
                </a:gs>
              </a:gsLst>
              <a:lin ang="5400000" scaled="1"/>
            </a:gradFill>
            <a:round/>
          </a:ln>
          <a:effectLst>
            <a:softEdge rad="12700"/>
          </a:effectLst>
        </p:spPr>
        <p:style>
          <a:lnRef idx="3">
            <a:schemeClr val="accent6"/>
          </a:lnRef>
          <a:fillRef idx="0">
            <a:schemeClr val="accent6"/>
          </a:fillRef>
          <a:effectRef idx="2">
            <a:schemeClr val="accent6"/>
          </a:effectRef>
          <a:fontRef idx="minor">
            <a:schemeClr val="tx1"/>
          </a:fontRef>
        </p:style>
      </p:cxnSp>
      <p:cxnSp>
        <p:nvCxnSpPr>
          <p:cNvPr id="2049" name="Łącznik prosty 2048">
            <a:extLst>
              <a:ext uri="{FF2B5EF4-FFF2-40B4-BE49-F238E27FC236}">
                <a16:creationId xmlns:a16="http://schemas.microsoft.com/office/drawing/2014/main" id="{AE72C148-B9AB-9051-97C9-03C0144EE087}"/>
              </a:ext>
            </a:extLst>
          </p:cNvPr>
          <p:cNvCxnSpPr>
            <a:cxnSpLocks/>
          </p:cNvCxnSpPr>
          <p:nvPr/>
        </p:nvCxnSpPr>
        <p:spPr>
          <a:xfrm flipH="1" flipV="1">
            <a:off x="8209564" y="1655328"/>
            <a:ext cx="2200457" cy="133710"/>
          </a:xfrm>
          <a:prstGeom prst="line">
            <a:avLst/>
          </a:prstGeom>
          <a:ln w="114300" cap="rnd">
            <a:gradFill>
              <a:gsLst>
                <a:gs pos="0">
                  <a:schemeClr val="accent1">
                    <a:lumMod val="5000"/>
                    <a:lumOff val="95000"/>
                  </a:schemeClr>
                </a:gs>
                <a:gs pos="16000">
                  <a:schemeClr val="accent1">
                    <a:lumMod val="45000"/>
                    <a:lumOff val="55000"/>
                  </a:schemeClr>
                </a:gs>
                <a:gs pos="80000">
                  <a:schemeClr val="accent1">
                    <a:lumMod val="45000"/>
                    <a:lumOff val="55000"/>
                  </a:schemeClr>
                </a:gs>
                <a:gs pos="100000">
                  <a:schemeClr val="accent1">
                    <a:lumMod val="30000"/>
                    <a:lumOff val="70000"/>
                  </a:schemeClr>
                </a:gs>
              </a:gsLst>
              <a:lin ang="5400000" scaled="1"/>
            </a:gradFill>
            <a:round/>
          </a:ln>
          <a:effectLst>
            <a:softEdge rad="12700"/>
          </a:effectLst>
        </p:spPr>
        <p:style>
          <a:lnRef idx="3">
            <a:schemeClr val="accent6"/>
          </a:lnRef>
          <a:fillRef idx="0">
            <a:schemeClr val="accent6"/>
          </a:fillRef>
          <a:effectRef idx="2">
            <a:schemeClr val="accent6"/>
          </a:effectRef>
          <a:fontRef idx="minor">
            <a:schemeClr val="tx1"/>
          </a:fontRef>
        </p:style>
      </p:cxnSp>
      <p:pic>
        <p:nvPicPr>
          <p:cNvPr id="3" name="Obraz 2">
            <a:extLst>
              <a:ext uri="{FF2B5EF4-FFF2-40B4-BE49-F238E27FC236}">
                <a16:creationId xmlns:a16="http://schemas.microsoft.com/office/drawing/2014/main" id="{3A8BBBB3-457E-3E1C-8205-5041BA4778B0}"/>
              </a:ext>
            </a:extLst>
          </p:cNvPr>
          <p:cNvPicPr>
            <a:picLocks noChangeAspect="1"/>
          </p:cNvPicPr>
          <p:nvPr/>
        </p:nvPicPr>
        <p:blipFill>
          <a:blip r:embed="rId5"/>
          <a:stretch>
            <a:fillRect/>
          </a:stretch>
        </p:blipFill>
        <p:spPr>
          <a:xfrm>
            <a:off x="463009" y="4037058"/>
            <a:ext cx="6387819" cy="2293424"/>
          </a:xfrm>
          <a:prstGeom prst="rect">
            <a:avLst/>
          </a:prstGeom>
        </p:spPr>
      </p:pic>
      <p:sp>
        <p:nvSpPr>
          <p:cNvPr id="4" name="Dymek mowy: prostokąt 3">
            <a:extLst>
              <a:ext uri="{FF2B5EF4-FFF2-40B4-BE49-F238E27FC236}">
                <a16:creationId xmlns:a16="http://schemas.microsoft.com/office/drawing/2014/main" id="{554BDE37-402A-4F9D-C4EA-75EB70B5F5D6}"/>
              </a:ext>
            </a:extLst>
          </p:cNvPr>
          <p:cNvSpPr/>
          <p:nvPr/>
        </p:nvSpPr>
        <p:spPr>
          <a:xfrm>
            <a:off x="1157681" y="3129801"/>
            <a:ext cx="4155263" cy="783049"/>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en-GB" sz="2000" dirty="0">
                <a:solidFill>
                  <a:schemeClr val="tx1"/>
                </a:solidFill>
                <a:latin typeface="Comic Sans MS" panose="030F0702030302020204" pitchFamily="66" charset="0"/>
              </a:rPr>
              <a:t>The image of 'O' and 'X' takes the form of a binary matrix.</a:t>
            </a:r>
            <a:endParaRPr lang="pl-PL" sz="2000" dirty="0">
              <a:solidFill>
                <a:schemeClr val="tx1"/>
              </a:solidFill>
              <a:latin typeface="Comic Sans MS" panose="030F0702030302020204" pitchFamily="66" charset="0"/>
            </a:endParaRPr>
          </a:p>
        </p:txBody>
      </p:sp>
      <p:cxnSp>
        <p:nvCxnSpPr>
          <p:cNvPr id="6" name="Łącznik prosty 5">
            <a:extLst>
              <a:ext uri="{FF2B5EF4-FFF2-40B4-BE49-F238E27FC236}">
                <a16:creationId xmlns:a16="http://schemas.microsoft.com/office/drawing/2014/main" id="{C350EDBE-CF4A-8AE8-E01A-C2BF5A92C6FB}"/>
              </a:ext>
            </a:extLst>
          </p:cNvPr>
          <p:cNvCxnSpPr>
            <a:cxnSpLocks/>
          </p:cNvCxnSpPr>
          <p:nvPr/>
        </p:nvCxnSpPr>
        <p:spPr>
          <a:xfrm flipH="1">
            <a:off x="9098836" y="1222298"/>
            <a:ext cx="612842" cy="325676"/>
          </a:xfrm>
          <a:prstGeom prst="line">
            <a:avLst/>
          </a:prstGeom>
          <a:ln w="79375" cap="rnd">
            <a:solidFill>
              <a:schemeClr val="tx1"/>
            </a:solidFill>
            <a:round/>
          </a:ln>
          <a:effectLst>
            <a:softEdge rad="12700"/>
          </a:effectLst>
        </p:spPr>
        <p:style>
          <a:lnRef idx="3">
            <a:schemeClr val="accent6"/>
          </a:lnRef>
          <a:fillRef idx="0">
            <a:schemeClr val="accent6"/>
          </a:fillRef>
          <a:effectRef idx="2">
            <a:schemeClr val="accent6"/>
          </a:effectRef>
          <a:fontRef idx="minor">
            <a:schemeClr val="tx1"/>
          </a:fontRef>
        </p:style>
      </p:cxnSp>
      <p:cxnSp>
        <p:nvCxnSpPr>
          <p:cNvPr id="9" name="Łącznik prosty 8">
            <a:extLst>
              <a:ext uri="{FF2B5EF4-FFF2-40B4-BE49-F238E27FC236}">
                <a16:creationId xmlns:a16="http://schemas.microsoft.com/office/drawing/2014/main" id="{1ABEF0EE-B727-E5DA-395B-49EDD2A127FF}"/>
              </a:ext>
            </a:extLst>
          </p:cNvPr>
          <p:cNvCxnSpPr>
            <a:cxnSpLocks/>
          </p:cNvCxnSpPr>
          <p:nvPr/>
        </p:nvCxnSpPr>
        <p:spPr>
          <a:xfrm flipH="1" flipV="1">
            <a:off x="9232827" y="1287124"/>
            <a:ext cx="294025" cy="260850"/>
          </a:xfrm>
          <a:prstGeom prst="line">
            <a:avLst/>
          </a:prstGeom>
          <a:ln w="79375" cap="rnd">
            <a:solidFill>
              <a:schemeClr val="tx1"/>
            </a:solidFill>
            <a:round/>
          </a:ln>
          <a:effectLst>
            <a:softEdge rad="12700"/>
          </a:effectLst>
        </p:spPr>
        <p:style>
          <a:lnRef idx="3">
            <a:schemeClr val="accent6"/>
          </a:lnRef>
          <a:fillRef idx="0">
            <a:schemeClr val="accent6"/>
          </a:fillRef>
          <a:effectRef idx="2">
            <a:schemeClr val="accent6"/>
          </a:effectRef>
          <a:fontRef idx="minor">
            <a:schemeClr val="tx1"/>
          </a:fontRef>
        </p:style>
      </p:cxnSp>
      <p:cxnSp>
        <p:nvCxnSpPr>
          <p:cNvPr id="18" name="Łącznik: łamany 17">
            <a:extLst>
              <a:ext uri="{FF2B5EF4-FFF2-40B4-BE49-F238E27FC236}">
                <a16:creationId xmlns:a16="http://schemas.microsoft.com/office/drawing/2014/main" id="{960EADE8-B6E6-90C7-1469-5F4A039E7733}"/>
              </a:ext>
            </a:extLst>
          </p:cNvPr>
          <p:cNvCxnSpPr>
            <a:cxnSpLocks/>
          </p:cNvCxnSpPr>
          <p:nvPr/>
        </p:nvCxnSpPr>
        <p:spPr>
          <a:xfrm>
            <a:off x="6268835" y="1129849"/>
            <a:ext cx="2844786" cy="274960"/>
          </a:xfrm>
          <a:prstGeom prst="bentConnector3">
            <a:avLst>
              <a:gd name="adj1" fmla="val 60258"/>
            </a:avLst>
          </a:prstGeom>
          <a:ln w="28575">
            <a:tailEnd type="triangle"/>
          </a:ln>
        </p:spPr>
        <p:style>
          <a:lnRef idx="1">
            <a:schemeClr val="dk1"/>
          </a:lnRef>
          <a:fillRef idx="0">
            <a:schemeClr val="dk1"/>
          </a:fillRef>
          <a:effectRef idx="0">
            <a:schemeClr val="dk1"/>
          </a:effectRef>
          <a:fontRef idx="minor">
            <a:schemeClr val="tx1"/>
          </a:fontRef>
        </p:style>
      </p:cxnSp>
      <p:cxnSp>
        <p:nvCxnSpPr>
          <p:cNvPr id="21" name="Łącznik: łamany 20">
            <a:extLst>
              <a:ext uri="{FF2B5EF4-FFF2-40B4-BE49-F238E27FC236}">
                <a16:creationId xmlns:a16="http://schemas.microsoft.com/office/drawing/2014/main" id="{233CE4AC-5F67-31A5-D029-C820CF3029D8}"/>
              </a:ext>
            </a:extLst>
          </p:cNvPr>
          <p:cNvCxnSpPr/>
          <p:nvPr/>
        </p:nvCxnSpPr>
        <p:spPr>
          <a:xfrm rot="5400000">
            <a:off x="6475813" y="2174740"/>
            <a:ext cx="3392291" cy="2374995"/>
          </a:xfrm>
          <a:prstGeom prst="bentConnector3">
            <a:avLst>
              <a:gd name="adj1" fmla="val 99896"/>
            </a:avLst>
          </a:prstGeom>
          <a:ln w="28575">
            <a:tailEnd type="triangle"/>
          </a:ln>
        </p:spPr>
        <p:style>
          <a:lnRef idx="1">
            <a:schemeClr val="dk1"/>
          </a:lnRef>
          <a:fillRef idx="0">
            <a:schemeClr val="dk1"/>
          </a:fillRef>
          <a:effectRef idx="0">
            <a:schemeClr val="dk1"/>
          </a:effectRef>
          <a:fontRef idx="minor">
            <a:schemeClr val="tx1"/>
          </a:fontRef>
        </p:style>
      </p:cxnSp>
      <p:sp>
        <p:nvSpPr>
          <p:cNvPr id="2" name="Dymek mowy: prostokąt 1">
            <a:extLst>
              <a:ext uri="{FF2B5EF4-FFF2-40B4-BE49-F238E27FC236}">
                <a16:creationId xmlns:a16="http://schemas.microsoft.com/office/drawing/2014/main" id="{C11A8D8D-E4EE-5796-B37E-5F9DD93EB158}"/>
              </a:ext>
            </a:extLst>
          </p:cNvPr>
          <p:cNvSpPr/>
          <p:nvPr/>
        </p:nvSpPr>
        <p:spPr>
          <a:xfrm>
            <a:off x="3230332" y="593606"/>
            <a:ext cx="3038503" cy="1072486"/>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t</a:t>
            </a:r>
            <a:r>
              <a:rPr lang="en-GB" sz="2000" dirty="0">
                <a:solidFill>
                  <a:schemeClr val="tx1"/>
                </a:solidFill>
                <a:latin typeface="Comic Sans MS" panose="030F0702030302020204" pitchFamily="66" charset="0"/>
              </a:rPr>
              <a:t>he player can start and draw either O or X...</a:t>
            </a:r>
            <a:endParaRPr lang="pl-PL" sz="2000" dirty="0">
              <a:solidFill>
                <a:schemeClr val="tx1"/>
              </a:solidFill>
              <a:latin typeface="Comic Sans MS" panose="030F0702030302020204" pitchFamily="66" charset="0"/>
            </a:endParaRPr>
          </a:p>
        </p:txBody>
      </p:sp>
      <p:sp>
        <p:nvSpPr>
          <p:cNvPr id="7" name="Dymek mowy: prostokąt 6">
            <a:extLst>
              <a:ext uri="{FF2B5EF4-FFF2-40B4-BE49-F238E27FC236}">
                <a16:creationId xmlns:a16="http://schemas.microsoft.com/office/drawing/2014/main" id="{8A967F80-E52C-7D82-AFB4-B864F6CFF9CC}"/>
              </a:ext>
            </a:extLst>
          </p:cNvPr>
          <p:cNvSpPr/>
          <p:nvPr/>
        </p:nvSpPr>
        <p:spPr>
          <a:xfrm>
            <a:off x="3129095" y="1806796"/>
            <a:ext cx="3627142" cy="989146"/>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en-GB" sz="2000" dirty="0">
                <a:solidFill>
                  <a:schemeClr val="tx1"/>
                </a:solidFill>
                <a:latin typeface="Comic Sans MS" panose="030F0702030302020204" pitchFamily="66" charset="0"/>
              </a:rPr>
              <a:t>...so the program must recognize what the 'computer player' is playing.</a:t>
            </a:r>
            <a:endParaRPr lang="pl-PL" sz="2000" dirty="0">
              <a:solidFill>
                <a:schemeClr val="tx1"/>
              </a:solidFill>
              <a:latin typeface="Comic Sans MS" panose="030F0702030302020204" pitchFamily="66" charset="0"/>
            </a:endParaRPr>
          </a:p>
        </p:txBody>
      </p:sp>
      <p:sp>
        <p:nvSpPr>
          <p:cNvPr id="8" name="Dymek mowy: prostokąt 7">
            <a:extLst>
              <a:ext uri="{FF2B5EF4-FFF2-40B4-BE49-F238E27FC236}">
                <a16:creationId xmlns:a16="http://schemas.microsoft.com/office/drawing/2014/main" id="{AA6090FC-3208-F999-0730-7E6E59122119}"/>
              </a:ext>
            </a:extLst>
          </p:cNvPr>
          <p:cNvSpPr/>
          <p:nvPr/>
        </p:nvSpPr>
        <p:spPr>
          <a:xfrm>
            <a:off x="281658" y="585694"/>
            <a:ext cx="2602613" cy="962280"/>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f</a:t>
            </a:r>
            <a:r>
              <a:rPr lang="en-GB" sz="2000" dirty="0">
                <a:solidFill>
                  <a:schemeClr val="tx1"/>
                </a:solidFill>
                <a:latin typeface="Comic Sans MS" panose="030F0702030302020204" pitchFamily="66" charset="0"/>
              </a:rPr>
              <a:t>or example, a graphic tablet.</a:t>
            </a:r>
            <a:endParaRPr lang="pl-PL"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3155445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3"/>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sp>
        <p:nvSpPr>
          <p:cNvPr id="20" name="Dymek mowy: prostokąt 19">
            <a:extLst>
              <a:ext uri="{FF2B5EF4-FFF2-40B4-BE49-F238E27FC236}">
                <a16:creationId xmlns:a16="http://schemas.microsoft.com/office/drawing/2014/main" id="{8A224F19-AE97-4490-A946-0E1C03642E12}"/>
              </a:ext>
            </a:extLst>
          </p:cNvPr>
          <p:cNvSpPr/>
          <p:nvPr/>
        </p:nvSpPr>
        <p:spPr>
          <a:xfrm>
            <a:off x="199486" y="589278"/>
            <a:ext cx="2602613"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dirty="0">
                <a:solidFill>
                  <a:schemeClr val="tx1"/>
                </a:solidFill>
                <a:latin typeface="Comic Sans MS" panose="030F0702030302020204" pitchFamily="66" charset="0"/>
              </a:rPr>
              <a:t>The </a:t>
            </a:r>
            <a:r>
              <a:rPr lang="pl-PL" dirty="0" err="1">
                <a:solidFill>
                  <a:schemeClr val="tx1"/>
                </a:solidFill>
                <a:latin typeface="Comic Sans MS" panose="030F0702030302020204" pitchFamily="66" charset="0"/>
              </a:rPr>
              <a:t>player</a:t>
            </a:r>
            <a:r>
              <a:rPr lang="pl-PL" dirty="0">
                <a:solidFill>
                  <a:schemeClr val="tx1"/>
                </a:solidFill>
                <a:latin typeface="Comic Sans MS" panose="030F0702030302020204" pitchFamily="66" charset="0"/>
              </a:rPr>
              <a:t> drew </a:t>
            </a:r>
            <a:r>
              <a:rPr lang="pl-PL" dirty="0" err="1">
                <a:solidFill>
                  <a:schemeClr val="tx1"/>
                </a:solidFill>
                <a:latin typeface="Comic Sans MS" panose="030F0702030302020204" pitchFamily="66" charset="0"/>
              </a:rPr>
              <a:t>this</a:t>
            </a:r>
            <a:r>
              <a:rPr lang="pl-PL" dirty="0">
                <a:solidFill>
                  <a:schemeClr val="tx1"/>
                </a:solidFill>
                <a:latin typeface="Comic Sans MS" panose="030F0702030302020204" pitchFamily="66" charset="0"/>
              </a:rPr>
              <a:t>:</a:t>
            </a:r>
          </a:p>
        </p:txBody>
      </p:sp>
      <p:pic>
        <p:nvPicPr>
          <p:cNvPr id="7" name="Obraz 6">
            <a:extLst>
              <a:ext uri="{FF2B5EF4-FFF2-40B4-BE49-F238E27FC236}">
                <a16:creationId xmlns:a16="http://schemas.microsoft.com/office/drawing/2014/main" id="{BC4B751D-A729-CC28-708D-7212CD1945B9}"/>
              </a:ext>
            </a:extLst>
          </p:cNvPr>
          <p:cNvPicPr>
            <a:picLocks noChangeAspect="1"/>
          </p:cNvPicPr>
          <p:nvPr/>
        </p:nvPicPr>
        <p:blipFill>
          <a:blip r:embed="rId4"/>
          <a:stretch>
            <a:fillRect/>
          </a:stretch>
        </p:blipFill>
        <p:spPr>
          <a:xfrm>
            <a:off x="199485" y="1224752"/>
            <a:ext cx="2602614" cy="2614626"/>
          </a:xfrm>
          <a:prstGeom prst="rect">
            <a:avLst/>
          </a:prstGeom>
        </p:spPr>
      </p:pic>
      <p:cxnSp>
        <p:nvCxnSpPr>
          <p:cNvPr id="10" name="Łącznik prosty ze strzałką 9">
            <a:extLst>
              <a:ext uri="{FF2B5EF4-FFF2-40B4-BE49-F238E27FC236}">
                <a16:creationId xmlns:a16="http://schemas.microsoft.com/office/drawing/2014/main" id="{7EA7F0CB-E250-392E-365E-FE4C98EA0810}"/>
              </a:ext>
            </a:extLst>
          </p:cNvPr>
          <p:cNvCxnSpPr>
            <a:cxnSpLocks/>
          </p:cNvCxnSpPr>
          <p:nvPr/>
        </p:nvCxnSpPr>
        <p:spPr>
          <a:xfrm>
            <a:off x="2918831" y="1224752"/>
            <a:ext cx="0" cy="2614626"/>
          </a:xfrm>
          <a:prstGeom prst="straightConnector1">
            <a:avLst/>
          </a:prstGeom>
          <a:ln w="38100">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1" name="Łącznik prosty ze strzałką 10">
            <a:extLst>
              <a:ext uri="{FF2B5EF4-FFF2-40B4-BE49-F238E27FC236}">
                <a16:creationId xmlns:a16="http://schemas.microsoft.com/office/drawing/2014/main" id="{85CF95F9-5498-CC16-1EF6-EB09AA2A1554}"/>
              </a:ext>
            </a:extLst>
          </p:cNvPr>
          <p:cNvCxnSpPr>
            <a:cxnSpLocks/>
          </p:cNvCxnSpPr>
          <p:nvPr/>
        </p:nvCxnSpPr>
        <p:spPr>
          <a:xfrm flipH="1">
            <a:off x="199485" y="3946382"/>
            <a:ext cx="2602614" cy="0"/>
          </a:xfrm>
          <a:prstGeom prst="straightConnector1">
            <a:avLst/>
          </a:prstGeom>
          <a:ln w="38100">
            <a:headEnd type="triangle"/>
            <a:tailEnd type="triangle"/>
          </a:ln>
        </p:spPr>
        <p:style>
          <a:lnRef idx="1">
            <a:schemeClr val="accent2"/>
          </a:lnRef>
          <a:fillRef idx="0">
            <a:schemeClr val="accent2"/>
          </a:fillRef>
          <a:effectRef idx="0">
            <a:schemeClr val="accent2"/>
          </a:effectRef>
          <a:fontRef idx="minor">
            <a:schemeClr val="tx1"/>
          </a:fontRef>
        </p:style>
      </p:cxnSp>
      <p:sp>
        <p:nvSpPr>
          <p:cNvPr id="22" name="Dymek mowy: prostokąt 21">
            <a:extLst>
              <a:ext uri="{FF2B5EF4-FFF2-40B4-BE49-F238E27FC236}">
                <a16:creationId xmlns:a16="http://schemas.microsoft.com/office/drawing/2014/main" id="{27237F17-7D18-4CCA-A704-0AC443263464}"/>
              </a:ext>
            </a:extLst>
          </p:cNvPr>
          <p:cNvSpPr/>
          <p:nvPr/>
        </p:nvSpPr>
        <p:spPr>
          <a:xfrm>
            <a:off x="2918831" y="722134"/>
            <a:ext cx="762000" cy="462892"/>
          </a:xfrm>
          <a:prstGeom prst="wedgeRectCallout">
            <a:avLst>
              <a:gd name="adj1" fmla="val -33895"/>
              <a:gd name="adj2" fmla="val 47286"/>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6 </a:t>
            </a:r>
            <a:r>
              <a:rPr lang="pl-PL" sz="2000" dirty="0" err="1">
                <a:solidFill>
                  <a:schemeClr val="tx1"/>
                </a:solidFill>
                <a:latin typeface="Comic Sans MS" panose="030F0702030302020204" pitchFamily="66" charset="0"/>
              </a:rPr>
              <a:t>px</a:t>
            </a:r>
            <a:endParaRPr lang="pl-PL" sz="2000" dirty="0">
              <a:solidFill>
                <a:schemeClr val="tx1"/>
              </a:solidFill>
              <a:latin typeface="Comic Sans MS" panose="030F0702030302020204" pitchFamily="66" charset="0"/>
            </a:endParaRPr>
          </a:p>
        </p:txBody>
      </p:sp>
      <p:sp>
        <p:nvSpPr>
          <p:cNvPr id="24" name="Dymek mowy: prostokąt 23">
            <a:extLst>
              <a:ext uri="{FF2B5EF4-FFF2-40B4-BE49-F238E27FC236}">
                <a16:creationId xmlns:a16="http://schemas.microsoft.com/office/drawing/2014/main" id="{B43F6D8F-13A4-A884-95A4-0E2B38E60613}"/>
              </a:ext>
            </a:extLst>
          </p:cNvPr>
          <p:cNvSpPr/>
          <p:nvPr/>
        </p:nvSpPr>
        <p:spPr>
          <a:xfrm>
            <a:off x="1119792" y="4053387"/>
            <a:ext cx="762000" cy="462892"/>
          </a:xfrm>
          <a:prstGeom prst="wedgeRectCallout">
            <a:avLst>
              <a:gd name="adj1" fmla="val -33895"/>
              <a:gd name="adj2" fmla="val 47286"/>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6 </a:t>
            </a:r>
            <a:r>
              <a:rPr lang="pl-PL" sz="2000" dirty="0" err="1">
                <a:solidFill>
                  <a:schemeClr val="tx1"/>
                </a:solidFill>
                <a:latin typeface="Comic Sans MS" panose="030F0702030302020204" pitchFamily="66" charset="0"/>
              </a:rPr>
              <a:t>px</a:t>
            </a:r>
            <a:endParaRPr lang="pl-PL" sz="2000" dirty="0">
              <a:solidFill>
                <a:schemeClr val="tx1"/>
              </a:solidFill>
              <a:latin typeface="Comic Sans MS" panose="030F0702030302020204" pitchFamily="66" charset="0"/>
            </a:endParaRPr>
          </a:p>
        </p:txBody>
      </p:sp>
      <p:sp>
        <p:nvSpPr>
          <p:cNvPr id="4" name="Tytuł 4">
            <a:extLst>
              <a:ext uri="{FF2B5EF4-FFF2-40B4-BE49-F238E27FC236}">
                <a16:creationId xmlns:a16="http://schemas.microsoft.com/office/drawing/2014/main" id="{740E6075-173B-A750-303E-22A16B22D29A}"/>
              </a:ext>
            </a:extLst>
          </p:cNvPr>
          <p:cNvSpPr>
            <a:spLocks noGrp="1"/>
          </p:cNvSpPr>
          <p:nvPr>
            <p:ph type="title"/>
          </p:nvPr>
        </p:nvSpPr>
        <p:spPr>
          <a:xfrm>
            <a:off x="0" y="0"/>
            <a:ext cx="7470843" cy="696286"/>
          </a:xfrm>
        </p:spPr>
        <p:txBody>
          <a:bodyPr>
            <a:noAutofit/>
          </a:bodyPr>
          <a:lstStyle/>
          <a:p>
            <a:pPr algn="ctr"/>
            <a:r>
              <a:rPr lang="en-GB" sz="3200" dirty="0"/>
              <a:t>Image recognition - a regular neural network</a:t>
            </a:r>
          </a:p>
        </p:txBody>
      </p:sp>
    </p:spTree>
    <p:extLst>
      <p:ext uri="{BB962C8B-B14F-4D97-AF65-F5344CB8AC3E}">
        <p14:creationId xmlns:p14="http://schemas.microsoft.com/office/powerpoint/2010/main" val="1441418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3"/>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sp>
        <p:nvSpPr>
          <p:cNvPr id="20" name="Dymek mowy: prostokąt 19">
            <a:extLst>
              <a:ext uri="{FF2B5EF4-FFF2-40B4-BE49-F238E27FC236}">
                <a16:creationId xmlns:a16="http://schemas.microsoft.com/office/drawing/2014/main" id="{8A224F19-AE97-4490-A946-0E1C03642E12}"/>
              </a:ext>
            </a:extLst>
          </p:cNvPr>
          <p:cNvSpPr/>
          <p:nvPr/>
        </p:nvSpPr>
        <p:spPr>
          <a:xfrm>
            <a:off x="199486" y="589278"/>
            <a:ext cx="2602613"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dirty="0">
                <a:solidFill>
                  <a:schemeClr val="tx1"/>
                </a:solidFill>
                <a:latin typeface="Comic Sans MS" panose="030F0702030302020204" pitchFamily="66" charset="0"/>
              </a:rPr>
              <a:t>The </a:t>
            </a:r>
            <a:r>
              <a:rPr lang="pl-PL" dirty="0" err="1">
                <a:solidFill>
                  <a:schemeClr val="tx1"/>
                </a:solidFill>
                <a:latin typeface="Comic Sans MS" panose="030F0702030302020204" pitchFamily="66" charset="0"/>
              </a:rPr>
              <a:t>player</a:t>
            </a:r>
            <a:r>
              <a:rPr lang="pl-PL" dirty="0">
                <a:solidFill>
                  <a:schemeClr val="tx1"/>
                </a:solidFill>
                <a:latin typeface="Comic Sans MS" panose="030F0702030302020204" pitchFamily="66" charset="0"/>
              </a:rPr>
              <a:t> drew </a:t>
            </a:r>
            <a:r>
              <a:rPr lang="pl-PL" dirty="0" err="1">
                <a:solidFill>
                  <a:schemeClr val="tx1"/>
                </a:solidFill>
                <a:latin typeface="Comic Sans MS" panose="030F0702030302020204" pitchFamily="66" charset="0"/>
              </a:rPr>
              <a:t>this</a:t>
            </a:r>
            <a:r>
              <a:rPr lang="pl-PL" dirty="0">
                <a:solidFill>
                  <a:schemeClr val="tx1"/>
                </a:solidFill>
                <a:latin typeface="Comic Sans MS" panose="030F0702030302020204" pitchFamily="66" charset="0"/>
              </a:rPr>
              <a:t>:</a:t>
            </a:r>
          </a:p>
        </p:txBody>
      </p:sp>
      <p:pic>
        <p:nvPicPr>
          <p:cNvPr id="7" name="Obraz 6">
            <a:extLst>
              <a:ext uri="{FF2B5EF4-FFF2-40B4-BE49-F238E27FC236}">
                <a16:creationId xmlns:a16="http://schemas.microsoft.com/office/drawing/2014/main" id="{BC4B751D-A729-CC28-708D-7212CD1945B9}"/>
              </a:ext>
            </a:extLst>
          </p:cNvPr>
          <p:cNvPicPr>
            <a:picLocks noChangeAspect="1"/>
          </p:cNvPicPr>
          <p:nvPr/>
        </p:nvPicPr>
        <p:blipFill>
          <a:blip r:embed="rId4"/>
          <a:stretch>
            <a:fillRect/>
          </a:stretch>
        </p:blipFill>
        <p:spPr>
          <a:xfrm>
            <a:off x="199485" y="1224752"/>
            <a:ext cx="2602614" cy="2614626"/>
          </a:xfrm>
          <a:prstGeom prst="rect">
            <a:avLst/>
          </a:prstGeom>
        </p:spPr>
      </p:pic>
      <p:cxnSp>
        <p:nvCxnSpPr>
          <p:cNvPr id="10" name="Łącznik prosty ze strzałką 9">
            <a:extLst>
              <a:ext uri="{FF2B5EF4-FFF2-40B4-BE49-F238E27FC236}">
                <a16:creationId xmlns:a16="http://schemas.microsoft.com/office/drawing/2014/main" id="{7EA7F0CB-E250-392E-365E-FE4C98EA0810}"/>
              </a:ext>
            </a:extLst>
          </p:cNvPr>
          <p:cNvCxnSpPr>
            <a:cxnSpLocks/>
          </p:cNvCxnSpPr>
          <p:nvPr/>
        </p:nvCxnSpPr>
        <p:spPr>
          <a:xfrm>
            <a:off x="2918831" y="1224752"/>
            <a:ext cx="0" cy="2614626"/>
          </a:xfrm>
          <a:prstGeom prst="straightConnector1">
            <a:avLst/>
          </a:prstGeom>
          <a:ln w="38100">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1" name="Łącznik prosty ze strzałką 10">
            <a:extLst>
              <a:ext uri="{FF2B5EF4-FFF2-40B4-BE49-F238E27FC236}">
                <a16:creationId xmlns:a16="http://schemas.microsoft.com/office/drawing/2014/main" id="{85CF95F9-5498-CC16-1EF6-EB09AA2A1554}"/>
              </a:ext>
            </a:extLst>
          </p:cNvPr>
          <p:cNvCxnSpPr>
            <a:cxnSpLocks/>
          </p:cNvCxnSpPr>
          <p:nvPr/>
        </p:nvCxnSpPr>
        <p:spPr>
          <a:xfrm flipH="1">
            <a:off x="199485" y="3946382"/>
            <a:ext cx="2602614" cy="0"/>
          </a:xfrm>
          <a:prstGeom prst="straightConnector1">
            <a:avLst/>
          </a:prstGeom>
          <a:ln w="38100">
            <a:headEnd type="triangle"/>
            <a:tailEnd type="triangle"/>
          </a:ln>
        </p:spPr>
        <p:style>
          <a:lnRef idx="1">
            <a:schemeClr val="accent2"/>
          </a:lnRef>
          <a:fillRef idx="0">
            <a:schemeClr val="accent2"/>
          </a:fillRef>
          <a:effectRef idx="0">
            <a:schemeClr val="accent2"/>
          </a:effectRef>
          <a:fontRef idx="minor">
            <a:schemeClr val="tx1"/>
          </a:fontRef>
        </p:style>
      </p:cxnSp>
      <p:sp>
        <p:nvSpPr>
          <p:cNvPr id="22" name="Dymek mowy: prostokąt 21">
            <a:extLst>
              <a:ext uri="{FF2B5EF4-FFF2-40B4-BE49-F238E27FC236}">
                <a16:creationId xmlns:a16="http://schemas.microsoft.com/office/drawing/2014/main" id="{27237F17-7D18-4CCA-A704-0AC443263464}"/>
              </a:ext>
            </a:extLst>
          </p:cNvPr>
          <p:cNvSpPr/>
          <p:nvPr/>
        </p:nvSpPr>
        <p:spPr>
          <a:xfrm>
            <a:off x="2918831" y="722134"/>
            <a:ext cx="762000" cy="462892"/>
          </a:xfrm>
          <a:prstGeom prst="wedgeRectCallout">
            <a:avLst>
              <a:gd name="adj1" fmla="val -33895"/>
              <a:gd name="adj2" fmla="val 47286"/>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6 </a:t>
            </a:r>
            <a:r>
              <a:rPr lang="pl-PL" sz="2000" dirty="0" err="1">
                <a:solidFill>
                  <a:schemeClr val="tx1"/>
                </a:solidFill>
                <a:latin typeface="Comic Sans MS" panose="030F0702030302020204" pitchFamily="66" charset="0"/>
              </a:rPr>
              <a:t>px</a:t>
            </a:r>
            <a:endParaRPr lang="pl-PL" sz="2000" dirty="0">
              <a:solidFill>
                <a:schemeClr val="tx1"/>
              </a:solidFill>
              <a:latin typeface="Comic Sans MS" panose="030F0702030302020204" pitchFamily="66" charset="0"/>
            </a:endParaRPr>
          </a:p>
        </p:txBody>
      </p:sp>
      <p:sp>
        <p:nvSpPr>
          <p:cNvPr id="24" name="Dymek mowy: prostokąt 23">
            <a:extLst>
              <a:ext uri="{FF2B5EF4-FFF2-40B4-BE49-F238E27FC236}">
                <a16:creationId xmlns:a16="http://schemas.microsoft.com/office/drawing/2014/main" id="{B43F6D8F-13A4-A884-95A4-0E2B38E60613}"/>
              </a:ext>
            </a:extLst>
          </p:cNvPr>
          <p:cNvSpPr/>
          <p:nvPr/>
        </p:nvSpPr>
        <p:spPr>
          <a:xfrm>
            <a:off x="1119792" y="4053387"/>
            <a:ext cx="762000" cy="462892"/>
          </a:xfrm>
          <a:prstGeom prst="wedgeRectCallout">
            <a:avLst>
              <a:gd name="adj1" fmla="val -33895"/>
              <a:gd name="adj2" fmla="val 47286"/>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6 </a:t>
            </a:r>
            <a:r>
              <a:rPr lang="pl-PL" sz="2000" dirty="0" err="1">
                <a:solidFill>
                  <a:schemeClr val="tx1"/>
                </a:solidFill>
                <a:latin typeface="Comic Sans MS" panose="030F0702030302020204" pitchFamily="66" charset="0"/>
              </a:rPr>
              <a:t>px</a:t>
            </a:r>
            <a:endParaRPr lang="pl-PL" sz="2000" dirty="0">
              <a:solidFill>
                <a:schemeClr val="tx1"/>
              </a:solidFill>
              <a:latin typeface="Comic Sans MS" panose="030F0702030302020204" pitchFamily="66" charset="0"/>
            </a:endParaRPr>
          </a:p>
        </p:txBody>
      </p:sp>
      <p:pic>
        <p:nvPicPr>
          <p:cNvPr id="27" name="Obraz 26">
            <a:extLst>
              <a:ext uri="{FF2B5EF4-FFF2-40B4-BE49-F238E27FC236}">
                <a16:creationId xmlns:a16="http://schemas.microsoft.com/office/drawing/2014/main" id="{FA2BB761-3C8C-F7E4-EC02-014A798F3643}"/>
              </a:ext>
            </a:extLst>
          </p:cNvPr>
          <p:cNvPicPr>
            <a:picLocks noChangeAspect="1"/>
          </p:cNvPicPr>
          <p:nvPr/>
        </p:nvPicPr>
        <p:blipFill>
          <a:blip r:embed="rId5"/>
          <a:stretch>
            <a:fillRect/>
          </a:stretch>
        </p:blipFill>
        <p:spPr>
          <a:xfrm>
            <a:off x="3251027" y="1250046"/>
            <a:ext cx="4537944" cy="5270842"/>
          </a:xfrm>
          <a:prstGeom prst="rect">
            <a:avLst/>
          </a:prstGeom>
        </p:spPr>
      </p:pic>
      <p:sp>
        <p:nvSpPr>
          <p:cNvPr id="28" name="Dymek mowy: prostokąt 27">
            <a:extLst>
              <a:ext uri="{FF2B5EF4-FFF2-40B4-BE49-F238E27FC236}">
                <a16:creationId xmlns:a16="http://schemas.microsoft.com/office/drawing/2014/main" id="{1631D5EF-45ED-1DB1-76A9-4A1E72881FAA}"/>
              </a:ext>
            </a:extLst>
          </p:cNvPr>
          <p:cNvSpPr/>
          <p:nvPr/>
        </p:nvSpPr>
        <p:spPr>
          <a:xfrm>
            <a:off x="6880605" y="589279"/>
            <a:ext cx="4649821" cy="1815798"/>
          </a:xfrm>
          <a:prstGeom prst="wedgeRectCallout">
            <a:avLst>
              <a:gd name="adj1" fmla="val -33895"/>
              <a:gd name="adj2" fmla="val 47286"/>
            </a:avLst>
          </a:prstGeom>
          <a:ln w="34925">
            <a:solidFill>
              <a:schemeClr val="tx1"/>
            </a:solidFill>
            <a:prstDash val="dashDot"/>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en-GB" sz="2000" dirty="0">
                <a:solidFill>
                  <a:schemeClr val="tx1"/>
                </a:solidFill>
                <a:latin typeface="Comic Sans MS" panose="030F0702030302020204" pitchFamily="66" charset="0"/>
              </a:rPr>
              <a:t>Why a regular neural network is a bad idea? </a:t>
            </a:r>
          </a:p>
          <a:p>
            <a:pPr algn="ctr"/>
            <a:r>
              <a:rPr lang="en-GB" sz="2000" dirty="0">
                <a:solidFill>
                  <a:schemeClr val="bg1"/>
                </a:solidFill>
                <a:latin typeface="Comic Sans MS" panose="030F0702030302020204" pitchFamily="66" charset="0"/>
              </a:rPr>
              <a:t>1. It doesn't scale well.</a:t>
            </a:r>
          </a:p>
          <a:p>
            <a:pPr algn="ctr"/>
            <a:r>
              <a:rPr lang="en-GB" sz="2000" dirty="0">
                <a:solidFill>
                  <a:schemeClr val="bg1"/>
                </a:solidFill>
                <a:latin typeface="Comic Sans MS" panose="030F0702030302020204" pitchFamily="66" charset="0"/>
              </a:rPr>
              <a:t>2. It doesn't account for shifts.</a:t>
            </a:r>
          </a:p>
          <a:p>
            <a:pPr algn="ctr"/>
            <a:r>
              <a:rPr lang="en-GB" sz="2000" dirty="0">
                <a:solidFill>
                  <a:schemeClr val="bg1"/>
                </a:solidFill>
                <a:latin typeface="Comic Sans MS" panose="030F0702030302020204" pitchFamily="66" charset="0"/>
              </a:rPr>
              <a:t>3. It doesn't leverage correlations observed in the image.</a:t>
            </a:r>
            <a:endParaRPr lang="pl-PL" sz="2000" dirty="0">
              <a:solidFill>
                <a:schemeClr val="bg1"/>
              </a:solidFill>
              <a:latin typeface="Comic Sans MS" panose="030F0702030302020204" pitchFamily="66" charset="0"/>
            </a:endParaRPr>
          </a:p>
        </p:txBody>
      </p:sp>
      <p:sp>
        <p:nvSpPr>
          <p:cNvPr id="4" name="Tytuł 4">
            <a:extLst>
              <a:ext uri="{FF2B5EF4-FFF2-40B4-BE49-F238E27FC236}">
                <a16:creationId xmlns:a16="http://schemas.microsoft.com/office/drawing/2014/main" id="{740E6075-173B-A750-303E-22A16B22D29A}"/>
              </a:ext>
            </a:extLst>
          </p:cNvPr>
          <p:cNvSpPr>
            <a:spLocks noGrp="1"/>
          </p:cNvSpPr>
          <p:nvPr>
            <p:ph type="title"/>
          </p:nvPr>
        </p:nvSpPr>
        <p:spPr>
          <a:xfrm>
            <a:off x="0" y="0"/>
            <a:ext cx="7470843" cy="696286"/>
          </a:xfrm>
        </p:spPr>
        <p:txBody>
          <a:bodyPr>
            <a:noAutofit/>
          </a:bodyPr>
          <a:lstStyle/>
          <a:p>
            <a:pPr algn="ctr"/>
            <a:r>
              <a:rPr lang="en-GB" sz="3200" dirty="0"/>
              <a:t>Image recognition - a regular neural network</a:t>
            </a:r>
          </a:p>
        </p:txBody>
      </p:sp>
    </p:spTree>
    <p:extLst>
      <p:ext uri="{BB962C8B-B14F-4D97-AF65-F5344CB8AC3E}">
        <p14:creationId xmlns:p14="http://schemas.microsoft.com/office/powerpoint/2010/main" val="1904917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3"/>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sp>
        <p:nvSpPr>
          <p:cNvPr id="20" name="Dymek mowy: prostokąt 19">
            <a:extLst>
              <a:ext uri="{FF2B5EF4-FFF2-40B4-BE49-F238E27FC236}">
                <a16:creationId xmlns:a16="http://schemas.microsoft.com/office/drawing/2014/main" id="{8A224F19-AE97-4490-A946-0E1C03642E12}"/>
              </a:ext>
            </a:extLst>
          </p:cNvPr>
          <p:cNvSpPr/>
          <p:nvPr/>
        </p:nvSpPr>
        <p:spPr>
          <a:xfrm>
            <a:off x="199486" y="589278"/>
            <a:ext cx="2602613"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dirty="0">
                <a:solidFill>
                  <a:schemeClr val="tx1"/>
                </a:solidFill>
                <a:latin typeface="Comic Sans MS" panose="030F0702030302020204" pitchFamily="66" charset="0"/>
              </a:rPr>
              <a:t>The </a:t>
            </a:r>
            <a:r>
              <a:rPr lang="pl-PL" dirty="0" err="1">
                <a:solidFill>
                  <a:schemeClr val="tx1"/>
                </a:solidFill>
                <a:latin typeface="Comic Sans MS" panose="030F0702030302020204" pitchFamily="66" charset="0"/>
              </a:rPr>
              <a:t>player</a:t>
            </a:r>
            <a:r>
              <a:rPr lang="pl-PL" dirty="0">
                <a:solidFill>
                  <a:schemeClr val="tx1"/>
                </a:solidFill>
                <a:latin typeface="Comic Sans MS" panose="030F0702030302020204" pitchFamily="66" charset="0"/>
              </a:rPr>
              <a:t> drew </a:t>
            </a:r>
            <a:r>
              <a:rPr lang="pl-PL" dirty="0" err="1">
                <a:solidFill>
                  <a:schemeClr val="tx1"/>
                </a:solidFill>
                <a:latin typeface="Comic Sans MS" panose="030F0702030302020204" pitchFamily="66" charset="0"/>
              </a:rPr>
              <a:t>this</a:t>
            </a:r>
            <a:r>
              <a:rPr lang="pl-PL" dirty="0">
                <a:solidFill>
                  <a:schemeClr val="tx1"/>
                </a:solidFill>
                <a:latin typeface="Comic Sans MS" panose="030F0702030302020204" pitchFamily="66" charset="0"/>
              </a:rPr>
              <a:t>:</a:t>
            </a:r>
          </a:p>
        </p:txBody>
      </p:sp>
      <p:pic>
        <p:nvPicPr>
          <p:cNvPr id="7" name="Obraz 6">
            <a:extLst>
              <a:ext uri="{FF2B5EF4-FFF2-40B4-BE49-F238E27FC236}">
                <a16:creationId xmlns:a16="http://schemas.microsoft.com/office/drawing/2014/main" id="{BC4B751D-A729-CC28-708D-7212CD1945B9}"/>
              </a:ext>
            </a:extLst>
          </p:cNvPr>
          <p:cNvPicPr>
            <a:picLocks noChangeAspect="1"/>
          </p:cNvPicPr>
          <p:nvPr/>
        </p:nvPicPr>
        <p:blipFill>
          <a:blip r:embed="rId4"/>
          <a:stretch>
            <a:fillRect/>
          </a:stretch>
        </p:blipFill>
        <p:spPr>
          <a:xfrm>
            <a:off x="199485" y="1224752"/>
            <a:ext cx="2602614" cy="2614626"/>
          </a:xfrm>
          <a:prstGeom prst="rect">
            <a:avLst/>
          </a:prstGeom>
        </p:spPr>
      </p:pic>
      <p:cxnSp>
        <p:nvCxnSpPr>
          <p:cNvPr id="10" name="Łącznik prosty ze strzałką 9">
            <a:extLst>
              <a:ext uri="{FF2B5EF4-FFF2-40B4-BE49-F238E27FC236}">
                <a16:creationId xmlns:a16="http://schemas.microsoft.com/office/drawing/2014/main" id="{7EA7F0CB-E250-392E-365E-FE4C98EA0810}"/>
              </a:ext>
            </a:extLst>
          </p:cNvPr>
          <p:cNvCxnSpPr>
            <a:cxnSpLocks/>
          </p:cNvCxnSpPr>
          <p:nvPr/>
        </p:nvCxnSpPr>
        <p:spPr>
          <a:xfrm>
            <a:off x="2918831" y="1224752"/>
            <a:ext cx="0" cy="2614626"/>
          </a:xfrm>
          <a:prstGeom prst="straightConnector1">
            <a:avLst/>
          </a:prstGeom>
          <a:ln w="38100">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1" name="Łącznik prosty ze strzałką 10">
            <a:extLst>
              <a:ext uri="{FF2B5EF4-FFF2-40B4-BE49-F238E27FC236}">
                <a16:creationId xmlns:a16="http://schemas.microsoft.com/office/drawing/2014/main" id="{85CF95F9-5498-CC16-1EF6-EB09AA2A1554}"/>
              </a:ext>
            </a:extLst>
          </p:cNvPr>
          <p:cNvCxnSpPr>
            <a:cxnSpLocks/>
          </p:cNvCxnSpPr>
          <p:nvPr/>
        </p:nvCxnSpPr>
        <p:spPr>
          <a:xfrm flipH="1">
            <a:off x="199485" y="3946382"/>
            <a:ext cx="2602614" cy="0"/>
          </a:xfrm>
          <a:prstGeom prst="straightConnector1">
            <a:avLst/>
          </a:prstGeom>
          <a:ln w="38100">
            <a:headEnd type="triangle"/>
            <a:tailEnd type="triangle"/>
          </a:ln>
        </p:spPr>
        <p:style>
          <a:lnRef idx="1">
            <a:schemeClr val="accent2"/>
          </a:lnRef>
          <a:fillRef idx="0">
            <a:schemeClr val="accent2"/>
          </a:fillRef>
          <a:effectRef idx="0">
            <a:schemeClr val="accent2"/>
          </a:effectRef>
          <a:fontRef idx="minor">
            <a:schemeClr val="tx1"/>
          </a:fontRef>
        </p:style>
      </p:cxnSp>
      <p:sp>
        <p:nvSpPr>
          <p:cNvPr id="22" name="Dymek mowy: prostokąt 21">
            <a:extLst>
              <a:ext uri="{FF2B5EF4-FFF2-40B4-BE49-F238E27FC236}">
                <a16:creationId xmlns:a16="http://schemas.microsoft.com/office/drawing/2014/main" id="{27237F17-7D18-4CCA-A704-0AC443263464}"/>
              </a:ext>
            </a:extLst>
          </p:cNvPr>
          <p:cNvSpPr/>
          <p:nvPr/>
        </p:nvSpPr>
        <p:spPr>
          <a:xfrm>
            <a:off x="2918831" y="722134"/>
            <a:ext cx="762000" cy="462892"/>
          </a:xfrm>
          <a:prstGeom prst="wedgeRectCallout">
            <a:avLst>
              <a:gd name="adj1" fmla="val -33895"/>
              <a:gd name="adj2" fmla="val 47286"/>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6 </a:t>
            </a:r>
            <a:r>
              <a:rPr lang="pl-PL" sz="2000" dirty="0" err="1">
                <a:solidFill>
                  <a:schemeClr val="tx1"/>
                </a:solidFill>
                <a:latin typeface="Comic Sans MS" panose="030F0702030302020204" pitchFamily="66" charset="0"/>
              </a:rPr>
              <a:t>px</a:t>
            </a:r>
            <a:endParaRPr lang="pl-PL" sz="2000" dirty="0">
              <a:solidFill>
                <a:schemeClr val="tx1"/>
              </a:solidFill>
              <a:latin typeface="Comic Sans MS" panose="030F0702030302020204" pitchFamily="66" charset="0"/>
            </a:endParaRPr>
          </a:p>
        </p:txBody>
      </p:sp>
      <p:sp>
        <p:nvSpPr>
          <p:cNvPr id="24" name="Dymek mowy: prostokąt 23">
            <a:extLst>
              <a:ext uri="{FF2B5EF4-FFF2-40B4-BE49-F238E27FC236}">
                <a16:creationId xmlns:a16="http://schemas.microsoft.com/office/drawing/2014/main" id="{B43F6D8F-13A4-A884-95A4-0E2B38E60613}"/>
              </a:ext>
            </a:extLst>
          </p:cNvPr>
          <p:cNvSpPr/>
          <p:nvPr/>
        </p:nvSpPr>
        <p:spPr>
          <a:xfrm>
            <a:off x="1119792" y="4053387"/>
            <a:ext cx="762000" cy="462892"/>
          </a:xfrm>
          <a:prstGeom prst="wedgeRectCallout">
            <a:avLst>
              <a:gd name="adj1" fmla="val -33895"/>
              <a:gd name="adj2" fmla="val 47286"/>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6 </a:t>
            </a:r>
            <a:r>
              <a:rPr lang="pl-PL" sz="2000" dirty="0" err="1">
                <a:solidFill>
                  <a:schemeClr val="tx1"/>
                </a:solidFill>
                <a:latin typeface="Comic Sans MS" panose="030F0702030302020204" pitchFamily="66" charset="0"/>
              </a:rPr>
              <a:t>px</a:t>
            </a:r>
            <a:endParaRPr lang="pl-PL" sz="2000" dirty="0">
              <a:solidFill>
                <a:schemeClr val="tx1"/>
              </a:solidFill>
              <a:latin typeface="Comic Sans MS" panose="030F0702030302020204" pitchFamily="66" charset="0"/>
            </a:endParaRPr>
          </a:p>
        </p:txBody>
      </p:sp>
      <p:pic>
        <p:nvPicPr>
          <p:cNvPr id="27" name="Obraz 26">
            <a:extLst>
              <a:ext uri="{FF2B5EF4-FFF2-40B4-BE49-F238E27FC236}">
                <a16:creationId xmlns:a16="http://schemas.microsoft.com/office/drawing/2014/main" id="{FA2BB761-3C8C-F7E4-EC02-014A798F3643}"/>
              </a:ext>
            </a:extLst>
          </p:cNvPr>
          <p:cNvPicPr>
            <a:picLocks noChangeAspect="1"/>
          </p:cNvPicPr>
          <p:nvPr/>
        </p:nvPicPr>
        <p:blipFill>
          <a:blip r:embed="rId5"/>
          <a:stretch>
            <a:fillRect/>
          </a:stretch>
        </p:blipFill>
        <p:spPr>
          <a:xfrm>
            <a:off x="3251027" y="1250046"/>
            <a:ext cx="4537944" cy="5270842"/>
          </a:xfrm>
          <a:prstGeom prst="rect">
            <a:avLst/>
          </a:prstGeom>
        </p:spPr>
      </p:pic>
      <p:sp>
        <p:nvSpPr>
          <p:cNvPr id="28" name="Dymek mowy: prostokąt 27">
            <a:extLst>
              <a:ext uri="{FF2B5EF4-FFF2-40B4-BE49-F238E27FC236}">
                <a16:creationId xmlns:a16="http://schemas.microsoft.com/office/drawing/2014/main" id="{1631D5EF-45ED-1DB1-76A9-4A1E72881FAA}"/>
              </a:ext>
            </a:extLst>
          </p:cNvPr>
          <p:cNvSpPr/>
          <p:nvPr/>
        </p:nvSpPr>
        <p:spPr>
          <a:xfrm>
            <a:off x="6880605" y="589279"/>
            <a:ext cx="4649821" cy="1815798"/>
          </a:xfrm>
          <a:prstGeom prst="wedgeRectCallout">
            <a:avLst>
              <a:gd name="adj1" fmla="val -33895"/>
              <a:gd name="adj2" fmla="val 47286"/>
            </a:avLst>
          </a:prstGeom>
          <a:ln w="34925">
            <a:solidFill>
              <a:schemeClr val="tx1"/>
            </a:solidFill>
            <a:prstDash val="dashDot"/>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en-GB" sz="2000" dirty="0">
                <a:solidFill>
                  <a:schemeClr val="tx1"/>
                </a:solidFill>
                <a:latin typeface="Comic Sans MS" panose="030F0702030302020204" pitchFamily="66" charset="0"/>
              </a:rPr>
              <a:t>Why a regular neural network is a bad idea? </a:t>
            </a:r>
          </a:p>
          <a:p>
            <a:pPr algn="ctr"/>
            <a:r>
              <a:rPr lang="pl-PL" sz="2000" dirty="0">
                <a:solidFill>
                  <a:schemeClr val="tx1"/>
                </a:solidFill>
                <a:latin typeface="Comic Sans MS" panose="030F0702030302020204" pitchFamily="66" charset="0"/>
              </a:rPr>
              <a:t>1. </a:t>
            </a:r>
            <a:r>
              <a:rPr lang="en-GB" sz="2000" dirty="0">
                <a:solidFill>
                  <a:schemeClr val="tx1"/>
                </a:solidFill>
                <a:latin typeface="Comic Sans MS" panose="030F0702030302020204" pitchFamily="66" charset="0"/>
              </a:rPr>
              <a:t>It doesn't scale well.</a:t>
            </a:r>
          </a:p>
          <a:p>
            <a:pPr marL="457200" indent="-457200" algn="ctr">
              <a:buAutoNum type="arabicPeriod"/>
            </a:pPr>
            <a:endParaRPr lang="pl-PL" sz="2000" dirty="0">
              <a:solidFill>
                <a:schemeClr val="tx1"/>
              </a:solidFill>
              <a:latin typeface="Comic Sans MS" panose="030F0702030302020204" pitchFamily="66" charset="0"/>
            </a:endParaRPr>
          </a:p>
          <a:p>
            <a:pPr marL="457200" indent="-457200" algn="ctr">
              <a:buAutoNum type="arabicPeriod"/>
            </a:pPr>
            <a:endParaRPr lang="pl-PL" sz="2000" dirty="0">
              <a:solidFill>
                <a:schemeClr val="tx1"/>
              </a:solidFill>
              <a:latin typeface="Comic Sans MS" panose="030F0702030302020204" pitchFamily="66" charset="0"/>
            </a:endParaRPr>
          </a:p>
          <a:p>
            <a:pPr marL="457200" indent="-457200" algn="ctr">
              <a:buAutoNum type="arabicPeriod"/>
            </a:pPr>
            <a:endParaRPr lang="pl-PL" sz="2000" dirty="0">
              <a:solidFill>
                <a:schemeClr val="tx1"/>
              </a:solidFill>
              <a:latin typeface="Comic Sans MS" panose="030F0702030302020204" pitchFamily="66" charset="0"/>
            </a:endParaRPr>
          </a:p>
        </p:txBody>
      </p:sp>
      <p:sp>
        <p:nvSpPr>
          <p:cNvPr id="29" name="Dymek mowy: prostokąt 28">
            <a:extLst>
              <a:ext uri="{FF2B5EF4-FFF2-40B4-BE49-F238E27FC236}">
                <a16:creationId xmlns:a16="http://schemas.microsoft.com/office/drawing/2014/main" id="{5FDD32AD-D193-466B-F3DA-A77C01DBC82A}"/>
              </a:ext>
            </a:extLst>
          </p:cNvPr>
          <p:cNvSpPr/>
          <p:nvPr/>
        </p:nvSpPr>
        <p:spPr>
          <a:xfrm>
            <a:off x="4204153" y="680952"/>
            <a:ext cx="2221125" cy="684825"/>
          </a:xfrm>
          <a:prstGeom prst="wedgeRectCallout">
            <a:avLst>
              <a:gd name="adj1" fmla="val -33895"/>
              <a:gd name="adj2" fmla="val 47286"/>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6px * 6px = 36</a:t>
            </a:r>
            <a:br>
              <a:rPr lang="pl-PL" sz="2000" dirty="0">
                <a:solidFill>
                  <a:schemeClr val="tx1"/>
                </a:solidFill>
                <a:latin typeface="Comic Sans MS" panose="030F0702030302020204" pitchFamily="66" charset="0"/>
              </a:rPr>
            </a:br>
            <a:r>
              <a:rPr lang="pl-PL" sz="2000" dirty="0" err="1">
                <a:solidFill>
                  <a:schemeClr val="tx1"/>
                </a:solidFill>
                <a:latin typeface="Comic Sans MS" panose="030F0702030302020204" pitchFamily="66" charset="0"/>
              </a:rPr>
              <a:t>input</a:t>
            </a:r>
            <a:r>
              <a:rPr lang="pl-PL" sz="2000" dirty="0">
                <a:solidFill>
                  <a:schemeClr val="tx1"/>
                </a:solidFill>
                <a:latin typeface="Comic Sans MS" panose="030F0702030302020204" pitchFamily="66" charset="0"/>
              </a:rPr>
              <a:t> </a:t>
            </a:r>
            <a:r>
              <a:rPr lang="pl-PL" sz="2000" dirty="0" err="1">
                <a:solidFill>
                  <a:schemeClr val="tx1"/>
                </a:solidFill>
                <a:latin typeface="Comic Sans MS" panose="030F0702030302020204" pitchFamily="66" charset="0"/>
              </a:rPr>
              <a:t>nodes</a:t>
            </a:r>
            <a:endParaRPr lang="pl-PL" sz="2000" dirty="0">
              <a:solidFill>
                <a:schemeClr val="tx1"/>
              </a:solidFill>
              <a:latin typeface="Comic Sans MS" panose="030F0702030302020204" pitchFamily="66" charset="0"/>
            </a:endParaRPr>
          </a:p>
        </p:txBody>
      </p:sp>
      <p:sp>
        <p:nvSpPr>
          <p:cNvPr id="31" name="Dymek mowy: prostokąt 30">
            <a:extLst>
              <a:ext uri="{FF2B5EF4-FFF2-40B4-BE49-F238E27FC236}">
                <a16:creationId xmlns:a16="http://schemas.microsoft.com/office/drawing/2014/main" id="{6D4DA726-A39F-BDFA-A7F2-F9556E11CC97}"/>
              </a:ext>
            </a:extLst>
          </p:cNvPr>
          <p:cNvSpPr/>
          <p:nvPr/>
        </p:nvSpPr>
        <p:spPr>
          <a:xfrm>
            <a:off x="4197509" y="1441268"/>
            <a:ext cx="2227774" cy="684825"/>
          </a:xfrm>
          <a:prstGeom prst="wedgeRectCallout">
            <a:avLst>
              <a:gd name="adj1" fmla="val -33895"/>
              <a:gd name="adj2" fmla="val 47286"/>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100px * 100px =</a:t>
            </a:r>
            <a:br>
              <a:rPr lang="pl-PL" sz="2000" dirty="0">
                <a:solidFill>
                  <a:schemeClr val="tx1"/>
                </a:solidFill>
                <a:latin typeface="Comic Sans MS" panose="030F0702030302020204" pitchFamily="66" charset="0"/>
              </a:rPr>
            </a:br>
            <a:r>
              <a:rPr lang="pl-PL" sz="2000" dirty="0">
                <a:solidFill>
                  <a:schemeClr val="tx1"/>
                </a:solidFill>
                <a:latin typeface="Comic Sans MS" panose="030F0702030302020204" pitchFamily="66" charset="0"/>
              </a:rPr>
              <a:t>10 000!</a:t>
            </a:r>
          </a:p>
        </p:txBody>
      </p:sp>
      <p:cxnSp>
        <p:nvCxnSpPr>
          <p:cNvPr id="2052" name="Łącznik: łamany 2051">
            <a:extLst>
              <a:ext uri="{FF2B5EF4-FFF2-40B4-BE49-F238E27FC236}">
                <a16:creationId xmlns:a16="http://schemas.microsoft.com/office/drawing/2014/main" id="{1425439F-D002-E3CB-7EB5-0782F6210910}"/>
              </a:ext>
            </a:extLst>
          </p:cNvPr>
          <p:cNvCxnSpPr>
            <a:cxnSpLocks/>
          </p:cNvCxnSpPr>
          <p:nvPr/>
        </p:nvCxnSpPr>
        <p:spPr>
          <a:xfrm flipV="1">
            <a:off x="6425278" y="1320391"/>
            <a:ext cx="1245021" cy="566775"/>
          </a:xfrm>
          <a:prstGeom prst="bentConnector3">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4" name="Tytuł 4">
            <a:extLst>
              <a:ext uri="{FF2B5EF4-FFF2-40B4-BE49-F238E27FC236}">
                <a16:creationId xmlns:a16="http://schemas.microsoft.com/office/drawing/2014/main" id="{740E6075-173B-A750-303E-22A16B22D29A}"/>
              </a:ext>
            </a:extLst>
          </p:cNvPr>
          <p:cNvSpPr>
            <a:spLocks noGrp="1"/>
          </p:cNvSpPr>
          <p:nvPr>
            <p:ph type="title"/>
          </p:nvPr>
        </p:nvSpPr>
        <p:spPr>
          <a:xfrm>
            <a:off x="0" y="0"/>
            <a:ext cx="7470843" cy="696286"/>
          </a:xfrm>
        </p:spPr>
        <p:txBody>
          <a:bodyPr>
            <a:noAutofit/>
          </a:bodyPr>
          <a:lstStyle/>
          <a:p>
            <a:pPr algn="ctr"/>
            <a:r>
              <a:rPr lang="en-GB" sz="3200" dirty="0"/>
              <a:t>Image recognition - a regular neural network</a:t>
            </a:r>
          </a:p>
        </p:txBody>
      </p:sp>
    </p:spTree>
    <p:extLst>
      <p:ext uri="{BB962C8B-B14F-4D97-AF65-F5344CB8AC3E}">
        <p14:creationId xmlns:p14="http://schemas.microsoft.com/office/powerpoint/2010/main" val="573342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3"/>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sp>
        <p:nvSpPr>
          <p:cNvPr id="20" name="Dymek mowy: prostokąt 19">
            <a:extLst>
              <a:ext uri="{FF2B5EF4-FFF2-40B4-BE49-F238E27FC236}">
                <a16:creationId xmlns:a16="http://schemas.microsoft.com/office/drawing/2014/main" id="{8A224F19-AE97-4490-A946-0E1C03642E12}"/>
              </a:ext>
            </a:extLst>
          </p:cNvPr>
          <p:cNvSpPr/>
          <p:nvPr/>
        </p:nvSpPr>
        <p:spPr>
          <a:xfrm>
            <a:off x="199486" y="589278"/>
            <a:ext cx="2602613"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dirty="0">
                <a:solidFill>
                  <a:schemeClr val="tx1"/>
                </a:solidFill>
                <a:latin typeface="Comic Sans MS" panose="030F0702030302020204" pitchFamily="66" charset="0"/>
              </a:rPr>
              <a:t>The </a:t>
            </a:r>
            <a:r>
              <a:rPr lang="pl-PL" dirty="0" err="1">
                <a:solidFill>
                  <a:schemeClr val="tx1"/>
                </a:solidFill>
                <a:latin typeface="Comic Sans MS" panose="030F0702030302020204" pitchFamily="66" charset="0"/>
              </a:rPr>
              <a:t>player</a:t>
            </a:r>
            <a:r>
              <a:rPr lang="pl-PL" dirty="0">
                <a:solidFill>
                  <a:schemeClr val="tx1"/>
                </a:solidFill>
                <a:latin typeface="Comic Sans MS" panose="030F0702030302020204" pitchFamily="66" charset="0"/>
              </a:rPr>
              <a:t> drew </a:t>
            </a:r>
            <a:r>
              <a:rPr lang="pl-PL" dirty="0" err="1">
                <a:solidFill>
                  <a:schemeClr val="tx1"/>
                </a:solidFill>
                <a:latin typeface="Comic Sans MS" panose="030F0702030302020204" pitchFamily="66" charset="0"/>
              </a:rPr>
              <a:t>this</a:t>
            </a:r>
            <a:r>
              <a:rPr lang="pl-PL" dirty="0">
                <a:solidFill>
                  <a:schemeClr val="tx1"/>
                </a:solidFill>
                <a:latin typeface="Comic Sans MS" panose="030F0702030302020204" pitchFamily="66" charset="0"/>
              </a:rPr>
              <a:t>:</a:t>
            </a:r>
          </a:p>
        </p:txBody>
      </p:sp>
      <p:pic>
        <p:nvPicPr>
          <p:cNvPr id="7" name="Obraz 6">
            <a:extLst>
              <a:ext uri="{FF2B5EF4-FFF2-40B4-BE49-F238E27FC236}">
                <a16:creationId xmlns:a16="http://schemas.microsoft.com/office/drawing/2014/main" id="{BC4B751D-A729-CC28-708D-7212CD1945B9}"/>
              </a:ext>
            </a:extLst>
          </p:cNvPr>
          <p:cNvPicPr>
            <a:picLocks noChangeAspect="1"/>
          </p:cNvPicPr>
          <p:nvPr/>
        </p:nvPicPr>
        <p:blipFill>
          <a:blip r:embed="rId4"/>
          <a:stretch>
            <a:fillRect/>
          </a:stretch>
        </p:blipFill>
        <p:spPr>
          <a:xfrm>
            <a:off x="199485" y="1224752"/>
            <a:ext cx="2602614" cy="2614626"/>
          </a:xfrm>
          <a:prstGeom prst="rect">
            <a:avLst/>
          </a:prstGeom>
        </p:spPr>
      </p:pic>
      <p:cxnSp>
        <p:nvCxnSpPr>
          <p:cNvPr id="10" name="Łącznik prosty ze strzałką 9">
            <a:extLst>
              <a:ext uri="{FF2B5EF4-FFF2-40B4-BE49-F238E27FC236}">
                <a16:creationId xmlns:a16="http://schemas.microsoft.com/office/drawing/2014/main" id="{7EA7F0CB-E250-392E-365E-FE4C98EA0810}"/>
              </a:ext>
            </a:extLst>
          </p:cNvPr>
          <p:cNvCxnSpPr>
            <a:cxnSpLocks/>
          </p:cNvCxnSpPr>
          <p:nvPr/>
        </p:nvCxnSpPr>
        <p:spPr>
          <a:xfrm>
            <a:off x="2918831" y="1224752"/>
            <a:ext cx="0" cy="2614626"/>
          </a:xfrm>
          <a:prstGeom prst="straightConnector1">
            <a:avLst/>
          </a:prstGeom>
          <a:ln w="38100">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1" name="Łącznik prosty ze strzałką 10">
            <a:extLst>
              <a:ext uri="{FF2B5EF4-FFF2-40B4-BE49-F238E27FC236}">
                <a16:creationId xmlns:a16="http://schemas.microsoft.com/office/drawing/2014/main" id="{85CF95F9-5498-CC16-1EF6-EB09AA2A1554}"/>
              </a:ext>
            </a:extLst>
          </p:cNvPr>
          <p:cNvCxnSpPr>
            <a:cxnSpLocks/>
          </p:cNvCxnSpPr>
          <p:nvPr/>
        </p:nvCxnSpPr>
        <p:spPr>
          <a:xfrm flipH="1">
            <a:off x="199485" y="3946382"/>
            <a:ext cx="2602614" cy="0"/>
          </a:xfrm>
          <a:prstGeom prst="straightConnector1">
            <a:avLst/>
          </a:prstGeom>
          <a:ln w="38100">
            <a:headEnd type="triangle"/>
            <a:tailEnd type="triangle"/>
          </a:ln>
        </p:spPr>
        <p:style>
          <a:lnRef idx="1">
            <a:schemeClr val="accent2"/>
          </a:lnRef>
          <a:fillRef idx="0">
            <a:schemeClr val="accent2"/>
          </a:fillRef>
          <a:effectRef idx="0">
            <a:schemeClr val="accent2"/>
          </a:effectRef>
          <a:fontRef idx="minor">
            <a:schemeClr val="tx1"/>
          </a:fontRef>
        </p:style>
      </p:cxnSp>
      <p:sp>
        <p:nvSpPr>
          <p:cNvPr id="22" name="Dymek mowy: prostokąt 21">
            <a:extLst>
              <a:ext uri="{FF2B5EF4-FFF2-40B4-BE49-F238E27FC236}">
                <a16:creationId xmlns:a16="http://schemas.microsoft.com/office/drawing/2014/main" id="{27237F17-7D18-4CCA-A704-0AC443263464}"/>
              </a:ext>
            </a:extLst>
          </p:cNvPr>
          <p:cNvSpPr/>
          <p:nvPr/>
        </p:nvSpPr>
        <p:spPr>
          <a:xfrm>
            <a:off x="2918831" y="722134"/>
            <a:ext cx="762000" cy="462892"/>
          </a:xfrm>
          <a:prstGeom prst="wedgeRectCallout">
            <a:avLst>
              <a:gd name="adj1" fmla="val -33895"/>
              <a:gd name="adj2" fmla="val 47286"/>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6 </a:t>
            </a:r>
            <a:r>
              <a:rPr lang="pl-PL" sz="2000" dirty="0" err="1">
                <a:solidFill>
                  <a:schemeClr val="tx1"/>
                </a:solidFill>
                <a:latin typeface="Comic Sans MS" panose="030F0702030302020204" pitchFamily="66" charset="0"/>
              </a:rPr>
              <a:t>px</a:t>
            </a:r>
            <a:endParaRPr lang="pl-PL" sz="2000" dirty="0">
              <a:solidFill>
                <a:schemeClr val="tx1"/>
              </a:solidFill>
              <a:latin typeface="Comic Sans MS" panose="030F0702030302020204" pitchFamily="66" charset="0"/>
            </a:endParaRPr>
          </a:p>
        </p:txBody>
      </p:sp>
      <p:sp>
        <p:nvSpPr>
          <p:cNvPr id="24" name="Dymek mowy: prostokąt 23">
            <a:extLst>
              <a:ext uri="{FF2B5EF4-FFF2-40B4-BE49-F238E27FC236}">
                <a16:creationId xmlns:a16="http://schemas.microsoft.com/office/drawing/2014/main" id="{B43F6D8F-13A4-A884-95A4-0E2B38E60613}"/>
              </a:ext>
            </a:extLst>
          </p:cNvPr>
          <p:cNvSpPr/>
          <p:nvPr/>
        </p:nvSpPr>
        <p:spPr>
          <a:xfrm>
            <a:off x="1119792" y="4053387"/>
            <a:ext cx="762000" cy="462892"/>
          </a:xfrm>
          <a:prstGeom prst="wedgeRectCallout">
            <a:avLst>
              <a:gd name="adj1" fmla="val -33895"/>
              <a:gd name="adj2" fmla="val 47286"/>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6 </a:t>
            </a:r>
            <a:r>
              <a:rPr lang="pl-PL" sz="2000" dirty="0" err="1">
                <a:solidFill>
                  <a:schemeClr val="tx1"/>
                </a:solidFill>
                <a:latin typeface="Comic Sans MS" panose="030F0702030302020204" pitchFamily="66" charset="0"/>
              </a:rPr>
              <a:t>px</a:t>
            </a:r>
            <a:endParaRPr lang="pl-PL" sz="2000" dirty="0">
              <a:solidFill>
                <a:schemeClr val="tx1"/>
              </a:solidFill>
              <a:latin typeface="Comic Sans MS" panose="030F0702030302020204" pitchFamily="66" charset="0"/>
            </a:endParaRPr>
          </a:p>
        </p:txBody>
      </p:sp>
      <p:pic>
        <p:nvPicPr>
          <p:cNvPr id="27" name="Obraz 26">
            <a:extLst>
              <a:ext uri="{FF2B5EF4-FFF2-40B4-BE49-F238E27FC236}">
                <a16:creationId xmlns:a16="http://schemas.microsoft.com/office/drawing/2014/main" id="{FA2BB761-3C8C-F7E4-EC02-014A798F3643}"/>
              </a:ext>
            </a:extLst>
          </p:cNvPr>
          <p:cNvPicPr>
            <a:picLocks noChangeAspect="1"/>
          </p:cNvPicPr>
          <p:nvPr/>
        </p:nvPicPr>
        <p:blipFill>
          <a:blip r:embed="rId5"/>
          <a:stretch>
            <a:fillRect/>
          </a:stretch>
        </p:blipFill>
        <p:spPr>
          <a:xfrm>
            <a:off x="3251027" y="1250046"/>
            <a:ext cx="4537944" cy="5270842"/>
          </a:xfrm>
          <a:prstGeom prst="rect">
            <a:avLst/>
          </a:prstGeom>
        </p:spPr>
      </p:pic>
      <p:sp>
        <p:nvSpPr>
          <p:cNvPr id="28" name="Dymek mowy: prostokąt 27">
            <a:extLst>
              <a:ext uri="{FF2B5EF4-FFF2-40B4-BE49-F238E27FC236}">
                <a16:creationId xmlns:a16="http://schemas.microsoft.com/office/drawing/2014/main" id="{1631D5EF-45ED-1DB1-76A9-4A1E72881FAA}"/>
              </a:ext>
            </a:extLst>
          </p:cNvPr>
          <p:cNvSpPr/>
          <p:nvPr/>
        </p:nvSpPr>
        <p:spPr>
          <a:xfrm>
            <a:off x="6880605" y="589279"/>
            <a:ext cx="4649821" cy="1815798"/>
          </a:xfrm>
          <a:prstGeom prst="wedgeRectCallout">
            <a:avLst>
              <a:gd name="adj1" fmla="val -33895"/>
              <a:gd name="adj2" fmla="val 47286"/>
            </a:avLst>
          </a:prstGeom>
          <a:ln w="34925">
            <a:solidFill>
              <a:schemeClr val="tx1"/>
            </a:solidFill>
            <a:prstDash val="dashDot"/>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en-GB" sz="2000" dirty="0">
                <a:solidFill>
                  <a:schemeClr val="tx1"/>
                </a:solidFill>
                <a:latin typeface="Comic Sans MS" panose="030F0702030302020204" pitchFamily="66" charset="0"/>
              </a:rPr>
              <a:t>Why a regular neural network is a bad idea? </a:t>
            </a:r>
          </a:p>
          <a:p>
            <a:pPr algn="ctr"/>
            <a:r>
              <a:rPr lang="en-GB" sz="2000" dirty="0">
                <a:solidFill>
                  <a:schemeClr val="tx1"/>
                </a:solidFill>
                <a:latin typeface="Comic Sans MS" panose="030F0702030302020204" pitchFamily="66" charset="0"/>
              </a:rPr>
              <a:t>1. It doesn't scale well.</a:t>
            </a:r>
          </a:p>
          <a:p>
            <a:pPr algn="ctr"/>
            <a:r>
              <a:rPr lang="en-GB" sz="2000" dirty="0">
                <a:solidFill>
                  <a:schemeClr val="tx1"/>
                </a:solidFill>
                <a:latin typeface="Comic Sans MS" panose="030F0702030302020204" pitchFamily="66" charset="0"/>
              </a:rPr>
              <a:t>2. It doesn't account for shifts.</a:t>
            </a:r>
          </a:p>
          <a:p>
            <a:pPr algn="ctr"/>
            <a:r>
              <a:rPr lang="en-GB" sz="2000" dirty="0">
                <a:solidFill>
                  <a:schemeClr val="bg1"/>
                </a:solidFill>
                <a:latin typeface="Comic Sans MS" panose="030F0702030302020204" pitchFamily="66" charset="0"/>
              </a:rPr>
              <a:t>3. It doesn't leverage correlations observed in the image.</a:t>
            </a:r>
            <a:endParaRPr lang="pl-PL" sz="2000" dirty="0">
              <a:solidFill>
                <a:schemeClr val="bg1"/>
              </a:solidFill>
              <a:latin typeface="Comic Sans MS" panose="030F0702030302020204" pitchFamily="66" charset="0"/>
            </a:endParaRPr>
          </a:p>
        </p:txBody>
      </p:sp>
      <p:sp>
        <p:nvSpPr>
          <p:cNvPr id="29" name="Dymek mowy: prostokąt 28">
            <a:extLst>
              <a:ext uri="{FF2B5EF4-FFF2-40B4-BE49-F238E27FC236}">
                <a16:creationId xmlns:a16="http://schemas.microsoft.com/office/drawing/2014/main" id="{5FDD32AD-D193-466B-F3DA-A77C01DBC82A}"/>
              </a:ext>
            </a:extLst>
          </p:cNvPr>
          <p:cNvSpPr/>
          <p:nvPr/>
        </p:nvSpPr>
        <p:spPr>
          <a:xfrm>
            <a:off x="4204153" y="680952"/>
            <a:ext cx="2221125" cy="684825"/>
          </a:xfrm>
          <a:prstGeom prst="wedgeRectCallout">
            <a:avLst>
              <a:gd name="adj1" fmla="val -33895"/>
              <a:gd name="adj2" fmla="val 47286"/>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6px * 6px = 36</a:t>
            </a:r>
            <a:br>
              <a:rPr lang="pl-PL" sz="2000" dirty="0">
                <a:solidFill>
                  <a:schemeClr val="tx1"/>
                </a:solidFill>
                <a:latin typeface="Comic Sans MS" panose="030F0702030302020204" pitchFamily="66" charset="0"/>
              </a:rPr>
            </a:br>
            <a:r>
              <a:rPr lang="pl-PL" sz="2000" dirty="0" err="1">
                <a:solidFill>
                  <a:schemeClr val="tx1"/>
                </a:solidFill>
                <a:latin typeface="Comic Sans MS" panose="030F0702030302020204" pitchFamily="66" charset="0"/>
              </a:rPr>
              <a:t>input</a:t>
            </a:r>
            <a:r>
              <a:rPr lang="pl-PL" sz="2000" dirty="0">
                <a:solidFill>
                  <a:schemeClr val="tx1"/>
                </a:solidFill>
                <a:latin typeface="Comic Sans MS" panose="030F0702030302020204" pitchFamily="66" charset="0"/>
              </a:rPr>
              <a:t> </a:t>
            </a:r>
            <a:r>
              <a:rPr lang="pl-PL" sz="2000" dirty="0" err="1">
                <a:solidFill>
                  <a:schemeClr val="tx1"/>
                </a:solidFill>
                <a:latin typeface="Comic Sans MS" panose="030F0702030302020204" pitchFamily="66" charset="0"/>
              </a:rPr>
              <a:t>nodes</a:t>
            </a:r>
            <a:endParaRPr lang="pl-PL" sz="2000" dirty="0">
              <a:solidFill>
                <a:schemeClr val="tx1"/>
              </a:solidFill>
              <a:latin typeface="Comic Sans MS" panose="030F0702030302020204" pitchFamily="66" charset="0"/>
            </a:endParaRPr>
          </a:p>
        </p:txBody>
      </p:sp>
      <p:sp>
        <p:nvSpPr>
          <p:cNvPr id="31" name="Dymek mowy: prostokąt 30">
            <a:extLst>
              <a:ext uri="{FF2B5EF4-FFF2-40B4-BE49-F238E27FC236}">
                <a16:creationId xmlns:a16="http://schemas.microsoft.com/office/drawing/2014/main" id="{6D4DA726-A39F-BDFA-A7F2-F9556E11CC97}"/>
              </a:ext>
            </a:extLst>
          </p:cNvPr>
          <p:cNvSpPr/>
          <p:nvPr/>
        </p:nvSpPr>
        <p:spPr>
          <a:xfrm>
            <a:off x="4197509" y="1441268"/>
            <a:ext cx="2227774" cy="684825"/>
          </a:xfrm>
          <a:prstGeom prst="wedgeRectCallout">
            <a:avLst>
              <a:gd name="adj1" fmla="val -33895"/>
              <a:gd name="adj2" fmla="val 47286"/>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100px * 100px =</a:t>
            </a:r>
            <a:br>
              <a:rPr lang="pl-PL" sz="2000" dirty="0">
                <a:solidFill>
                  <a:schemeClr val="tx1"/>
                </a:solidFill>
                <a:latin typeface="Comic Sans MS" panose="030F0702030302020204" pitchFamily="66" charset="0"/>
              </a:rPr>
            </a:br>
            <a:r>
              <a:rPr lang="pl-PL" sz="2000" dirty="0">
                <a:solidFill>
                  <a:schemeClr val="tx1"/>
                </a:solidFill>
                <a:latin typeface="Comic Sans MS" panose="030F0702030302020204" pitchFamily="66" charset="0"/>
              </a:rPr>
              <a:t>10 000!</a:t>
            </a:r>
          </a:p>
        </p:txBody>
      </p:sp>
      <p:cxnSp>
        <p:nvCxnSpPr>
          <p:cNvPr id="2052" name="Łącznik: łamany 2051">
            <a:extLst>
              <a:ext uri="{FF2B5EF4-FFF2-40B4-BE49-F238E27FC236}">
                <a16:creationId xmlns:a16="http://schemas.microsoft.com/office/drawing/2014/main" id="{1425439F-D002-E3CB-7EB5-0782F6210910}"/>
              </a:ext>
            </a:extLst>
          </p:cNvPr>
          <p:cNvCxnSpPr>
            <a:cxnSpLocks/>
          </p:cNvCxnSpPr>
          <p:nvPr/>
        </p:nvCxnSpPr>
        <p:spPr>
          <a:xfrm flipV="1">
            <a:off x="6425278" y="1320391"/>
            <a:ext cx="1245021" cy="566775"/>
          </a:xfrm>
          <a:prstGeom prst="bentConnector3">
            <a:avLst/>
          </a:prstGeom>
          <a:ln>
            <a:headEnd type="triangle"/>
            <a:tailEnd type="triangle"/>
          </a:ln>
        </p:spPr>
        <p:style>
          <a:lnRef idx="1">
            <a:schemeClr val="accent6"/>
          </a:lnRef>
          <a:fillRef idx="0">
            <a:schemeClr val="accent6"/>
          </a:fillRef>
          <a:effectRef idx="0">
            <a:schemeClr val="accent6"/>
          </a:effectRef>
          <a:fontRef idx="minor">
            <a:schemeClr val="tx1"/>
          </a:fontRef>
        </p:style>
      </p:cxnSp>
      <p:pic>
        <p:nvPicPr>
          <p:cNvPr id="2054" name="Obraz 2053">
            <a:extLst>
              <a:ext uri="{FF2B5EF4-FFF2-40B4-BE49-F238E27FC236}">
                <a16:creationId xmlns:a16="http://schemas.microsoft.com/office/drawing/2014/main" id="{8756982F-00C9-A64D-6869-9CB73E853162}"/>
              </a:ext>
            </a:extLst>
          </p:cNvPr>
          <p:cNvPicPr>
            <a:picLocks noChangeAspect="1"/>
          </p:cNvPicPr>
          <p:nvPr/>
        </p:nvPicPr>
        <p:blipFill>
          <a:blip r:embed="rId6"/>
          <a:stretch>
            <a:fillRect/>
          </a:stretch>
        </p:blipFill>
        <p:spPr>
          <a:xfrm>
            <a:off x="9497345" y="2612677"/>
            <a:ext cx="2381250" cy="2409825"/>
          </a:xfrm>
          <a:prstGeom prst="rect">
            <a:avLst/>
          </a:prstGeom>
        </p:spPr>
      </p:pic>
      <p:sp>
        <p:nvSpPr>
          <p:cNvPr id="2058" name="Łuk 2057">
            <a:extLst>
              <a:ext uri="{FF2B5EF4-FFF2-40B4-BE49-F238E27FC236}">
                <a16:creationId xmlns:a16="http://schemas.microsoft.com/office/drawing/2014/main" id="{7EB6C196-F14E-1D0B-D6BB-12968A695637}"/>
              </a:ext>
            </a:extLst>
          </p:cNvPr>
          <p:cNvSpPr/>
          <p:nvPr/>
        </p:nvSpPr>
        <p:spPr>
          <a:xfrm>
            <a:off x="10642060" y="1610686"/>
            <a:ext cx="1106745" cy="1065402"/>
          </a:xfrm>
          <a:prstGeom prst="arc">
            <a:avLst>
              <a:gd name="adj1" fmla="val 15552192"/>
              <a:gd name="adj2" fmla="val 3367565"/>
            </a:avLst>
          </a:prstGeom>
          <a:ln>
            <a:headEnd type="triangle"/>
            <a:tailEnd type="triangle"/>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GB"/>
          </a:p>
        </p:txBody>
      </p:sp>
      <p:sp>
        <p:nvSpPr>
          <p:cNvPr id="2059" name="Dymek mowy: prostokąt 2058">
            <a:extLst>
              <a:ext uri="{FF2B5EF4-FFF2-40B4-BE49-F238E27FC236}">
                <a16:creationId xmlns:a16="http://schemas.microsoft.com/office/drawing/2014/main" id="{496E7D01-D571-A181-60FE-50F1E7099816}"/>
              </a:ext>
            </a:extLst>
          </p:cNvPr>
          <p:cNvSpPr/>
          <p:nvPr/>
        </p:nvSpPr>
        <p:spPr>
          <a:xfrm>
            <a:off x="9607639" y="5060504"/>
            <a:ext cx="2160662" cy="1029903"/>
          </a:xfrm>
          <a:prstGeom prst="wedgeRectCallout">
            <a:avLst>
              <a:gd name="adj1" fmla="val -33895"/>
              <a:gd name="adj2" fmla="val 47286"/>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GB" sz="2000" dirty="0">
                <a:solidFill>
                  <a:schemeClr val="tx1"/>
                </a:solidFill>
                <a:latin typeface="Comic Sans MS" panose="030F0702030302020204" pitchFamily="66" charset="0"/>
              </a:rPr>
              <a:t>A shift of 1 pixel to the right.</a:t>
            </a:r>
            <a:endParaRPr lang="pl-PL" sz="2000" dirty="0">
              <a:solidFill>
                <a:schemeClr val="tx1"/>
              </a:solidFill>
              <a:latin typeface="Comic Sans MS" panose="030F0702030302020204" pitchFamily="66" charset="0"/>
            </a:endParaRPr>
          </a:p>
        </p:txBody>
      </p:sp>
      <p:sp>
        <p:nvSpPr>
          <p:cNvPr id="4" name="Tytuł 4">
            <a:extLst>
              <a:ext uri="{FF2B5EF4-FFF2-40B4-BE49-F238E27FC236}">
                <a16:creationId xmlns:a16="http://schemas.microsoft.com/office/drawing/2014/main" id="{740E6075-173B-A750-303E-22A16B22D29A}"/>
              </a:ext>
            </a:extLst>
          </p:cNvPr>
          <p:cNvSpPr>
            <a:spLocks noGrp="1"/>
          </p:cNvSpPr>
          <p:nvPr>
            <p:ph type="title"/>
          </p:nvPr>
        </p:nvSpPr>
        <p:spPr>
          <a:xfrm>
            <a:off x="0" y="0"/>
            <a:ext cx="7470843" cy="696286"/>
          </a:xfrm>
        </p:spPr>
        <p:txBody>
          <a:bodyPr>
            <a:noAutofit/>
          </a:bodyPr>
          <a:lstStyle/>
          <a:p>
            <a:pPr algn="ctr"/>
            <a:r>
              <a:rPr lang="en-GB" sz="3200" dirty="0"/>
              <a:t>Image recognition - a regular neural network</a:t>
            </a:r>
          </a:p>
        </p:txBody>
      </p:sp>
    </p:spTree>
    <p:extLst>
      <p:ext uri="{BB962C8B-B14F-4D97-AF65-F5344CB8AC3E}">
        <p14:creationId xmlns:p14="http://schemas.microsoft.com/office/powerpoint/2010/main" val="3136354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3"/>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sp>
        <p:nvSpPr>
          <p:cNvPr id="20" name="Dymek mowy: prostokąt 19">
            <a:extLst>
              <a:ext uri="{FF2B5EF4-FFF2-40B4-BE49-F238E27FC236}">
                <a16:creationId xmlns:a16="http://schemas.microsoft.com/office/drawing/2014/main" id="{8A224F19-AE97-4490-A946-0E1C03642E12}"/>
              </a:ext>
            </a:extLst>
          </p:cNvPr>
          <p:cNvSpPr/>
          <p:nvPr/>
        </p:nvSpPr>
        <p:spPr>
          <a:xfrm>
            <a:off x="199486" y="589278"/>
            <a:ext cx="2602613"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dirty="0">
                <a:solidFill>
                  <a:schemeClr val="tx1"/>
                </a:solidFill>
                <a:latin typeface="Comic Sans MS" panose="030F0702030302020204" pitchFamily="66" charset="0"/>
              </a:rPr>
              <a:t>The </a:t>
            </a:r>
            <a:r>
              <a:rPr lang="pl-PL" dirty="0" err="1">
                <a:solidFill>
                  <a:schemeClr val="tx1"/>
                </a:solidFill>
                <a:latin typeface="Comic Sans MS" panose="030F0702030302020204" pitchFamily="66" charset="0"/>
              </a:rPr>
              <a:t>player</a:t>
            </a:r>
            <a:r>
              <a:rPr lang="pl-PL" dirty="0">
                <a:solidFill>
                  <a:schemeClr val="tx1"/>
                </a:solidFill>
                <a:latin typeface="Comic Sans MS" panose="030F0702030302020204" pitchFamily="66" charset="0"/>
              </a:rPr>
              <a:t> drew </a:t>
            </a:r>
            <a:r>
              <a:rPr lang="pl-PL" dirty="0" err="1">
                <a:solidFill>
                  <a:schemeClr val="tx1"/>
                </a:solidFill>
                <a:latin typeface="Comic Sans MS" panose="030F0702030302020204" pitchFamily="66" charset="0"/>
              </a:rPr>
              <a:t>this</a:t>
            </a:r>
            <a:r>
              <a:rPr lang="pl-PL" dirty="0">
                <a:solidFill>
                  <a:schemeClr val="tx1"/>
                </a:solidFill>
                <a:latin typeface="Comic Sans MS" panose="030F0702030302020204" pitchFamily="66" charset="0"/>
              </a:rPr>
              <a:t>:</a:t>
            </a:r>
          </a:p>
        </p:txBody>
      </p:sp>
      <p:pic>
        <p:nvPicPr>
          <p:cNvPr id="7" name="Obraz 6">
            <a:extLst>
              <a:ext uri="{FF2B5EF4-FFF2-40B4-BE49-F238E27FC236}">
                <a16:creationId xmlns:a16="http://schemas.microsoft.com/office/drawing/2014/main" id="{BC4B751D-A729-CC28-708D-7212CD1945B9}"/>
              </a:ext>
            </a:extLst>
          </p:cNvPr>
          <p:cNvPicPr>
            <a:picLocks noChangeAspect="1"/>
          </p:cNvPicPr>
          <p:nvPr/>
        </p:nvPicPr>
        <p:blipFill>
          <a:blip r:embed="rId4"/>
          <a:stretch>
            <a:fillRect/>
          </a:stretch>
        </p:blipFill>
        <p:spPr>
          <a:xfrm>
            <a:off x="199485" y="1224752"/>
            <a:ext cx="2602614" cy="2614626"/>
          </a:xfrm>
          <a:prstGeom prst="rect">
            <a:avLst/>
          </a:prstGeom>
        </p:spPr>
      </p:pic>
      <p:cxnSp>
        <p:nvCxnSpPr>
          <p:cNvPr id="10" name="Łącznik prosty ze strzałką 9">
            <a:extLst>
              <a:ext uri="{FF2B5EF4-FFF2-40B4-BE49-F238E27FC236}">
                <a16:creationId xmlns:a16="http://schemas.microsoft.com/office/drawing/2014/main" id="{7EA7F0CB-E250-392E-365E-FE4C98EA0810}"/>
              </a:ext>
            </a:extLst>
          </p:cNvPr>
          <p:cNvCxnSpPr>
            <a:cxnSpLocks/>
          </p:cNvCxnSpPr>
          <p:nvPr/>
        </p:nvCxnSpPr>
        <p:spPr>
          <a:xfrm>
            <a:off x="2918831" y="1224752"/>
            <a:ext cx="0" cy="2614626"/>
          </a:xfrm>
          <a:prstGeom prst="straightConnector1">
            <a:avLst/>
          </a:prstGeom>
          <a:ln w="38100">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1" name="Łącznik prosty ze strzałką 10">
            <a:extLst>
              <a:ext uri="{FF2B5EF4-FFF2-40B4-BE49-F238E27FC236}">
                <a16:creationId xmlns:a16="http://schemas.microsoft.com/office/drawing/2014/main" id="{85CF95F9-5498-CC16-1EF6-EB09AA2A1554}"/>
              </a:ext>
            </a:extLst>
          </p:cNvPr>
          <p:cNvCxnSpPr>
            <a:cxnSpLocks/>
          </p:cNvCxnSpPr>
          <p:nvPr/>
        </p:nvCxnSpPr>
        <p:spPr>
          <a:xfrm flipH="1">
            <a:off x="199485" y="3946382"/>
            <a:ext cx="2602614" cy="0"/>
          </a:xfrm>
          <a:prstGeom prst="straightConnector1">
            <a:avLst/>
          </a:prstGeom>
          <a:ln w="38100">
            <a:headEnd type="triangle"/>
            <a:tailEnd type="triangle"/>
          </a:ln>
        </p:spPr>
        <p:style>
          <a:lnRef idx="1">
            <a:schemeClr val="accent2"/>
          </a:lnRef>
          <a:fillRef idx="0">
            <a:schemeClr val="accent2"/>
          </a:fillRef>
          <a:effectRef idx="0">
            <a:schemeClr val="accent2"/>
          </a:effectRef>
          <a:fontRef idx="minor">
            <a:schemeClr val="tx1"/>
          </a:fontRef>
        </p:style>
      </p:cxnSp>
      <p:sp>
        <p:nvSpPr>
          <p:cNvPr id="22" name="Dymek mowy: prostokąt 21">
            <a:extLst>
              <a:ext uri="{FF2B5EF4-FFF2-40B4-BE49-F238E27FC236}">
                <a16:creationId xmlns:a16="http://schemas.microsoft.com/office/drawing/2014/main" id="{27237F17-7D18-4CCA-A704-0AC443263464}"/>
              </a:ext>
            </a:extLst>
          </p:cNvPr>
          <p:cNvSpPr/>
          <p:nvPr/>
        </p:nvSpPr>
        <p:spPr>
          <a:xfrm>
            <a:off x="2918831" y="722134"/>
            <a:ext cx="762000" cy="462892"/>
          </a:xfrm>
          <a:prstGeom prst="wedgeRectCallout">
            <a:avLst>
              <a:gd name="adj1" fmla="val -33895"/>
              <a:gd name="adj2" fmla="val 47286"/>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6 </a:t>
            </a:r>
            <a:r>
              <a:rPr lang="pl-PL" sz="2000" dirty="0" err="1">
                <a:solidFill>
                  <a:schemeClr val="tx1"/>
                </a:solidFill>
                <a:latin typeface="Comic Sans MS" panose="030F0702030302020204" pitchFamily="66" charset="0"/>
              </a:rPr>
              <a:t>px</a:t>
            </a:r>
            <a:endParaRPr lang="pl-PL" sz="2000" dirty="0">
              <a:solidFill>
                <a:schemeClr val="tx1"/>
              </a:solidFill>
              <a:latin typeface="Comic Sans MS" panose="030F0702030302020204" pitchFamily="66" charset="0"/>
            </a:endParaRPr>
          </a:p>
        </p:txBody>
      </p:sp>
      <p:sp>
        <p:nvSpPr>
          <p:cNvPr id="24" name="Dymek mowy: prostokąt 23">
            <a:extLst>
              <a:ext uri="{FF2B5EF4-FFF2-40B4-BE49-F238E27FC236}">
                <a16:creationId xmlns:a16="http://schemas.microsoft.com/office/drawing/2014/main" id="{B43F6D8F-13A4-A884-95A4-0E2B38E60613}"/>
              </a:ext>
            </a:extLst>
          </p:cNvPr>
          <p:cNvSpPr/>
          <p:nvPr/>
        </p:nvSpPr>
        <p:spPr>
          <a:xfrm>
            <a:off x="1119792" y="4053387"/>
            <a:ext cx="762000" cy="462892"/>
          </a:xfrm>
          <a:prstGeom prst="wedgeRectCallout">
            <a:avLst>
              <a:gd name="adj1" fmla="val -33895"/>
              <a:gd name="adj2" fmla="val 47286"/>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6 </a:t>
            </a:r>
            <a:r>
              <a:rPr lang="pl-PL" sz="2000" dirty="0" err="1">
                <a:solidFill>
                  <a:schemeClr val="tx1"/>
                </a:solidFill>
                <a:latin typeface="Comic Sans MS" panose="030F0702030302020204" pitchFamily="66" charset="0"/>
              </a:rPr>
              <a:t>px</a:t>
            </a:r>
            <a:endParaRPr lang="pl-PL" sz="2000" dirty="0">
              <a:solidFill>
                <a:schemeClr val="tx1"/>
              </a:solidFill>
              <a:latin typeface="Comic Sans MS" panose="030F0702030302020204" pitchFamily="66" charset="0"/>
            </a:endParaRPr>
          </a:p>
        </p:txBody>
      </p:sp>
      <p:pic>
        <p:nvPicPr>
          <p:cNvPr id="27" name="Obraz 26">
            <a:extLst>
              <a:ext uri="{FF2B5EF4-FFF2-40B4-BE49-F238E27FC236}">
                <a16:creationId xmlns:a16="http://schemas.microsoft.com/office/drawing/2014/main" id="{FA2BB761-3C8C-F7E4-EC02-014A798F3643}"/>
              </a:ext>
            </a:extLst>
          </p:cNvPr>
          <p:cNvPicPr>
            <a:picLocks noChangeAspect="1"/>
          </p:cNvPicPr>
          <p:nvPr/>
        </p:nvPicPr>
        <p:blipFill>
          <a:blip r:embed="rId5"/>
          <a:stretch>
            <a:fillRect/>
          </a:stretch>
        </p:blipFill>
        <p:spPr>
          <a:xfrm>
            <a:off x="3251027" y="1250046"/>
            <a:ext cx="4537944" cy="5270842"/>
          </a:xfrm>
          <a:prstGeom prst="rect">
            <a:avLst/>
          </a:prstGeom>
        </p:spPr>
      </p:pic>
      <p:sp>
        <p:nvSpPr>
          <p:cNvPr id="28" name="Dymek mowy: prostokąt 27">
            <a:extLst>
              <a:ext uri="{FF2B5EF4-FFF2-40B4-BE49-F238E27FC236}">
                <a16:creationId xmlns:a16="http://schemas.microsoft.com/office/drawing/2014/main" id="{1631D5EF-45ED-1DB1-76A9-4A1E72881FAA}"/>
              </a:ext>
            </a:extLst>
          </p:cNvPr>
          <p:cNvSpPr/>
          <p:nvPr/>
        </p:nvSpPr>
        <p:spPr>
          <a:xfrm>
            <a:off x="6880605" y="589279"/>
            <a:ext cx="4649821" cy="1815798"/>
          </a:xfrm>
          <a:prstGeom prst="wedgeRectCallout">
            <a:avLst>
              <a:gd name="adj1" fmla="val -33895"/>
              <a:gd name="adj2" fmla="val 47286"/>
            </a:avLst>
          </a:prstGeom>
          <a:ln w="34925">
            <a:solidFill>
              <a:schemeClr val="tx1"/>
            </a:solidFill>
            <a:prstDash val="dashDot"/>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en-GB" sz="2000" dirty="0">
                <a:solidFill>
                  <a:schemeClr val="tx1"/>
                </a:solidFill>
                <a:latin typeface="Comic Sans MS" panose="030F0702030302020204" pitchFamily="66" charset="0"/>
              </a:rPr>
              <a:t>Why a regular neural network is a bad idea? </a:t>
            </a:r>
          </a:p>
          <a:p>
            <a:pPr algn="ctr"/>
            <a:r>
              <a:rPr lang="en-GB" sz="2000" dirty="0">
                <a:solidFill>
                  <a:schemeClr val="tx1"/>
                </a:solidFill>
                <a:latin typeface="Comic Sans MS" panose="030F0702030302020204" pitchFamily="66" charset="0"/>
              </a:rPr>
              <a:t>1. It doesn't scale well.</a:t>
            </a:r>
          </a:p>
          <a:p>
            <a:pPr algn="ctr"/>
            <a:r>
              <a:rPr lang="en-GB" sz="2000" dirty="0">
                <a:solidFill>
                  <a:schemeClr val="tx1"/>
                </a:solidFill>
                <a:latin typeface="Comic Sans MS" panose="030F0702030302020204" pitchFamily="66" charset="0"/>
              </a:rPr>
              <a:t>2. It doesn't account for shifts.</a:t>
            </a:r>
          </a:p>
          <a:p>
            <a:pPr algn="ctr"/>
            <a:r>
              <a:rPr lang="en-GB" sz="2000" dirty="0">
                <a:solidFill>
                  <a:schemeClr val="tx1"/>
                </a:solidFill>
                <a:latin typeface="Comic Sans MS" panose="030F0702030302020204" pitchFamily="66" charset="0"/>
              </a:rPr>
              <a:t>3. It doesn't leverage correlations observed in the image.</a:t>
            </a:r>
            <a:endParaRPr lang="pl-PL" sz="2000" dirty="0">
              <a:solidFill>
                <a:schemeClr val="tx1"/>
              </a:solidFill>
              <a:latin typeface="Comic Sans MS" panose="030F0702030302020204" pitchFamily="66" charset="0"/>
            </a:endParaRPr>
          </a:p>
        </p:txBody>
      </p:sp>
      <p:sp>
        <p:nvSpPr>
          <p:cNvPr id="29" name="Dymek mowy: prostokąt 28">
            <a:extLst>
              <a:ext uri="{FF2B5EF4-FFF2-40B4-BE49-F238E27FC236}">
                <a16:creationId xmlns:a16="http://schemas.microsoft.com/office/drawing/2014/main" id="{5FDD32AD-D193-466B-F3DA-A77C01DBC82A}"/>
              </a:ext>
            </a:extLst>
          </p:cNvPr>
          <p:cNvSpPr/>
          <p:nvPr/>
        </p:nvSpPr>
        <p:spPr>
          <a:xfrm>
            <a:off x="4204153" y="680952"/>
            <a:ext cx="2221125" cy="684825"/>
          </a:xfrm>
          <a:prstGeom prst="wedgeRectCallout">
            <a:avLst>
              <a:gd name="adj1" fmla="val -33895"/>
              <a:gd name="adj2" fmla="val 47286"/>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6px * 6px = 36</a:t>
            </a:r>
            <a:br>
              <a:rPr lang="pl-PL" sz="2000" dirty="0">
                <a:solidFill>
                  <a:schemeClr val="tx1"/>
                </a:solidFill>
                <a:latin typeface="Comic Sans MS" panose="030F0702030302020204" pitchFamily="66" charset="0"/>
              </a:rPr>
            </a:br>
            <a:r>
              <a:rPr lang="pl-PL" sz="2000" dirty="0" err="1">
                <a:solidFill>
                  <a:schemeClr val="tx1"/>
                </a:solidFill>
                <a:latin typeface="Comic Sans MS" panose="030F0702030302020204" pitchFamily="66" charset="0"/>
              </a:rPr>
              <a:t>input</a:t>
            </a:r>
            <a:r>
              <a:rPr lang="pl-PL" sz="2000" dirty="0">
                <a:solidFill>
                  <a:schemeClr val="tx1"/>
                </a:solidFill>
                <a:latin typeface="Comic Sans MS" panose="030F0702030302020204" pitchFamily="66" charset="0"/>
              </a:rPr>
              <a:t> </a:t>
            </a:r>
            <a:r>
              <a:rPr lang="pl-PL" sz="2000" dirty="0" err="1">
                <a:solidFill>
                  <a:schemeClr val="tx1"/>
                </a:solidFill>
                <a:latin typeface="Comic Sans MS" panose="030F0702030302020204" pitchFamily="66" charset="0"/>
              </a:rPr>
              <a:t>nodes</a:t>
            </a:r>
            <a:endParaRPr lang="pl-PL" sz="2000" dirty="0">
              <a:solidFill>
                <a:schemeClr val="tx1"/>
              </a:solidFill>
              <a:latin typeface="Comic Sans MS" panose="030F0702030302020204" pitchFamily="66" charset="0"/>
            </a:endParaRPr>
          </a:p>
        </p:txBody>
      </p:sp>
      <p:sp>
        <p:nvSpPr>
          <p:cNvPr id="31" name="Dymek mowy: prostokąt 30">
            <a:extLst>
              <a:ext uri="{FF2B5EF4-FFF2-40B4-BE49-F238E27FC236}">
                <a16:creationId xmlns:a16="http://schemas.microsoft.com/office/drawing/2014/main" id="{6D4DA726-A39F-BDFA-A7F2-F9556E11CC97}"/>
              </a:ext>
            </a:extLst>
          </p:cNvPr>
          <p:cNvSpPr/>
          <p:nvPr/>
        </p:nvSpPr>
        <p:spPr>
          <a:xfrm>
            <a:off x="4197509" y="1441268"/>
            <a:ext cx="2227774" cy="684825"/>
          </a:xfrm>
          <a:prstGeom prst="wedgeRectCallout">
            <a:avLst>
              <a:gd name="adj1" fmla="val -33895"/>
              <a:gd name="adj2" fmla="val 47286"/>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100px * 100px =</a:t>
            </a:r>
            <a:br>
              <a:rPr lang="pl-PL" sz="2000" dirty="0">
                <a:solidFill>
                  <a:schemeClr val="tx1"/>
                </a:solidFill>
                <a:latin typeface="Comic Sans MS" panose="030F0702030302020204" pitchFamily="66" charset="0"/>
              </a:rPr>
            </a:br>
            <a:r>
              <a:rPr lang="pl-PL" sz="2000" dirty="0">
                <a:solidFill>
                  <a:schemeClr val="tx1"/>
                </a:solidFill>
                <a:latin typeface="Comic Sans MS" panose="030F0702030302020204" pitchFamily="66" charset="0"/>
              </a:rPr>
              <a:t>10 000!</a:t>
            </a:r>
          </a:p>
        </p:txBody>
      </p:sp>
      <p:cxnSp>
        <p:nvCxnSpPr>
          <p:cNvPr id="2052" name="Łącznik: łamany 2051">
            <a:extLst>
              <a:ext uri="{FF2B5EF4-FFF2-40B4-BE49-F238E27FC236}">
                <a16:creationId xmlns:a16="http://schemas.microsoft.com/office/drawing/2014/main" id="{1425439F-D002-E3CB-7EB5-0782F6210910}"/>
              </a:ext>
            </a:extLst>
          </p:cNvPr>
          <p:cNvCxnSpPr>
            <a:cxnSpLocks/>
          </p:cNvCxnSpPr>
          <p:nvPr/>
        </p:nvCxnSpPr>
        <p:spPr>
          <a:xfrm flipV="1">
            <a:off x="6425278" y="1320391"/>
            <a:ext cx="1245021" cy="566775"/>
          </a:xfrm>
          <a:prstGeom prst="bentConnector3">
            <a:avLst/>
          </a:prstGeom>
          <a:ln>
            <a:headEnd type="triangle"/>
            <a:tailEnd type="triangle"/>
          </a:ln>
        </p:spPr>
        <p:style>
          <a:lnRef idx="1">
            <a:schemeClr val="accent6"/>
          </a:lnRef>
          <a:fillRef idx="0">
            <a:schemeClr val="accent6"/>
          </a:fillRef>
          <a:effectRef idx="0">
            <a:schemeClr val="accent6"/>
          </a:effectRef>
          <a:fontRef idx="minor">
            <a:schemeClr val="tx1"/>
          </a:fontRef>
        </p:style>
      </p:cxnSp>
      <p:pic>
        <p:nvPicPr>
          <p:cNvPr id="2054" name="Obraz 2053">
            <a:extLst>
              <a:ext uri="{FF2B5EF4-FFF2-40B4-BE49-F238E27FC236}">
                <a16:creationId xmlns:a16="http://schemas.microsoft.com/office/drawing/2014/main" id="{8756982F-00C9-A64D-6869-9CB73E853162}"/>
              </a:ext>
            </a:extLst>
          </p:cNvPr>
          <p:cNvPicPr>
            <a:picLocks noChangeAspect="1"/>
          </p:cNvPicPr>
          <p:nvPr/>
        </p:nvPicPr>
        <p:blipFill>
          <a:blip r:embed="rId6"/>
          <a:stretch>
            <a:fillRect/>
          </a:stretch>
        </p:blipFill>
        <p:spPr>
          <a:xfrm>
            <a:off x="9497345" y="2612677"/>
            <a:ext cx="2381250" cy="2409825"/>
          </a:xfrm>
          <a:prstGeom prst="rect">
            <a:avLst/>
          </a:prstGeom>
        </p:spPr>
      </p:pic>
      <p:sp>
        <p:nvSpPr>
          <p:cNvPr id="2058" name="Łuk 2057">
            <a:extLst>
              <a:ext uri="{FF2B5EF4-FFF2-40B4-BE49-F238E27FC236}">
                <a16:creationId xmlns:a16="http://schemas.microsoft.com/office/drawing/2014/main" id="{7EB6C196-F14E-1D0B-D6BB-12968A695637}"/>
              </a:ext>
            </a:extLst>
          </p:cNvPr>
          <p:cNvSpPr/>
          <p:nvPr/>
        </p:nvSpPr>
        <p:spPr>
          <a:xfrm>
            <a:off x="10642060" y="1610686"/>
            <a:ext cx="1106745" cy="1065402"/>
          </a:xfrm>
          <a:prstGeom prst="arc">
            <a:avLst>
              <a:gd name="adj1" fmla="val 15552192"/>
              <a:gd name="adj2" fmla="val 3367565"/>
            </a:avLst>
          </a:prstGeom>
          <a:ln>
            <a:headEnd type="triangle"/>
            <a:tailEnd type="triangle"/>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GB"/>
          </a:p>
        </p:txBody>
      </p:sp>
      <p:sp>
        <p:nvSpPr>
          <p:cNvPr id="2059" name="Dymek mowy: prostokąt 2058">
            <a:extLst>
              <a:ext uri="{FF2B5EF4-FFF2-40B4-BE49-F238E27FC236}">
                <a16:creationId xmlns:a16="http://schemas.microsoft.com/office/drawing/2014/main" id="{496E7D01-D571-A181-60FE-50F1E7099816}"/>
              </a:ext>
            </a:extLst>
          </p:cNvPr>
          <p:cNvSpPr/>
          <p:nvPr/>
        </p:nvSpPr>
        <p:spPr>
          <a:xfrm>
            <a:off x="9607639" y="5060504"/>
            <a:ext cx="2160662" cy="1029903"/>
          </a:xfrm>
          <a:prstGeom prst="wedgeRectCallout">
            <a:avLst>
              <a:gd name="adj1" fmla="val -33895"/>
              <a:gd name="adj2" fmla="val 47286"/>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GB" sz="2000" dirty="0">
                <a:solidFill>
                  <a:schemeClr val="tx1"/>
                </a:solidFill>
                <a:latin typeface="Comic Sans MS" panose="030F0702030302020204" pitchFamily="66" charset="0"/>
              </a:rPr>
              <a:t>A shift of 1 pixel to the right.</a:t>
            </a:r>
            <a:endParaRPr lang="pl-PL" sz="2000" dirty="0">
              <a:solidFill>
                <a:schemeClr val="tx1"/>
              </a:solidFill>
              <a:latin typeface="Comic Sans MS" panose="030F0702030302020204" pitchFamily="66" charset="0"/>
            </a:endParaRPr>
          </a:p>
        </p:txBody>
      </p:sp>
      <p:pic>
        <p:nvPicPr>
          <p:cNvPr id="2061" name="Obraz 2060">
            <a:extLst>
              <a:ext uri="{FF2B5EF4-FFF2-40B4-BE49-F238E27FC236}">
                <a16:creationId xmlns:a16="http://schemas.microsoft.com/office/drawing/2014/main" id="{C28BE82F-CE77-818D-465C-5DFDD47ACD7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96113" y="4700583"/>
            <a:ext cx="1561135" cy="17595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062" name="Prostokąt 2061">
            <a:extLst>
              <a:ext uri="{FF2B5EF4-FFF2-40B4-BE49-F238E27FC236}">
                <a16:creationId xmlns:a16="http://schemas.microsoft.com/office/drawing/2014/main" id="{A6ADD4B8-48AB-B0A9-C61B-C21953242393}"/>
              </a:ext>
            </a:extLst>
          </p:cNvPr>
          <p:cNvSpPr/>
          <p:nvPr/>
        </p:nvSpPr>
        <p:spPr>
          <a:xfrm>
            <a:off x="7517899" y="5247954"/>
            <a:ext cx="720000" cy="72000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2063" name="Prostokąt 2062">
            <a:extLst>
              <a:ext uri="{FF2B5EF4-FFF2-40B4-BE49-F238E27FC236}">
                <a16:creationId xmlns:a16="http://schemas.microsoft.com/office/drawing/2014/main" id="{8FE855F7-13BC-8E20-976B-DE23083168E0}"/>
              </a:ext>
            </a:extLst>
          </p:cNvPr>
          <p:cNvSpPr/>
          <p:nvPr/>
        </p:nvSpPr>
        <p:spPr>
          <a:xfrm>
            <a:off x="7670299" y="5400354"/>
            <a:ext cx="360000" cy="36000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2064" name="Łuk 2063">
            <a:extLst>
              <a:ext uri="{FF2B5EF4-FFF2-40B4-BE49-F238E27FC236}">
                <a16:creationId xmlns:a16="http://schemas.microsoft.com/office/drawing/2014/main" id="{D09559DE-749F-E915-160F-E12131F8386E}"/>
              </a:ext>
            </a:extLst>
          </p:cNvPr>
          <p:cNvSpPr/>
          <p:nvPr/>
        </p:nvSpPr>
        <p:spPr>
          <a:xfrm>
            <a:off x="7670299" y="1947279"/>
            <a:ext cx="1086949" cy="3453075"/>
          </a:xfrm>
          <a:prstGeom prst="arc">
            <a:avLst>
              <a:gd name="adj1" fmla="val 17140121"/>
              <a:gd name="adj2" fmla="val 5397662"/>
            </a:avLst>
          </a:prstGeom>
          <a:ln>
            <a:headEnd type="triangle"/>
            <a:tailEnd type="triangle"/>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sp>
        <p:nvSpPr>
          <p:cNvPr id="4" name="Tytuł 4">
            <a:extLst>
              <a:ext uri="{FF2B5EF4-FFF2-40B4-BE49-F238E27FC236}">
                <a16:creationId xmlns:a16="http://schemas.microsoft.com/office/drawing/2014/main" id="{740E6075-173B-A750-303E-22A16B22D29A}"/>
              </a:ext>
            </a:extLst>
          </p:cNvPr>
          <p:cNvSpPr>
            <a:spLocks noGrp="1"/>
          </p:cNvSpPr>
          <p:nvPr>
            <p:ph type="title"/>
          </p:nvPr>
        </p:nvSpPr>
        <p:spPr>
          <a:xfrm>
            <a:off x="0" y="0"/>
            <a:ext cx="7470843" cy="696286"/>
          </a:xfrm>
        </p:spPr>
        <p:txBody>
          <a:bodyPr>
            <a:noAutofit/>
          </a:bodyPr>
          <a:lstStyle/>
          <a:p>
            <a:pPr algn="ctr"/>
            <a:r>
              <a:rPr lang="en-GB" sz="3200" dirty="0"/>
              <a:t>Image recognition - a regular neural network</a:t>
            </a:r>
          </a:p>
        </p:txBody>
      </p:sp>
    </p:spTree>
    <p:extLst>
      <p:ext uri="{BB962C8B-B14F-4D97-AF65-F5344CB8AC3E}">
        <p14:creationId xmlns:p14="http://schemas.microsoft.com/office/powerpoint/2010/main" val="228942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35C71DD2-5D60-93B0-35A4-9AE97C86B42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07" b="96640" l="1614" r="97997">
                        <a14:foregroundMark x1="45799" y1="50611" x2="36060" y2="55295"/>
                        <a14:foregroundMark x1="36060" y1="55295" x2="29661" y2="80143"/>
                        <a14:foregroundMark x1="29661" y1="80143" x2="47524" y2="87984"/>
                        <a14:foregroundMark x1="47524" y1="87984" x2="52031" y2="85642"/>
                        <a14:foregroundMark x1="99165" y1="98676" x2="1224" y2="88086"/>
                        <a14:foregroundMark x1="1224" y1="88086" x2="8347" y2="24542"/>
                        <a14:foregroundMark x1="8347" y1="24542" x2="34669" y2="5601"/>
                        <a14:foregroundMark x1="34669" y1="5601" x2="58875" y2="4777"/>
                        <a14:foregroundMark x1="94209" y1="19852" x2="93100" y2="83809"/>
                        <a14:foregroundMark x1="94303" y1="14415" x2="94248" y2="17561"/>
                        <a14:foregroundMark x1="94400" y1="8805" x2="94327" y2="12998"/>
                        <a14:foregroundMark x1="94491" y1="3564" x2="94467" y2="4942"/>
                        <a14:foregroundMark x1="98052" y1="8147" x2="97663" y2="96640"/>
                        <a14:foregroundMark x1="97997" y1="96029" x2="75014" y2="82790"/>
                        <a14:foregroundMark x1="75014" y1="82790" x2="70117" y2="72301"/>
                        <a14:foregroundMark x1="70117" y1="72301" x2="70061" y2="71690"/>
                        <a14:foregroundMark x1="60879" y1="42057" x2="29772" y2="18635"/>
                        <a14:foregroundMark x1="56706" y1="26986" x2="35114" y2="20672"/>
                        <a14:foregroundMark x1="49304" y1="10692" x2="31942" y2="37984"/>
                        <a14:foregroundMark x1="6127" y1="7718" x2="3339" y2="17923"/>
                        <a14:foregroundMark x1="3339" y1="17923" x2="1892" y2="76782"/>
                        <a14:foregroundMark x1="1892" y1="76782" x2="8347" y2="94196"/>
                        <a14:foregroundMark x1="8347" y1="94196" x2="9572" y2="95621"/>
                        <a14:foregroundMark x1="26822" y1="95927" x2="10351" y2="50611"/>
                        <a14:foregroundMark x1="10351" y1="50611" x2="8625" y2="47556"/>
                        <a14:foregroundMark x1="24263" y1="31263" x2="20701" y2="47454"/>
                        <a14:foregroundMark x1="20701" y1="47454" x2="1725" y2="78717"/>
                        <a14:foregroundMark x1="1725" y1="78717" x2="2059" y2="85438"/>
                        <a14:foregroundMark x1="18753" y1="95316" x2="2226" y2="62933"/>
                        <a14:foregroundMark x1="11464" y1="58961" x2="5565" y2="87373"/>
                        <a14:foregroundMark x1="5565" y1="87373" x2="4953" y2="89206"/>
                        <a14:foregroundMark x1="19310" y1="96741" x2="1836" y2="77393"/>
                        <a14:foregroundMark x1="28102" y1="16497" x2="12076" y2="1018"/>
                        <a14:foregroundMark x1="24819" y1="1629" x2="8706" y2="1081"/>
                        <a14:foregroundMark x1="40957" y1="15173" x2="37173" y2="72403"/>
                        <a14:foregroundMark x1="73511" y1="25255" x2="85309" y2="96334"/>
                        <a14:foregroundMark x1="85309" y1="96334" x2="85364" y2="96334"/>
                        <a14:foregroundMark x1="60841" y1="19723" x2="34279" y2="30754"/>
                        <a14:foregroundMark x1="95826" y1="5193" x2="95451" y2="5349"/>
                        <a14:foregroundMark x1="34279" y1="30754" x2="15025" y2="67006"/>
                        <a14:foregroundMark x1="15025" y1="67006" x2="13801" y2="76375"/>
                        <a14:foregroundMark x1="13801" y1="76375" x2="13856" y2="76375"/>
                        <a14:foregroundMark x1="16694" y1="75356" x2="35114" y2="85743"/>
                        <a14:foregroundMark x1="35114" y1="85743" x2="81803" y2="83096"/>
                        <a14:foregroundMark x1="81803" y1="83096" x2="89705" y2="46843"/>
                        <a14:foregroundMark x1="89705" y1="46843" x2="54146" y2="44297"/>
                        <a14:foregroundMark x1="54146" y1="44297" x2="79967" y2="28717"/>
                        <a14:foregroundMark x1="79967" y1="28717" x2="34446" y2="38391"/>
                        <a14:foregroundMark x1="34446" y1="38391" x2="19254" y2="32892"/>
                        <a14:foregroundMark x1="19254" y1="32892" x2="24430" y2="15377"/>
                        <a14:foregroundMark x1="24430" y1="15377" x2="13300" y2="16293"/>
                        <a14:foregroundMark x1="13300" y1="16293" x2="13801" y2="71079"/>
                        <a14:foregroundMark x1="13801" y1="71079" x2="27546" y2="68330"/>
                        <a14:foregroundMark x1="27546" y1="68330" x2="72565" y2="81365"/>
                        <a14:foregroundMark x1="72565" y1="81365" x2="85309" y2="72301"/>
                        <a14:foregroundMark x1="85309" y1="72301" x2="84418" y2="63238"/>
                        <a14:foregroundMark x1="84418" y1="63238" x2="87184" y2="29629"/>
                        <a14:foregroundMark x1="62112" y1="23477" x2="39900" y2="47760"/>
                        <a14:foregroundMark x1="39900" y1="47760" x2="53756" y2="37780"/>
                        <a14:foregroundMark x1="73344" y1="79532" x2="70673" y2="58961"/>
                        <a14:foregroundMark x1="72788" y1="80244" x2="73957" y2="62933"/>
                        <a14:foregroundMark x1="9238" y1="611" x2="9182" y2="407"/>
                        <a14:foregroundMark x1="8625" y1="5804" x2="9572" y2="3055"/>
                        <a14:backgroundMark x1="7846" y1="1018" x2="4508" y2="6415"/>
                        <a14:backgroundMark x1="4508" y1="6415" x2="390" y2="3870"/>
                        <a14:backgroundMark x1="390" y1="3870" x2="4174" y2="713"/>
                        <a14:backgroundMark x1="4174" y1="713" x2="7735" y2="713"/>
                        <a14:backgroundMark x1="7568" y1="1629" x2="3172" y2="6925"/>
                        <a14:backgroundMark x1="3172" y1="6925" x2="612" y2="8147"/>
                        <a14:backgroundMark x1="0" y1="9470" x2="4841" y2="8350"/>
                        <a14:backgroundMark x1="4841" y1="8350" x2="8403" y2="3666"/>
                        <a14:backgroundMark x1="8403" y1="3666" x2="8459" y2="0"/>
                        <a14:backgroundMark x1="6956" y1="1018" x2="8292" y2="1324"/>
                        <a14:backgroundMark x1="6455" y1="2342" x2="3339" y2="6008"/>
                        <a14:backgroundMark x1="91987" y1="48574" x2="88314" y2="27699"/>
                        <a14:backgroundMark x1="88314" y1="27699" x2="86144" y2="21385"/>
                        <a14:backgroundMark x1="86144" y1="21385" x2="62437" y2="16701"/>
                        <a14:backgroundMark x1="62437" y1="16701" x2="62938" y2="7536"/>
                        <a14:backgroundMark x1="62938" y1="7536" x2="88815" y2="1629"/>
                        <a14:backgroundMark x1="88815" y1="1629" x2="93990" y2="3157"/>
                        <a14:backgroundMark x1="93990" y1="3157" x2="93990" y2="12525"/>
                        <a14:backgroundMark x1="93990" y1="12525" x2="89983" y2="20163"/>
                        <a14:backgroundMark x1="89983" y1="20163" x2="70339" y2="15275"/>
                        <a14:backgroundMark x1="70339" y1="15275" x2="90707" y2="4684"/>
                        <a14:backgroundMark x1="87869" y1="11507" x2="81413" y2="16904"/>
                        <a14:backgroundMark x1="81413" y1="16904" x2="79410" y2="9470"/>
                        <a14:backgroundMark x1="79410" y1="9470" x2="79410" y2="8350"/>
                        <a14:backgroundMark x1="89705" y1="5703" x2="75737" y2="16497"/>
                        <a14:backgroundMark x1="75737" y1="16497" x2="75626" y2="16497"/>
                        <a14:backgroundMark x1="92766" y1="8859" x2="88703" y2="12322"/>
                        <a14:backgroundMark x1="88703" y1="12322" x2="62827" y2="18941"/>
                        <a14:backgroundMark x1="62827" y1="18941" x2="62326" y2="19450"/>
                        <a14:backgroundMark x1="59210" y1="7739" x2="64830" y2="4277"/>
                        <a14:backgroundMark x1="64830" y1="4277" x2="65442" y2="4175"/>
                        <a14:backgroundMark x1="92376" y1="4175" x2="89204" y2="8758"/>
                        <a14:backgroundMark x1="86144" y1="2444" x2="86422" y2="9369"/>
                        <a14:backgroundMark x1="88536" y1="2138" x2="85309" y2="8147"/>
                        <a14:backgroundMark x1="94324" y1="4684" x2="83194" y2="18228"/>
                        <a14:backgroundMark x1="89705" y1="23625" x2="80634" y2="18839"/>
                        <a14:backgroundMark x1="80634" y1="18839" x2="77407" y2="13646"/>
                        <a14:backgroundMark x1="77407" y1="13646" x2="79243" y2="10896"/>
                        <a14:backgroundMark x1="87145" y1="3971" x2="83361" y2="4990"/>
                        <a14:backgroundMark x1="91208" y1="3666" x2="87924" y2="3768"/>
                        <a14:backgroundMark x1="73623" y1="5397" x2="63662" y2="5397"/>
                        <a14:backgroundMark x1="63662" y1="5397" x2="63328" y2="4990"/>
                        <a14:backgroundMark x1="61213" y1="4481" x2="66945" y2="3666"/>
                        <a14:backgroundMark x1="62549" y1="7739" x2="64552" y2="14868"/>
                        <a14:backgroundMark x1="64552" y1="14868" x2="69338" y2="22505"/>
                        <a14:backgroundMark x1="69338" y1="22505" x2="70785" y2="23320"/>
                        <a14:backgroundMark x1="68058" y1="20468" x2="62437" y2="17108"/>
                        <a14:backgroundMark x1="62437" y1="17108" x2="61491" y2="15479"/>
                        <a14:backgroundMark x1="84252" y1="14155" x2="86477" y2="18126"/>
                        <a14:backgroundMark x1="92098" y1="48574" x2="86311" y2="25866"/>
                        <a14:backgroundMark x1="86311" y1="25866" x2="86088" y2="20978"/>
                        <a14:backgroundMark x1="86088" y1="20163" x2="87145" y2="28411"/>
                        <a14:backgroundMark x1="87145" y1="28411" x2="87924" y2="29633"/>
                        <a14:backgroundMark x1="92376" y1="45418" x2="89204" y2="35336"/>
                        <a14:backgroundMark x1="89204" y1="35336" x2="88648" y2="35031"/>
                        <a14:backgroundMark x1="59766" y1="3666" x2="60267" y2="12831"/>
                        <a14:backgroundMark x1="60267" y1="12831" x2="62493" y2="22403"/>
                        <a14:backgroundMark x1="62493" y1="22403" x2="79299" y2="23320"/>
                        <a14:backgroundMark x1="79299" y1="23320" x2="90262" y2="23014"/>
                        <a14:backgroundMark x1="90262" y1="23014" x2="95326" y2="17515"/>
                        <a14:backgroundMark x1="95326" y1="17515" x2="95604" y2="7536"/>
                        <a14:backgroundMark x1="95604" y1="7536" x2="60100" y2="3157"/>
                        <a14:backgroundMark x1="60100" y1="3157" x2="59655" y2="3157"/>
                        <a14:backgroundMark x1="69171" y1="18635" x2="62159" y2="19959"/>
                        <a14:backgroundMark x1="61380" y1="4990" x2="59989" y2="4786"/>
                        <a14:backgroundMark x1="7902" y1="6823" x2="7513" y2="4990"/>
                      </a14:backgroundRemoval>
                    </a14:imgEffect>
                  </a14:imgLayer>
                </a14:imgProps>
              </a:ext>
            </a:extLst>
          </a:blip>
          <a:stretch>
            <a:fillRect/>
          </a:stretch>
        </p:blipFill>
        <p:spPr>
          <a:xfrm>
            <a:off x="0" y="195482"/>
            <a:ext cx="12192000" cy="6662518"/>
          </a:xfrm>
          <a:prstGeom prst="rect">
            <a:avLst/>
          </a:prstGeom>
        </p:spPr>
      </p:pic>
      <p:sp>
        <p:nvSpPr>
          <p:cNvPr id="5" name="Tytuł 4">
            <a:extLst>
              <a:ext uri="{FF2B5EF4-FFF2-40B4-BE49-F238E27FC236}">
                <a16:creationId xmlns:a16="http://schemas.microsoft.com/office/drawing/2014/main" id="{749658E0-488D-D737-61C2-9604F6D54FC1}"/>
              </a:ext>
            </a:extLst>
          </p:cNvPr>
          <p:cNvSpPr>
            <a:spLocks noGrp="1"/>
          </p:cNvSpPr>
          <p:nvPr>
            <p:ph type="title"/>
          </p:nvPr>
        </p:nvSpPr>
        <p:spPr>
          <a:xfrm>
            <a:off x="7529209" y="-1"/>
            <a:ext cx="4662791" cy="2091448"/>
          </a:xfrm>
        </p:spPr>
        <p:txBody>
          <a:bodyPr>
            <a:noAutofit/>
          </a:bodyPr>
          <a:lstStyle/>
          <a:p>
            <a:pPr algn="ctr"/>
            <a:r>
              <a:rPr lang="pl-PL" sz="2800" dirty="0" err="1"/>
              <a:t>Convolutional</a:t>
            </a:r>
            <a:r>
              <a:rPr lang="pl-PL" sz="2800" dirty="0"/>
              <a:t> </a:t>
            </a:r>
            <a:r>
              <a:rPr lang="pl-PL" sz="2800" dirty="0" err="1"/>
              <a:t>Neural</a:t>
            </a:r>
            <a:r>
              <a:rPr lang="pl-PL" sz="2800" dirty="0"/>
              <a:t> Network:</a:t>
            </a:r>
            <a:br>
              <a:rPr lang="pl-PL" sz="3200" dirty="0"/>
            </a:br>
            <a:br>
              <a:rPr lang="pl-PL" sz="3200" dirty="0"/>
            </a:br>
            <a:br>
              <a:rPr lang="pl-PL" sz="3200" dirty="0"/>
            </a:br>
            <a:endParaRPr lang="en-GB" sz="3200" dirty="0">
              <a:solidFill>
                <a:schemeClr val="accent6"/>
              </a:solidFill>
            </a:endParaRPr>
          </a:p>
        </p:txBody>
      </p:sp>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5"/>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spTree>
    <p:extLst>
      <p:ext uri="{BB962C8B-B14F-4D97-AF65-F5344CB8AC3E}">
        <p14:creationId xmlns:p14="http://schemas.microsoft.com/office/powerpoint/2010/main" val="3460120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35C71DD2-5D60-93B0-35A4-9AE97C86B42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07" b="96640" l="1614" r="97997">
                        <a14:foregroundMark x1="45799" y1="50611" x2="36060" y2="55295"/>
                        <a14:foregroundMark x1="36060" y1="55295" x2="29661" y2="80143"/>
                        <a14:foregroundMark x1="29661" y1="80143" x2="47524" y2="87984"/>
                        <a14:foregroundMark x1="47524" y1="87984" x2="52031" y2="85642"/>
                        <a14:foregroundMark x1="99165" y1="98676" x2="1224" y2="88086"/>
                        <a14:foregroundMark x1="1224" y1="88086" x2="8347" y2="24542"/>
                        <a14:foregroundMark x1="8347" y1="24542" x2="34669" y2="5601"/>
                        <a14:foregroundMark x1="34669" y1="5601" x2="58875" y2="4777"/>
                        <a14:foregroundMark x1="94209" y1="19852" x2="93100" y2="83809"/>
                        <a14:foregroundMark x1="94303" y1="14415" x2="94248" y2="17561"/>
                        <a14:foregroundMark x1="94400" y1="8805" x2="94327" y2="12998"/>
                        <a14:foregroundMark x1="94491" y1="3564" x2="94467" y2="4942"/>
                        <a14:foregroundMark x1="98052" y1="8147" x2="97663" y2="96640"/>
                        <a14:foregroundMark x1="97997" y1="96029" x2="75014" y2="82790"/>
                        <a14:foregroundMark x1="75014" y1="82790" x2="70117" y2="72301"/>
                        <a14:foregroundMark x1="70117" y1="72301" x2="70061" y2="71690"/>
                        <a14:foregroundMark x1="60879" y1="42057" x2="29772" y2="18635"/>
                        <a14:foregroundMark x1="56706" y1="26986" x2="35114" y2="20672"/>
                        <a14:foregroundMark x1="49304" y1="10692" x2="31942" y2="37984"/>
                        <a14:foregroundMark x1="6127" y1="7718" x2="3339" y2="17923"/>
                        <a14:foregroundMark x1="3339" y1="17923" x2="1892" y2="76782"/>
                        <a14:foregroundMark x1="1892" y1="76782" x2="8347" y2="94196"/>
                        <a14:foregroundMark x1="8347" y1="94196" x2="9572" y2="95621"/>
                        <a14:foregroundMark x1="26822" y1="95927" x2="10351" y2="50611"/>
                        <a14:foregroundMark x1="10351" y1="50611" x2="8625" y2="47556"/>
                        <a14:foregroundMark x1="24263" y1="31263" x2="20701" y2="47454"/>
                        <a14:foregroundMark x1="20701" y1="47454" x2="1725" y2="78717"/>
                        <a14:foregroundMark x1="1725" y1="78717" x2="2059" y2="85438"/>
                        <a14:foregroundMark x1="18753" y1="95316" x2="2226" y2="62933"/>
                        <a14:foregroundMark x1="11464" y1="58961" x2="5565" y2="87373"/>
                        <a14:foregroundMark x1="5565" y1="87373" x2="4953" y2="89206"/>
                        <a14:foregroundMark x1="19310" y1="96741" x2="1836" y2="77393"/>
                        <a14:foregroundMark x1="28102" y1="16497" x2="12076" y2="1018"/>
                        <a14:foregroundMark x1="24819" y1="1629" x2="8706" y2="1081"/>
                        <a14:foregroundMark x1="40957" y1="15173" x2="37173" y2="72403"/>
                        <a14:foregroundMark x1="73511" y1="25255" x2="85309" y2="96334"/>
                        <a14:foregroundMark x1="85309" y1="96334" x2="85364" y2="96334"/>
                        <a14:foregroundMark x1="60841" y1="19723" x2="34279" y2="30754"/>
                        <a14:foregroundMark x1="95826" y1="5193" x2="95451" y2="5349"/>
                        <a14:foregroundMark x1="34279" y1="30754" x2="15025" y2="67006"/>
                        <a14:foregroundMark x1="15025" y1="67006" x2="13801" y2="76375"/>
                        <a14:foregroundMark x1="13801" y1="76375" x2="13856" y2="76375"/>
                        <a14:foregroundMark x1="16694" y1="75356" x2="35114" y2="85743"/>
                        <a14:foregroundMark x1="35114" y1="85743" x2="81803" y2="83096"/>
                        <a14:foregroundMark x1="81803" y1="83096" x2="89705" y2="46843"/>
                        <a14:foregroundMark x1="89705" y1="46843" x2="54146" y2="44297"/>
                        <a14:foregroundMark x1="54146" y1="44297" x2="79967" y2="28717"/>
                        <a14:foregroundMark x1="79967" y1="28717" x2="34446" y2="38391"/>
                        <a14:foregroundMark x1="34446" y1="38391" x2="19254" y2="32892"/>
                        <a14:foregroundMark x1="19254" y1="32892" x2="24430" y2="15377"/>
                        <a14:foregroundMark x1="24430" y1="15377" x2="13300" y2="16293"/>
                        <a14:foregroundMark x1="13300" y1="16293" x2="13801" y2="71079"/>
                        <a14:foregroundMark x1="13801" y1="71079" x2="27546" y2="68330"/>
                        <a14:foregroundMark x1="27546" y1="68330" x2="72565" y2="81365"/>
                        <a14:foregroundMark x1="72565" y1="81365" x2="85309" y2="72301"/>
                        <a14:foregroundMark x1="85309" y1="72301" x2="84418" y2="63238"/>
                        <a14:foregroundMark x1="84418" y1="63238" x2="87184" y2="29629"/>
                        <a14:foregroundMark x1="62112" y1="23477" x2="39900" y2="47760"/>
                        <a14:foregroundMark x1="39900" y1="47760" x2="53756" y2="37780"/>
                        <a14:foregroundMark x1="73344" y1="79532" x2="70673" y2="58961"/>
                        <a14:foregroundMark x1="72788" y1="80244" x2="73957" y2="62933"/>
                        <a14:foregroundMark x1="9238" y1="611" x2="9182" y2="407"/>
                        <a14:foregroundMark x1="8625" y1="5804" x2="9572" y2="3055"/>
                        <a14:backgroundMark x1="7846" y1="1018" x2="4508" y2="6415"/>
                        <a14:backgroundMark x1="4508" y1="6415" x2="390" y2="3870"/>
                        <a14:backgroundMark x1="390" y1="3870" x2="4174" y2="713"/>
                        <a14:backgroundMark x1="4174" y1="713" x2="7735" y2="713"/>
                        <a14:backgroundMark x1="7568" y1="1629" x2="3172" y2="6925"/>
                        <a14:backgroundMark x1="3172" y1="6925" x2="612" y2="8147"/>
                        <a14:backgroundMark x1="0" y1="9470" x2="4841" y2="8350"/>
                        <a14:backgroundMark x1="4841" y1="8350" x2="8403" y2="3666"/>
                        <a14:backgroundMark x1="8403" y1="3666" x2="8459" y2="0"/>
                        <a14:backgroundMark x1="6956" y1="1018" x2="8292" y2="1324"/>
                        <a14:backgroundMark x1="6455" y1="2342" x2="3339" y2="6008"/>
                        <a14:backgroundMark x1="91987" y1="48574" x2="88314" y2="27699"/>
                        <a14:backgroundMark x1="88314" y1="27699" x2="86144" y2="21385"/>
                        <a14:backgroundMark x1="86144" y1="21385" x2="62437" y2="16701"/>
                        <a14:backgroundMark x1="62437" y1="16701" x2="62938" y2="7536"/>
                        <a14:backgroundMark x1="62938" y1="7536" x2="88815" y2="1629"/>
                        <a14:backgroundMark x1="88815" y1="1629" x2="93990" y2="3157"/>
                        <a14:backgroundMark x1="93990" y1="3157" x2="93990" y2="12525"/>
                        <a14:backgroundMark x1="93990" y1="12525" x2="89983" y2="20163"/>
                        <a14:backgroundMark x1="89983" y1="20163" x2="70339" y2="15275"/>
                        <a14:backgroundMark x1="70339" y1="15275" x2="90707" y2="4684"/>
                        <a14:backgroundMark x1="87869" y1="11507" x2="81413" y2="16904"/>
                        <a14:backgroundMark x1="81413" y1="16904" x2="79410" y2="9470"/>
                        <a14:backgroundMark x1="79410" y1="9470" x2="79410" y2="8350"/>
                        <a14:backgroundMark x1="89705" y1="5703" x2="75737" y2="16497"/>
                        <a14:backgroundMark x1="75737" y1="16497" x2="75626" y2="16497"/>
                        <a14:backgroundMark x1="92766" y1="8859" x2="88703" y2="12322"/>
                        <a14:backgroundMark x1="88703" y1="12322" x2="62827" y2="18941"/>
                        <a14:backgroundMark x1="62827" y1="18941" x2="62326" y2="19450"/>
                        <a14:backgroundMark x1="59210" y1="7739" x2="64830" y2="4277"/>
                        <a14:backgroundMark x1="64830" y1="4277" x2="65442" y2="4175"/>
                        <a14:backgroundMark x1="92376" y1="4175" x2="89204" y2="8758"/>
                        <a14:backgroundMark x1="86144" y1="2444" x2="86422" y2="9369"/>
                        <a14:backgroundMark x1="88536" y1="2138" x2="85309" y2="8147"/>
                        <a14:backgroundMark x1="94324" y1="4684" x2="83194" y2="18228"/>
                        <a14:backgroundMark x1="89705" y1="23625" x2="80634" y2="18839"/>
                        <a14:backgroundMark x1="80634" y1="18839" x2="77407" y2="13646"/>
                        <a14:backgroundMark x1="77407" y1="13646" x2="79243" y2="10896"/>
                        <a14:backgroundMark x1="87145" y1="3971" x2="83361" y2="4990"/>
                        <a14:backgroundMark x1="91208" y1="3666" x2="87924" y2="3768"/>
                        <a14:backgroundMark x1="73623" y1="5397" x2="63662" y2="5397"/>
                        <a14:backgroundMark x1="63662" y1="5397" x2="63328" y2="4990"/>
                        <a14:backgroundMark x1="61213" y1="4481" x2="66945" y2="3666"/>
                        <a14:backgroundMark x1="62549" y1="7739" x2="64552" y2="14868"/>
                        <a14:backgroundMark x1="64552" y1="14868" x2="69338" y2="22505"/>
                        <a14:backgroundMark x1="69338" y1="22505" x2="70785" y2="23320"/>
                        <a14:backgroundMark x1="68058" y1="20468" x2="62437" y2="17108"/>
                        <a14:backgroundMark x1="62437" y1="17108" x2="61491" y2="15479"/>
                        <a14:backgroundMark x1="84252" y1="14155" x2="86477" y2="18126"/>
                        <a14:backgroundMark x1="92098" y1="48574" x2="86311" y2="25866"/>
                        <a14:backgroundMark x1="86311" y1="25866" x2="86088" y2="20978"/>
                        <a14:backgroundMark x1="86088" y1="20163" x2="87145" y2="28411"/>
                        <a14:backgroundMark x1="87145" y1="28411" x2="87924" y2="29633"/>
                        <a14:backgroundMark x1="92376" y1="45418" x2="89204" y2="35336"/>
                        <a14:backgroundMark x1="89204" y1="35336" x2="88648" y2="35031"/>
                        <a14:backgroundMark x1="59766" y1="3666" x2="60267" y2="12831"/>
                        <a14:backgroundMark x1="60267" y1="12831" x2="62493" y2="22403"/>
                        <a14:backgroundMark x1="62493" y1="22403" x2="79299" y2="23320"/>
                        <a14:backgroundMark x1="79299" y1="23320" x2="90262" y2="23014"/>
                        <a14:backgroundMark x1="90262" y1="23014" x2="95326" y2="17515"/>
                        <a14:backgroundMark x1="95326" y1="17515" x2="95604" y2="7536"/>
                        <a14:backgroundMark x1="95604" y1="7536" x2="60100" y2="3157"/>
                        <a14:backgroundMark x1="60100" y1="3157" x2="59655" y2="3157"/>
                        <a14:backgroundMark x1="69171" y1="18635" x2="62159" y2="19959"/>
                        <a14:backgroundMark x1="61380" y1="4990" x2="59989" y2="4786"/>
                        <a14:backgroundMark x1="7902" y1="6823" x2="7513" y2="4990"/>
                      </a14:backgroundRemoval>
                    </a14:imgEffect>
                  </a14:imgLayer>
                </a14:imgProps>
              </a:ext>
            </a:extLst>
          </a:blip>
          <a:stretch>
            <a:fillRect/>
          </a:stretch>
        </p:blipFill>
        <p:spPr>
          <a:xfrm>
            <a:off x="0" y="195482"/>
            <a:ext cx="12192000" cy="6662518"/>
          </a:xfrm>
          <a:prstGeom prst="rect">
            <a:avLst/>
          </a:prstGeom>
        </p:spPr>
      </p:pic>
      <p:sp>
        <p:nvSpPr>
          <p:cNvPr id="5" name="Tytuł 4">
            <a:extLst>
              <a:ext uri="{FF2B5EF4-FFF2-40B4-BE49-F238E27FC236}">
                <a16:creationId xmlns:a16="http://schemas.microsoft.com/office/drawing/2014/main" id="{749658E0-488D-D737-61C2-9604F6D54FC1}"/>
              </a:ext>
            </a:extLst>
          </p:cNvPr>
          <p:cNvSpPr>
            <a:spLocks noGrp="1"/>
          </p:cNvSpPr>
          <p:nvPr>
            <p:ph type="title"/>
          </p:nvPr>
        </p:nvSpPr>
        <p:spPr>
          <a:xfrm>
            <a:off x="7529209" y="-1"/>
            <a:ext cx="4662791" cy="2091448"/>
          </a:xfrm>
        </p:spPr>
        <p:txBody>
          <a:bodyPr>
            <a:noAutofit/>
          </a:bodyPr>
          <a:lstStyle/>
          <a:p>
            <a:pPr algn="ctr"/>
            <a:r>
              <a:rPr lang="pl-PL" sz="2800" dirty="0" err="1"/>
              <a:t>Convolutional</a:t>
            </a:r>
            <a:r>
              <a:rPr lang="pl-PL" sz="2800" dirty="0"/>
              <a:t> </a:t>
            </a:r>
            <a:r>
              <a:rPr lang="pl-PL" sz="2800" dirty="0" err="1"/>
              <a:t>Neural</a:t>
            </a:r>
            <a:r>
              <a:rPr lang="pl-PL" sz="2800" dirty="0"/>
              <a:t> Network:</a:t>
            </a:r>
            <a:br>
              <a:rPr lang="pl-PL" sz="2800" dirty="0"/>
            </a:br>
            <a:r>
              <a:rPr lang="en-GB" sz="3200" dirty="0"/>
              <a:t>1. Convolution</a:t>
            </a:r>
            <a:br>
              <a:rPr lang="en-GB" sz="3200" dirty="0"/>
            </a:br>
            <a:r>
              <a:rPr lang="en-GB" sz="3200" dirty="0"/>
              <a:t>2. Max pooling</a:t>
            </a:r>
            <a:br>
              <a:rPr lang="en-GB" sz="3200" dirty="0"/>
            </a:br>
            <a:r>
              <a:rPr lang="en-GB" sz="3200" dirty="0"/>
              <a:t>3. Regular neural network</a:t>
            </a:r>
          </a:p>
        </p:txBody>
      </p:sp>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5"/>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sp>
        <p:nvSpPr>
          <p:cNvPr id="2" name="Prostokąt 1">
            <a:extLst>
              <a:ext uri="{FF2B5EF4-FFF2-40B4-BE49-F238E27FC236}">
                <a16:creationId xmlns:a16="http://schemas.microsoft.com/office/drawing/2014/main" id="{C50CB4C4-80FB-FFB9-EB84-C6BD421FCB62}"/>
              </a:ext>
            </a:extLst>
          </p:cNvPr>
          <p:cNvSpPr/>
          <p:nvPr/>
        </p:nvSpPr>
        <p:spPr>
          <a:xfrm>
            <a:off x="1" y="97277"/>
            <a:ext cx="2811294" cy="6565241"/>
          </a:xfrm>
          <a:prstGeom prst="rect">
            <a:avLst/>
          </a:prstGeom>
          <a:noFill/>
          <a:ln w="76200">
            <a:solidFill>
              <a:srgbClr val="E91D12"/>
            </a:solidFill>
            <a:prstDash val="sysDot"/>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4" name="Prostokąt 3">
            <a:extLst>
              <a:ext uri="{FF2B5EF4-FFF2-40B4-BE49-F238E27FC236}">
                <a16:creationId xmlns:a16="http://schemas.microsoft.com/office/drawing/2014/main" id="{9F73632F-B524-9517-56C2-B4DF60F1213F}"/>
              </a:ext>
            </a:extLst>
          </p:cNvPr>
          <p:cNvSpPr/>
          <p:nvPr/>
        </p:nvSpPr>
        <p:spPr>
          <a:xfrm>
            <a:off x="2889115" y="97277"/>
            <a:ext cx="3511685" cy="3005846"/>
          </a:xfrm>
          <a:prstGeom prst="rect">
            <a:avLst/>
          </a:prstGeom>
          <a:noFill/>
          <a:ln w="76200">
            <a:solidFill>
              <a:schemeClr val="accent2"/>
            </a:solidFill>
            <a:prstDash val="sysDot"/>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6" name="Prostokąt 5">
            <a:extLst>
              <a:ext uri="{FF2B5EF4-FFF2-40B4-BE49-F238E27FC236}">
                <a16:creationId xmlns:a16="http://schemas.microsoft.com/office/drawing/2014/main" id="{3E092C45-7F70-C74D-08CD-B3A904DE04A8}"/>
              </a:ext>
            </a:extLst>
          </p:cNvPr>
          <p:cNvSpPr/>
          <p:nvPr/>
        </p:nvSpPr>
        <p:spPr>
          <a:xfrm>
            <a:off x="3391711" y="3103123"/>
            <a:ext cx="8800288" cy="3657600"/>
          </a:xfrm>
          <a:prstGeom prst="rect">
            <a:avLst/>
          </a:prstGeom>
          <a:noFill/>
          <a:ln w="76200">
            <a:solidFill>
              <a:schemeClr val="accent6"/>
            </a:solidFill>
            <a:prstDash val="sysDot"/>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526264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35C71DD2-5D60-93B0-35A4-9AE97C86B42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07" b="96640" l="1614" r="97997">
                        <a14:foregroundMark x1="45799" y1="50611" x2="36060" y2="55295"/>
                        <a14:foregroundMark x1="36060" y1="55295" x2="29661" y2="80143"/>
                        <a14:foregroundMark x1="29661" y1="80143" x2="47524" y2="87984"/>
                        <a14:foregroundMark x1="47524" y1="87984" x2="52031" y2="85642"/>
                        <a14:foregroundMark x1="99165" y1="98676" x2="1224" y2="88086"/>
                        <a14:foregroundMark x1="1224" y1="88086" x2="8347" y2="24542"/>
                        <a14:foregroundMark x1="8347" y1="24542" x2="34669" y2="5601"/>
                        <a14:foregroundMark x1="34669" y1="5601" x2="58875" y2="4777"/>
                        <a14:foregroundMark x1="94209" y1="19852" x2="93100" y2="83809"/>
                        <a14:foregroundMark x1="94303" y1="14415" x2="94248" y2="17561"/>
                        <a14:foregroundMark x1="94400" y1="8805" x2="94327" y2="12998"/>
                        <a14:foregroundMark x1="94491" y1="3564" x2="94467" y2="4942"/>
                        <a14:foregroundMark x1="98052" y1="8147" x2="97663" y2="96640"/>
                        <a14:foregroundMark x1="97997" y1="96029" x2="75014" y2="82790"/>
                        <a14:foregroundMark x1="75014" y1="82790" x2="70117" y2="72301"/>
                        <a14:foregroundMark x1="70117" y1="72301" x2="70061" y2="71690"/>
                        <a14:foregroundMark x1="60879" y1="42057" x2="29772" y2="18635"/>
                        <a14:foregroundMark x1="56706" y1="26986" x2="35114" y2="20672"/>
                        <a14:foregroundMark x1="49304" y1="10692" x2="31942" y2="37984"/>
                        <a14:foregroundMark x1="6127" y1="7718" x2="3339" y2="17923"/>
                        <a14:foregroundMark x1="3339" y1="17923" x2="1892" y2="76782"/>
                        <a14:foregroundMark x1="1892" y1="76782" x2="8347" y2="94196"/>
                        <a14:foregroundMark x1="8347" y1="94196" x2="9572" y2="95621"/>
                        <a14:foregroundMark x1="26822" y1="95927" x2="10351" y2="50611"/>
                        <a14:foregroundMark x1="10351" y1="50611" x2="8625" y2="47556"/>
                        <a14:foregroundMark x1="24263" y1="31263" x2="20701" y2="47454"/>
                        <a14:foregroundMark x1="20701" y1="47454" x2="1725" y2="78717"/>
                        <a14:foregroundMark x1="1725" y1="78717" x2="2059" y2="85438"/>
                        <a14:foregroundMark x1="18753" y1="95316" x2="2226" y2="62933"/>
                        <a14:foregroundMark x1="11464" y1="58961" x2="5565" y2="87373"/>
                        <a14:foregroundMark x1="5565" y1="87373" x2="4953" y2="89206"/>
                        <a14:foregroundMark x1="19310" y1="96741" x2="1836" y2="77393"/>
                        <a14:foregroundMark x1="28102" y1="16497" x2="12076" y2="1018"/>
                        <a14:foregroundMark x1="24819" y1="1629" x2="8706" y2="1081"/>
                        <a14:foregroundMark x1="40957" y1="15173" x2="37173" y2="72403"/>
                        <a14:foregroundMark x1="73511" y1="25255" x2="85309" y2="96334"/>
                        <a14:foregroundMark x1="85309" y1="96334" x2="85364" y2="96334"/>
                        <a14:foregroundMark x1="60841" y1="19723" x2="34279" y2="30754"/>
                        <a14:foregroundMark x1="95826" y1="5193" x2="95451" y2="5349"/>
                        <a14:foregroundMark x1="34279" y1="30754" x2="15025" y2="67006"/>
                        <a14:foregroundMark x1="15025" y1="67006" x2="13801" y2="76375"/>
                        <a14:foregroundMark x1="13801" y1="76375" x2="13856" y2="76375"/>
                        <a14:foregroundMark x1="16694" y1="75356" x2="35114" y2="85743"/>
                        <a14:foregroundMark x1="35114" y1="85743" x2="81803" y2="83096"/>
                        <a14:foregroundMark x1="81803" y1="83096" x2="89705" y2="46843"/>
                        <a14:foregroundMark x1="89705" y1="46843" x2="54146" y2="44297"/>
                        <a14:foregroundMark x1="54146" y1="44297" x2="79967" y2="28717"/>
                        <a14:foregroundMark x1="79967" y1="28717" x2="34446" y2="38391"/>
                        <a14:foregroundMark x1="34446" y1="38391" x2="19254" y2="32892"/>
                        <a14:foregroundMark x1="19254" y1="32892" x2="24430" y2="15377"/>
                        <a14:foregroundMark x1="24430" y1="15377" x2="13300" y2="16293"/>
                        <a14:foregroundMark x1="13300" y1="16293" x2="13801" y2="71079"/>
                        <a14:foregroundMark x1="13801" y1="71079" x2="27546" y2="68330"/>
                        <a14:foregroundMark x1="27546" y1="68330" x2="72565" y2="81365"/>
                        <a14:foregroundMark x1="72565" y1="81365" x2="85309" y2="72301"/>
                        <a14:foregroundMark x1="85309" y1="72301" x2="84418" y2="63238"/>
                        <a14:foregroundMark x1="84418" y1="63238" x2="87184" y2="29629"/>
                        <a14:foregroundMark x1="62112" y1="23477" x2="39900" y2="47760"/>
                        <a14:foregroundMark x1="39900" y1="47760" x2="53756" y2="37780"/>
                        <a14:foregroundMark x1="73344" y1="79532" x2="70673" y2="58961"/>
                        <a14:foregroundMark x1="72788" y1="80244" x2="73957" y2="62933"/>
                        <a14:foregroundMark x1="9238" y1="611" x2="9182" y2="407"/>
                        <a14:foregroundMark x1="8625" y1="5804" x2="9572" y2="3055"/>
                        <a14:backgroundMark x1="7846" y1="1018" x2="4508" y2="6415"/>
                        <a14:backgroundMark x1="4508" y1="6415" x2="390" y2="3870"/>
                        <a14:backgroundMark x1="390" y1="3870" x2="4174" y2="713"/>
                        <a14:backgroundMark x1="4174" y1="713" x2="7735" y2="713"/>
                        <a14:backgroundMark x1="7568" y1="1629" x2="3172" y2="6925"/>
                        <a14:backgroundMark x1="3172" y1="6925" x2="612" y2="8147"/>
                        <a14:backgroundMark x1="0" y1="9470" x2="4841" y2="8350"/>
                        <a14:backgroundMark x1="4841" y1="8350" x2="8403" y2="3666"/>
                        <a14:backgroundMark x1="8403" y1="3666" x2="8459" y2="0"/>
                        <a14:backgroundMark x1="6956" y1="1018" x2="8292" y2="1324"/>
                        <a14:backgroundMark x1="6455" y1="2342" x2="3339" y2="6008"/>
                        <a14:backgroundMark x1="91987" y1="48574" x2="88314" y2="27699"/>
                        <a14:backgroundMark x1="88314" y1="27699" x2="86144" y2="21385"/>
                        <a14:backgroundMark x1="86144" y1="21385" x2="62437" y2="16701"/>
                        <a14:backgroundMark x1="62437" y1="16701" x2="62938" y2="7536"/>
                        <a14:backgroundMark x1="62938" y1="7536" x2="88815" y2="1629"/>
                        <a14:backgroundMark x1="88815" y1="1629" x2="93990" y2="3157"/>
                        <a14:backgroundMark x1="93990" y1="3157" x2="93990" y2="12525"/>
                        <a14:backgroundMark x1="93990" y1="12525" x2="89983" y2="20163"/>
                        <a14:backgroundMark x1="89983" y1="20163" x2="70339" y2="15275"/>
                        <a14:backgroundMark x1="70339" y1="15275" x2="90707" y2="4684"/>
                        <a14:backgroundMark x1="87869" y1="11507" x2="81413" y2="16904"/>
                        <a14:backgroundMark x1="81413" y1="16904" x2="79410" y2="9470"/>
                        <a14:backgroundMark x1="79410" y1="9470" x2="79410" y2="8350"/>
                        <a14:backgroundMark x1="89705" y1="5703" x2="75737" y2="16497"/>
                        <a14:backgroundMark x1="75737" y1="16497" x2="75626" y2="16497"/>
                        <a14:backgroundMark x1="92766" y1="8859" x2="88703" y2="12322"/>
                        <a14:backgroundMark x1="88703" y1="12322" x2="62827" y2="18941"/>
                        <a14:backgroundMark x1="62827" y1="18941" x2="62326" y2="19450"/>
                        <a14:backgroundMark x1="59210" y1="7739" x2="64830" y2="4277"/>
                        <a14:backgroundMark x1="64830" y1="4277" x2="65442" y2="4175"/>
                        <a14:backgroundMark x1="92376" y1="4175" x2="89204" y2="8758"/>
                        <a14:backgroundMark x1="86144" y1="2444" x2="86422" y2="9369"/>
                        <a14:backgroundMark x1="88536" y1="2138" x2="85309" y2="8147"/>
                        <a14:backgroundMark x1="94324" y1="4684" x2="83194" y2="18228"/>
                        <a14:backgroundMark x1="89705" y1="23625" x2="80634" y2="18839"/>
                        <a14:backgroundMark x1="80634" y1="18839" x2="77407" y2="13646"/>
                        <a14:backgroundMark x1="77407" y1="13646" x2="79243" y2="10896"/>
                        <a14:backgroundMark x1="87145" y1="3971" x2="83361" y2="4990"/>
                        <a14:backgroundMark x1="91208" y1="3666" x2="87924" y2="3768"/>
                        <a14:backgroundMark x1="73623" y1="5397" x2="63662" y2="5397"/>
                        <a14:backgroundMark x1="63662" y1="5397" x2="63328" y2="4990"/>
                        <a14:backgroundMark x1="61213" y1="4481" x2="66945" y2="3666"/>
                        <a14:backgroundMark x1="62549" y1="7739" x2="64552" y2="14868"/>
                        <a14:backgroundMark x1="64552" y1="14868" x2="69338" y2="22505"/>
                        <a14:backgroundMark x1="69338" y1="22505" x2="70785" y2="23320"/>
                        <a14:backgroundMark x1="68058" y1="20468" x2="62437" y2="17108"/>
                        <a14:backgroundMark x1="62437" y1="17108" x2="61491" y2="15479"/>
                        <a14:backgroundMark x1="84252" y1="14155" x2="86477" y2="18126"/>
                        <a14:backgroundMark x1="92098" y1="48574" x2="86311" y2="25866"/>
                        <a14:backgroundMark x1="86311" y1="25866" x2="86088" y2="20978"/>
                        <a14:backgroundMark x1="86088" y1="20163" x2="87145" y2="28411"/>
                        <a14:backgroundMark x1="87145" y1="28411" x2="87924" y2="29633"/>
                        <a14:backgroundMark x1="92376" y1="45418" x2="89204" y2="35336"/>
                        <a14:backgroundMark x1="89204" y1="35336" x2="88648" y2="35031"/>
                        <a14:backgroundMark x1="59766" y1="3666" x2="60267" y2="12831"/>
                        <a14:backgroundMark x1="60267" y1="12831" x2="62493" y2="22403"/>
                        <a14:backgroundMark x1="62493" y1="22403" x2="79299" y2="23320"/>
                        <a14:backgroundMark x1="79299" y1="23320" x2="90262" y2="23014"/>
                        <a14:backgroundMark x1="90262" y1="23014" x2="95326" y2="17515"/>
                        <a14:backgroundMark x1="95326" y1="17515" x2="95604" y2="7536"/>
                        <a14:backgroundMark x1="95604" y1="7536" x2="60100" y2="3157"/>
                        <a14:backgroundMark x1="60100" y1="3157" x2="59655" y2="3157"/>
                        <a14:backgroundMark x1="69171" y1="18635" x2="62159" y2="19959"/>
                        <a14:backgroundMark x1="61380" y1="4990" x2="59989" y2="4786"/>
                        <a14:backgroundMark x1="7902" y1="6823" x2="7513" y2="4990"/>
                      </a14:backgroundRemoval>
                    </a14:imgEffect>
                  </a14:imgLayer>
                </a14:imgProps>
              </a:ext>
            </a:extLst>
          </a:blip>
          <a:stretch>
            <a:fillRect/>
          </a:stretch>
        </p:blipFill>
        <p:spPr>
          <a:xfrm>
            <a:off x="0" y="195482"/>
            <a:ext cx="12192000" cy="6662518"/>
          </a:xfrm>
          <a:prstGeom prst="rect">
            <a:avLst/>
          </a:prstGeom>
        </p:spPr>
      </p:pic>
      <p:sp>
        <p:nvSpPr>
          <p:cNvPr id="5" name="Tytuł 4">
            <a:extLst>
              <a:ext uri="{FF2B5EF4-FFF2-40B4-BE49-F238E27FC236}">
                <a16:creationId xmlns:a16="http://schemas.microsoft.com/office/drawing/2014/main" id="{749658E0-488D-D737-61C2-9604F6D54FC1}"/>
              </a:ext>
            </a:extLst>
          </p:cNvPr>
          <p:cNvSpPr>
            <a:spLocks noGrp="1"/>
          </p:cNvSpPr>
          <p:nvPr>
            <p:ph type="title"/>
          </p:nvPr>
        </p:nvSpPr>
        <p:spPr>
          <a:xfrm>
            <a:off x="7529209" y="-1"/>
            <a:ext cx="4662791" cy="2091448"/>
          </a:xfrm>
        </p:spPr>
        <p:txBody>
          <a:bodyPr>
            <a:noAutofit/>
          </a:bodyPr>
          <a:lstStyle/>
          <a:p>
            <a:pPr algn="ctr"/>
            <a:r>
              <a:rPr lang="pl-PL" sz="2800" dirty="0" err="1"/>
              <a:t>Convolutional</a:t>
            </a:r>
            <a:r>
              <a:rPr lang="pl-PL" sz="2800" dirty="0"/>
              <a:t> </a:t>
            </a:r>
            <a:r>
              <a:rPr lang="pl-PL" sz="2800" dirty="0" err="1"/>
              <a:t>Neural</a:t>
            </a:r>
            <a:r>
              <a:rPr lang="pl-PL" sz="2800" dirty="0"/>
              <a:t> Network:</a:t>
            </a:r>
            <a:br>
              <a:rPr lang="pl-PL" sz="2800" dirty="0"/>
            </a:br>
            <a:r>
              <a:rPr lang="en-GB" sz="3200" b="1" u="sng" dirty="0"/>
              <a:t>1. Convolution</a:t>
            </a:r>
            <a:br>
              <a:rPr lang="en-GB" sz="3200" dirty="0"/>
            </a:br>
            <a:r>
              <a:rPr lang="en-GB" sz="3200" dirty="0"/>
              <a:t>2. Max pooling</a:t>
            </a:r>
            <a:br>
              <a:rPr lang="en-GB" sz="3200" dirty="0"/>
            </a:br>
            <a:r>
              <a:rPr lang="en-GB" sz="3200" dirty="0"/>
              <a:t>3. Regular neural network</a:t>
            </a:r>
          </a:p>
        </p:txBody>
      </p:sp>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5"/>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sp>
        <p:nvSpPr>
          <p:cNvPr id="2" name="Prostokąt 1">
            <a:extLst>
              <a:ext uri="{FF2B5EF4-FFF2-40B4-BE49-F238E27FC236}">
                <a16:creationId xmlns:a16="http://schemas.microsoft.com/office/drawing/2014/main" id="{C50CB4C4-80FB-FFB9-EB84-C6BD421FCB62}"/>
              </a:ext>
            </a:extLst>
          </p:cNvPr>
          <p:cNvSpPr/>
          <p:nvPr/>
        </p:nvSpPr>
        <p:spPr>
          <a:xfrm>
            <a:off x="1" y="97277"/>
            <a:ext cx="2811294" cy="6565241"/>
          </a:xfrm>
          <a:prstGeom prst="rect">
            <a:avLst/>
          </a:prstGeom>
          <a:noFill/>
          <a:ln w="76200">
            <a:solidFill>
              <a:srgbClr val="E91D12"/>
            </a:solidFill>
            <a:prstDash val="sysDot"/>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4" name="Prostokąt 3">
            <a:extLst>
              <a:ext uri="{FF2B5EF4-FFF2-40B4-BE49-F238E27FC236}">
                <a16:creationId xmlns:a16="http://schemas.microsoft.com/office/drawing/2014/main" id="{9F73632F-B524-9517-56C2-B4DF60F1213F}"/>
              </a:ext>
            </a:extLst>
          </p:cNvPr>
          <p:cNvSpPr/>
          <p:nvPr/>
        </p:nvSpPr>
        <p:spPr>
          <a:xfrm>
            <a:off x="2889115" y="97277"/>
            <a:ext cx="3511685" cy="3005846"/>
          </a:xfrm>
          <a:prstGeom prst="rect">
            <a:avLst/>
          </a:prstGeom>
          <a:noFill/>
          <a:ln w="76200">
            <a:solidFill>
              <a:schemeClr val="accent2"/>
            </a:solidFill>
            <a:prstDash val="sysDot"/>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6" name="Prostokąt 5">
            <a:extLst>
              <a:ext uri="{FF2B5EF4-FFF2-40B4-BE49-F238E27FC236}">
                <a16:creationId xmlns:a16="http://schemas.microsoft.com/office/drawing/2014/main" id="{3E092C45-7F70-C74D-08CD-B3A904DE04A8}"/>
              </a:ext>
            </a:extLst>
          </p:cNvPr>
          <p:cNvSpPr/>
          <p:nvPr/>
        </p:nvSpPr>
        <p:spPr>
          <a:xfrm>
            <a:off x="3391711" y="3103123"/>
            <a:ext cx="8800288" cy="3657600"/>
          </a:xfrm>
          <a:prstGeom prst="rect">
            <a:avLst/>
          </a:prstGeom>
          <a:noFill/>
          <a:ln w="76200">
            <a:solidFill>
              <a:schemeClr val="accent6"/>
            </a:solidFill>
            <a:prstDash val="sysDot"/>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7" name="Strzałka: w dół 6">
            <a:extLst>
              <a:ext uri="{FF2B5EF4-FFF2-40B4-BE49-F238E27FC236}">
                <a16:creationId xmlns:a16="http://schemas.microsoft.com/office/drawing/2014/main" id="{A069150C-F60C-D582-05C6-448D3F813AAA}"/>
              </a:ext>
            </a:extLst>
          </p:cNvPr>
          <p:cNvSpPr/>
          <p:nvPr/>
        </p:nvSpPr>
        <p:spPr>
          <a:xfrm rot="2804756">
            <a:off x="2371908" y="1481912"/>
            <a:ext cx="2106934" cy="2103631"/>
          </a:xfrm>
          <a:prstGeom prst="down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80810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raz 5">
            <a:extLst>
              <a:ext uri="{FF2B5EF4-FFF2-40B4-BE49-F238E27FC236}">
                <a16:creationId xmlns:a16="http://schemas.microsoft.com/office/drawing/2014/main" id="{BEBCCF04-6945-0465-8CD3-638948BD8D0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494" b="99770" l="166" r="98559">
                        <a14:foregroundMark x1="12140" y1="11379" x2="12694" y2="38276"/>
                        <a14:foregroundMark x1="12694" y1="38276" x2="46674" y2="50920"/>
                        <a14:foregroundMark x1="46674" y1="50920" x2="26940" y2="56552"/>
                        <a14:foregroundMark x1="26940" y1="56552" x2="46452" y2="80805"/>
                        <a14:foregroundMark x1="46452" y1="80805" x2="86807" y2="77931"/>
                        <a14:foregroundMark x1="86807" y1="77931" x2="87140" y2="89540"/>
                        <a14:foregroundMark x1="87140" y1="89540" x2="80155" y2="73908"/>
                        <a14:foregroundMark x1="80155" y1="73908" x2="88581" y2="58046"/>
                        <a14:foregroundMark x1="88581" y1="58046" x2="84922" y2="26322"/>
                        <a14:foregroundMark x1="84922" y1="26322" x2="88340" y2="21125"/>
                        <a14:foregroundMark x1="80597" y1="20904" x2="37749" y2="35402"/>
                        <a14:foregroundMark x1="37749" y1="35402" x2="14690" y2="21954"/>
                        <a14:foregroundMark x1="14690" y1="21954" x2="9035" y2="10115"/>
                        <a14:foregroundMark x1="9035" y1="10115" x2="2162" y2="13563"/>
                        <a14:foregroundMark x1="2162" y1="13563" x2="9978" y2="11149"/>
                        <a14:foregroundMark x1="9978" y1="11149" x2="9590" y2="27931"/>
                        <a14:foregroundMark x1="9590" y1="27931" x2="2772" y2="34138"/>
                        <a14:foregroundMark x1="2772" y1="34138" x2="2217" y2="43448"/>
                        <a14:foregroundMark x1="2217" y1="43448" x2="4878" y2="79080"/>
                        <a14:foregroundMark x1="4878" y1="79080" x2="15687" y2="87241"/>
                        <a14:foregroundMark x1="15687" y1="87241" x2="68902" y2="76437"/>
                        <a14:foregroundMark x1="68902" y1="76437" x2="65798" y2="82989"/>
                        <a14:foregroundMark x1="65798" y1="82989" x2="89191" y2="88276"/>
                        <a14:foregroundMark x1="89191" y1="88276" x2="50055" y2="94138"/>
                        <a14:foregroundMark x1="50055" y1="94138" x2="74113" y2="91954"/>
                        <a14:foregroundMark x1="74113" y1="91954" x2="87583" y2="46552"/>
                        <a14:foregroundMark x1="87583" y1="46552" x2="82206" y2="43908"/>
                        <a14:foregroundMark x1="82206" y1="43908" x2="76996" y2="34483"/>
                        <a14:foregroundMark x1="76996" y1="34483" x2="48503" y2="21264"/>
                        <a14:foregroundMark x1="48503" y1="21264" x2="50222" y2="6322"/>
                        <a14:foregroundMark x1="50222" y1="6322" x2="72417" y2="3008"/>
                        <a14:foregroundMark x1="96871" y1="16873" x2="97949" y2="92414"/>
                        <a14:foregroundMark x1="97949" y1="92414" x2="44180" y2="93563"/>
                        <a14:foregroundMark x1="44180" y1="93563" x2="18293" y2="80115"/>
                        <a14:foregroundMark x1="18293" y1="80115" x2="18404" y2="46322"/>
                        <a14:foregroundMark x1="18404" y1="46322" x2="15244" y2="22414"/>
                        <a14:foregroundMark x1="15244" y1="22414" x2="16962" y2="3908"/>
                        <a14:foregroundMark x1="16962" y1="3908" x2="24612" y2="3678"/>
                        <a14:foregroundMark x1="24612" y1="3678" x2="5432" y2="5747"/>
                        <a14:foregroundMark x1="27384" y1="3103" x2="36197" y2="41494"/>
                        <a14:foregroundMark x1="51220" y1="14023" x2="14468" y2="27126"/>
                        <a14:foregroundMark x1="11197" y1="39770" x2="43958" y2="96552"/>
                        <a14:foregroundMark x1="52882" y1="34368" x2="55155" y2="85862"/>
                        <a14:foregroundMark x1="83703" y1="26092" x2="76829" y2="47931"/>
                        <a14:foregroundMark x1="76829" y1="47931" x2="54601" y2="74023"/>
                        <a14:foregroundMark x1="54601" y1="74023" x2="45011" y2="70920"/>
                        <a14:foregroundMark x1="37251" y1="61494" x2="90078" y2="59310"/>
                        <a14:foregroundMark x1="89135" y1="54598" x2="38193" y2="48966"/>
                        <a14:foregroundMark x1="45621" y1="24713" x2="75388" y2="18161"/>
                        <a14:foregroundMark x1="73630" y1="10836" x2="31763" y2="7356"/>
                        <a14:foregroundMark x1="24279" y1="5057" x2="61918" y2="2759"/>
                        <a14:foregroundMark x1="61918" y1="2759" x2="66131" y2="2759"/>
                        <a14:foregroundMark x1="68404" y1="3103" x2="6541" y2="1954"/>
                        <a14:foregroundMark x1="4157" y1="2299" x2="2605" y2="84713"/>
                        <a14:foregroundMark x1="2605" y1="84713" x2="32594" y2="98161"/>
                        <a14:foregroundMark x1="32594" y1="98161" x2="52882" y2="96782"/>
                        <a14:foregroundMark x1="52882" y1="96782" x2="69678" y2="97931"/>
                        <a14:foregroundMark x1="69678" y1="97931" x2="98725" y2="94598"/>
                        <a14:foregroundMark x1="98725" y1="94598" x2="98559" y2="70805"/>
                        <a14:foregroundMark x1="98559" y1="70805" x2="92960" y2="29080"/>
                        <a14:foregroundMark x1="78485" y1="17925" x2="52217" y2="39540"/>
                        <a14:foregroundMark x1="52217" y1="39540" x2="49390" y2="47241"/>
                        <a14:foregroundMark x1="36863" y1="21954" x2="52882" y2="53678"/>
                        <a14:foregroundMark x1="50721" y1="26552" x2="80820" y2="58736"/>
                        <a14:foregroundMark x1="84257" y1="38391" x2="62528" y2="36322"/>
                        <a14:foregroundMark x1="86641" y1="45172" x2="94235" y2="84023"/>
                        <a14:foregroundMark x1="97506" y1="49540" x2="97284" y2="78161"/>
                        <a14:foregroundMark x1="97284" y1="78161" x2="96951" y2="78736"/>
                        <a14:foregroundMark x1="71341" y1="85632" x2="56319" y2="93448"/>
                        <a14:foregroundMark x1="56319" y1="93448" x2="49446" y2="92414"/>
                        <a14:foregroundMark x1="50998" y1="83793" x2="58703" y2="99770"/>
                        <a14:foregroundMark x1="58703" y1="99770" x2="58703" y2="99770"/>
                        <a14:foregroundMark x1="60421" y1="78046" x2="55155" y2="99885"/>
                        <a14:foregroundMark x1="55155" y1="99885" x2="55155" y2="99885"/>
                        <a14:foregroundMark x1="26552" y1="92069" x2="166" y2="92989"/>
                        <a14:foregroundMark x1="9479" y1="51724" x2="6208" y2="36322"/>
                        <a14:foregroundMark x1="6208" y1="36322" x2="5987" y2="33218"/>
                        <a14:foregroundMark x1="21397" y1="29770" x2="33481" y2="31839"/>
                        <a14:foregroundMark x1="33481" y1="31839" x2="55931" y2="28851"/>
                        <a14:foregroundMark x1="72838" y1="31724" x2="88027" y2="61839"/>
                        <a14:foregroundMark x1="92794" y1="69885" x2="53548" y2="80000"/>
                        <a14:foregroundMark x1="53548" y1="80000" x2="52328" y2="79540"/>
                        <a14:backgroundMark x1="74335" y1="460" x2="78936" y2="14828"/>
                        <a14:backgroundMark x1="78936" y1="14828" x2="92295" y2="14368"/>
                        <a14:backgroundMark x1="92295" y1="14368" x2="96563" y2="6437"/>
                        <a14:backgroundMark x1="96563" y1="6437" x2="74058" y2="1609"/>
                        <a14:backgroundMark x1="95565" y1="15287" x2="90909" y2="14253"/>
                        <a14:backgroundMark x1="90909" y1="14253" x2="81929" y2="6207"/>
                        <a14:backgroundMark x1="81929" y1="6207" x2="92738" y2="460"/>
                        <a14:backgroundMark x1="92738" y1="460" x2="92960" y2="460"/>
                        <a14:backgroundMark x1="98004" y1="460" x2="78437" y2="4943"/>
                        <a14:backgroundMark x1="80599" y1="1724" x2="88747" y2="805"/>
                        <a14:backgroundMark x1="88747" y1="805" x2="89911" y2="805"/>
                        <a14:backgroundMark x1="95177" y1="5057" x2="77993" y2="13218"/>
                        <a14:backgroundMark x1="77993" y1="13218" x2="73891" y2="13563"/>
                        <a14:backgroundMark x1="75887" y1="1494" x2="90687" y2="15172"/>
                        <a14:backgroundMark x1="90687" y1="15172" x2="91519" y2="15632"/>
                        <a14:backgroundMark x1="73060" y1="2069" x2="78936" y2="16437"/>
                        <a14:backgroundMark x1="78936" y1="16437" x2="92849" y2="15862"/>
                        <a14:backgroundMark x1="92849" y1="15862" x2="96619" y2="13103"/>
                        <a14:backgroundMark x1="96619" y1="13103" x2="97506" y2="3908"/>
                        <a14:backgroundMark x1="97506" y1="3908" x2="72506" y2="1724"/>
                        <a14:backgroundMark x1="72395" y1="2759" x2="81929" y2="20805"/>
                        <a14:backgroundMark x1="81929" y1="20805" x2="94789" y2="18276"/>
                        <a14:backgroundMark x1="94789" y1="18276" x2="95787" y2="7931"/>
                        <a14:backgroundMark x1="95787" y1="7931" x2="85865" y2="460"/>
                        <a14:backgroundMark x1="85865" y1="460" x2="81042" y2="1149"/>
                        <a14:backgroundMark x1="73004" y1="7356" x2="78271" y2="15977"/>
                        <a14:backgroundMark x1="78271" y1="15977" x2="85144" y2="19310"/>
                        <a14:backgroundMark x1="85033" y1="9195" x2="85033" y2="20920"/>
                        <a14:backgroundMark x1="94623" y1="7011" x2="96341" y2="17241"/>
                        <a14:backgroundMark x1="96341" y1="17241" x2="93404" y2="17011"/>
                        <a14:backgroundMark x1="96120" y1="9885" x2="94457" y2="11724"/>
                        <a14:backgroundMark x1="97173" y1="4368" x2="96840" y2="1609"/>
                        <a14:backgroundMark x1="97007" y1="4138" x2="96286" y2="1609"/>
                        <a14:backgroundMark x1="97118" y1="2299" x2="97506" y2="5057"/>
                      </a14:backgroundRemoval>
                    </a14:imgEffect>
                  </a14:imgLayer>
                </a14:imgProps>
              </a:ext>
            </a:extLst>
          </a:blip>
          <a:stretch>
            <a:fillRect/>
          </a:stretch>
        </p:blipFill>
        <p:spPr>
          <a:xfrm>
            <a:off x="0" y="761506"/>
            <a:ext cx="12192000" cy="5879734"/>
          </a:xfrm>
          <a:prstGeom prst="rect">
            <a:avLst/>
          </a:prstGeom>
        </p:spPr>
      </p:pic>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5"/>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sp>
        <p:nvSpPr>
          <p:cNvPr id="8" name="Tytuł 4">
            <a:extLst>
              <a:ext uri="{FF2B5EF4-FFF2-40B4-BE49-F238E27FC236}">
                <a16:creationId xmlns:a16="http://schemas.microsoft.com/office/drawing/2014/main" id="{F30EC67A-3FC5-834D-119D-81F91B8F4A28}"/>
              </a:ext>
            </a:extLst>
          </p:cNvPr>
          <p:cNvSpPr>
            <a:spLocks noGrp="1"/>
          </p:cNvSpPr>
          <p:nvPr>
            <p:ph type="title"/>
          </p:nvPr>
        </p:nvSpPr>
        <p:spPr>
          <a:xfrm>
            <a:off x="7529209" y="-1"/>
            <a:ext cx="4662791" cy="2091448"/>
          </a:xfrm>
        </p:spPr>
        <p:txBody>
          <a:bodyPr>
            <a:noAutofit/>
          </a:bodyPr>
          <a:lstStyle/>
          <a:p>
            <a:pPr algn="ctr"/>
            <a:r>
              <a:rPr lang="pl-PL" sz="2800" dirty="0" err="1"/>
              <a:t>Convolutional</a:t>
            </a:r>
            <a:r>
              <a:rPr lang="pl-PL" sz="2800" dirty="0"/>
              <a:t> </a:t>
            </a:r>
            <a:r>
              <a:rPr lang="pl-PL" sz="2800" dirty="0" err="1"/>
              <a:t>Neural</a:t>
            </a:r>
            <a:r>
              <a:rPr lang="pl-PL" sz="2800" dirty="0"/>
              <a:t> Network:</a:t>
            </a:r>
            <a:br>
              <a:rPr lang="pl-PL" sz="2800" dirty="0"/>
            </a:br>
            <a:r>
              <a:rPr lang="en-GB" sz="3200" dirty="0"/>
              <a:t>1. Convolution</a:t>
            </a:r>
            <a:br>
              <a:rPr lang="pl-PL" sz="3200" dirty="0"/>
            </a:br>
            <a:br>
              <a:rPr lang="pl-PL" sz="3200" dirty="0"/>
            </a:br>
            <a:endParaRPr lang="en-GB" sz="3200" dirty="0"/>
          </a:p>
        </p:txBody>
      </p:sp>
    </p:spTree>
    <p:extLst>
      <p:ext uri="{BB962C8B-B14F-4D97-AF65-F5344CB8AC3E}">
        <p14:creationId xmlns:p14="http://schemas.microsoft.com/office/powerpoint/2010/main" val="661130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raz 5">
            <a:extLst>
              <a:ext uri="{FF2B5EF4-FFF2-40B4-BE49-F238E27FC236}">
                <a16:creationId xmlns:a16="http://schemas.microsoft.com/office/drawing/2014/main" id="{BEBCCF04-6945-0465-8CD3-638948BD8D0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494" b="99770" l="166" r="98559">
                        <a14:foregroundMark x1="12140" y1="11379" x2="12694" y2="38276"/>
                        <a14:foregroundMark x1="12694" y1="38276" x2="46674" y2="50920"/>
                        <a14:foregroundMark x1="46674" y1="50920" x2="26940" y2="56552"/>
                        <a14:foregroundMark x1="26940" y1="56552" x2="46452" y2="80805"/>
                        <a14:foregroundMark x1="46452" y1="80805" x2="86807" y2="77931"/>
                        <a14:foregroundMark x1="86807" y1="77931" x2="87140" y2="89540"/>
                        <a14:foregroundMark x1="87140" y1="89540" x2="80155" y2="73908"/>
                        <a14:foregroundMark x1="80155" y1="73908" x2="88581" y2="58046"/>
                        <a14:foregroundMark x1="88581" y1="58046" x2="84922" y2="26322"/>
                        <a14:foregroundMark x1="84922" y1="26322" x2="88340" y2="21125"/>
                        <a14:foregroundMark x1="80597" y1="20904" x2="37749" y2="35402"/>
                        <a14:foregroundMark x1="37749" y1="35402" x2="14690" y2="21954"/>
                        <a14:foregroundMark x1="14690" y1="21954" x2="9035" y2="10115"/>
                        <a14:foregroundMark x1="9035" y1="10115" x2="2162" y2="13563"/>
                        <a14:foregroundMark x1="2162" y1="13563" x2="9978" y2="11149"/>
                        <a14:foregroundMark x1="9978" y1="11149" x2="9590" y2="27931"/>
                        <a14:foregroundMark x1="9590" y1="27931" x2="2772" y2="34138"/>
                        <a14:foregroundMark x1="2772" y1="34138" x2="2217" y2="43448"/>
                        <a14:foregroundMark x1="2217" y1="43448" x2="4878" y2="79080"/>
                        <a14:foregroundMark x1="4878" y1="79080" x2="15687" y2="87241"/>
                        <a14:foregroundMark x1="15687" y1="87241" x2="68902" y2="76437"/>
                        <a14:foregroundMark x1="68902" y1="76437" x2="65798" y2="82989"/>
                        <a14:foregroundMark x1="65798" y1="82989" x2="89191" y2="88276"/>
                        <a14:foregroundMark x1="89191" y1="88276" x2="50055" y2="94138"/>
                        <a14:foregroundMark x1="50055" y1="94138" x2="74113" y2="91954"/>
                        <a14:foregroundMark x1="74113" y1="91954" x2="87583" y2="46552"/>
                        <a14:foregroundMark x1="87583" y1="46552" x2="82206" y2="43908"/>
                        <a14:foregroundMark x1="82206" y1="43908" x2="76996" y2="34483"/>
                        <a14:foregroundMark x1="76996" y1="34483" x2="48503" y2="21264"/>
                        <a14:foregroundMark x1="48503" y1="21264" x2="50222" y2="6322"/>
                        <a14:foregroundMark x1="50222" y1="6322" x2="72417" y2="3008"/>
                        <a14:foregroundMark x1="96871" y1="16873" x2="97949" y2="92414"/>
                        <a14:foregroundMark x1="97949" y1="92414" x2="44180" y2="93563"/>
                        <a14:foregroundMark x1="44180" y1="93563" x2="18293" y2="80115"/>
                        <a14:foregroundMark x1="18293" y1="80115" x2="18404" y2="46322"/>
                        <a14:foregroundMark x1="18404" y1="46322" x2="15244" y2="22414"/>
                        <a14:foregroundMark x1="15244" y1="22414" x2="16962" y2="3908"/>
                        <a14:foregroundMark x1="16962" y1="3908" x2="24612" y2="3678"/>
                        <a14:foregroundMark x1="24612" y1="3678" x2="5432" y2="5747"/>
                        <a14:foregroundMark x1="27384" y1="3103" x2="36197" y2="41494"/>
                        <a14:foregroundMark x1="51220" y1="14023" x2="14468" y2="27126"/>
                        <a14:foregroundMark x1="11197" y1="39770" x2="43958" y2="96552"/>
                        <a14:foregroundMark x1="52882" y1="34368" x2="55155" y2="85862"/>
                        <a14:foregroundMark x1="83703" y1="26092" x2="76829" y2="47931"/>
                        <a14:foregroundMark x1="76829" y1="47931" x2="54601" y2="74023"/>
                        <a14:foregroundMark x1="54601" y1="74023" x2="45011" y2="70920"/>
                        <a14:foregroundMark x1="37251" y1="61494" x2="90078" y2="59310"/>
                        <a14:foregroundMark x1="89135" y1="54598" x2="38193" y2="48966"/>
                        <a14:foregroundMark x1="45621" y1="24713" x2="75388" y2="18161"/>
                        <a14:foregroundMark x1="73630" y1="10836" x2="31763" y2="7356"/>
                        <a14:foregroundMark x1="24279" y1="5057" x2="61918" y2="2759"/>
                        <a14:foregroundMark x1="61918" y1="2759" x2="66131" y2="2759"/>
                        <a14:foregroundMark x1="68404" y1="3103" x2="6541" y2="1954"/>
                        <a14:foregroundMark x1="4157" y1="2299" x2="2605" y2="84713"/>
                        <a14:foregroundMark x1="2605" y1="84713" x2="32594" y2="98161"/>
                        <a14:foregroundMark x1="32594" y1="98161" x2="52882" y2="96782"/>
                        <a14:foregroundMark x1="52882" y1="96782" x2="69678" y2="97931"/>
                        <a14:foregroundMark x1="69678" y1="97931" x2="98725" y2="94598"/>
                        <a14:foregroundMark x1="98725" y1="94598" x2="98559" y2="70805"/>
                        <a14:foregroundMark x1="98559" y1="70805" x2="92960" y2="29080"/>
                        <a14:foregroundMark x1="78485" y1="17925" x2="52217" y2="39540"/>
                        <a14:foregroundMark x1="52217" y1="39540" x2="49390" y2="47241"/>
                        <a14:foregroundMark x1="36863" y1="21954" x2="52882" y2="53678"/>
                        <a14:foregroundMark x1="50721" y1="26552" x2="80820" y2="58736"/>
                        <a14:foregroundMark x1="84257" y1="38391" x2="62528" y2="36322"/>
                        <a14:foregroundMark x1="86641" y1="45172" x2="94235" y2="84023"/>
                        <a14:foregroundMark x1="97506" y1="49540" x2="97284" y2="78161"/>
                        <a14:foregroundMark x1="97284" y1="78161" x2="96951" y2="78736"/>
                        <a14:foregroundMark x1="71341" y1="85632" x2="56319" y2="93448"/>
                        <a14:foregroundMark x1="56319" y1="93448" x2="49446" y2="92414"/>
                        <a14:foregroundMark x1="50998" y1="83793" x2="58703" y2="99770"/>
                        <a14:foregroundMark x1="58703" y1="99770" x2="58703" y2="99770"/>
                        <a14:foregroundMark x1="60421" y1="78046" x2="55155" y2="99885"/>
                        <a14:foregroundMark x1="55155" y1="99885" x2="55155" y2="99885"/>
                        <a14:foregroundMark x1="26552" y1="92069" x2="166" y2="92989"/>
                        <a14:foregroundMark x1="9479" y1="51724" x2="6208" y2="36322"/>
                        <a14:foregroundMark x1="6208" y1="36322" x2="5987" y2="33218"/>
                        <a14:foregroundMark x1="21397" y1="29770" x2="33481" y2="31839"/>
                        <a14:foregroundMark x1="33481" y1="31839" x2="55931" y2="28851"/>
                        <a14:foregroundMark x1="72838" y1="31724" x2="88027" y2="61839"/>
                        <a14:foregroundMark x1="92794" y1="69885" x2="53548" y2="80000"/>
                        <a14:foregroundMark x1="53548" y1="80000" x2="52328" y2="79540"/>
                        <a14:backgroundMark x1="74335" y1="460" x2="78936" y2="14828"/>
                        <a14:backgroundMark x1="78936" y1="14828" x2="92295" y2="14368"/>
                        <a14:backgroundMark x1="92295" y1="14368" x2="96563" y2="6437"/>
                        <a14:backgroundMark x1="96563" y1="6437" x2="74058" y2="1609"/>
                        <a14:backgroundMark x1="95565" y1="15287" x2="90909" y2="14253"/>
                        <a14:backgroundMark x1="90909" y1="14253" x2="81929" y2="6207"/>
                        <a14:backgroundMark x1="81929" y1="6207" x2="92738" y2="460"/>
                        <a14:backgroundMark x1="92738" y1="460" x2="92960" y2="460"/>
                        <a14:backgroundMark x1="98004" y1="460" x2="78437" y2="4943"/>
                        <a14:backgroundMark x1="80599" y1="1724" x2="88747" y2="805"/>
                        <a14:backgroundMark x1="88747" y1="805" x2="89911" y2="805"/>
                        <a14:backgroundMark x1="95177" y1="5057" x2="77993" y2="13218"/>
                        <a14:backgroundMark x1="77993" y1="13218" x2="73891" y2="13563"/>
                        <a14:backgroundMark x1="75887" y1="1494" x2="90687" y2="15172"/>
                        <a14:backgroundMark x1="90687" y1="15172" x2="91519" y2="15632"/>
                        <a14:backgroundMark x1="73060" y1="2069" x2="78936" y2="16437"/>
                        <a14:backgroundMark x1="78936" y1="16437" x2="92849" y2="15862"/>
                        <a14:backgroundMark x1="92849" y1="15862" x2="96619" y2="13103"/>
                        <a14:backgroundMark x1="96619" y1="13103" x2="97506" y2="3908"/>
                        <a14:backgroundMark x1="97506" y1="3908" x2="72506" y2="1724"/>
                        <a14:backgroundMark x1="72395" y1="2759" x2="81929" y2="20805"/>
                        <a14:backgroundMark x1="81929" y1="20805" x2="94789" y2="18276"/>
                        <a14:backgroundMark x1="94789" y1="18276" x2="95787" y2="7931"/>
                        <a14:backgroundMark x1="95787" y1="7931" x2="85865" y2="460"/>
                        <a14:backgroundMark x1="85865" y1="460" x2="81042" y2="1149"/>
                        <a14:backgroundMark x1="73004" y1="7356" x2="78271" y2="15977"/>
                        <a14:backgroundMark x1="78271" y1="15977" x2="85144" y2="19310"/>
                        <a14:backgroundMark x1="85033" y1="9195" x2="85033" y2="20920"/>
                        <a14:backgroundMark x1="94623" y1="7011" x2="96341" y2="17241"/>
                        <a14:backgroundMark x1="96341" y1="17241" x2="93404" y2="17011"/>
                        <a14:backgroundMark x1="96120" y1="9885" x2="94457" y2="11724"/>
                        <a14:backgroundMark x1="97173" y1="4368" x2="96840" y2="1609"/>
                        <a14:backgroundMark x1="97007" y1="4138" x2="96286" y2="1609"/>
                        <a14:backgroundMark x1="97118" y1="2299" x2="97506" y2="5057"/>
                      </a14:backgroundRemoval>
                    </a14:imgEffect>
                  </a14:imgLayer>
                </a14:imgProps>
              </a:ext>
            </a:extLst>
          </a:blip>
          <a:stretch>
            <a:fillRect/>
          </a:stretch>
        </p:blipFill>
        <p:spPr>
          <a:xfrm>
            <a:off x="0" y="761506"/>
            <a:ext cx="12192000" cy="5879734"/>
          </a:xfrm>
          <a:prstGeom prst="rect">
            <a:avLst/>
          </a:prstGeom>
        </p:spPr>
      </p:pic>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5"/>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pic>
        <p:nvPicPr>
          <p:cNvPr id="10" name="Obraz 9">
            <a:extLst>
              <a:ext uri="{FF2B5EF4-FFF2-40B4-BE49-F238E27FC236}">
                <a16:creationId xmlns:a16="http://schemas.microsoft.com/office/drawing/2014/main" id="{54FBBEC3-E6DB-39B5-E075-D127CDC4E620}"/>
              </a:ext>
            </a:extLst>
          </p:cNvPr>
          <p:cNvPicPr>
            <a:picLocks noChangeAspect="1"/>
          </p:cNvPicPr>
          <p:nvPr/>
        </p:nvPicPr>
        <p:blipFill rotWithShape="1">
          <a:blip r:embed="rId6"/>
          <a:srcRect t="22419" r="70481"/>
          <a:stretch/>
        </p:blipFill>
        <p:spPr>
          <a:xfrm>
            <a:off x="938482" y="1553592"/>
            <a:ext cx="2000028" cy="2028942"/>
          </a:xfrm>
          <a:prstGeom prst="rect">
            <a:avLst/>
          </a:prstGeom>
        </p:spPr>
      </p:pic>
      <p:pic>
        <p:nvPicPr>
          <p:cNvPr id="2" name="Obraz 1">
            <a:extLst>
              <a:ext uri="{FF2B5EF4-FFF2-40B4-BE49-F238E27FC236}">
                <a16:creationId xmlns:a16="http://schemas.microsoft.com/office/drawing/2014/main" id="{8B35EBEC-3AB2-F6B6-E4F5-46ADD35FFEF6}"/>
              </a:ext>
            </a:extLst>
          </p:cNvPr>
          <p:cNvPicPr>
            <a:picLocks noChangeAspect="1"/>
          </p:cNvPicPr>
          <p:nvPr/>
        </p:nvPicPr>
        <p:blipFill rotWithShape="1">
          <a:blip r:embed="rId6"/>
          <a:srcRect l="68602" t="22419"/>
          <a:stretch/>
        </p:blipFill>
        <p:spPr>
          <a:xfrm>
            <a:off x="9463596" y="3922966"/>
            <a:ext cx="2127274" cy="2028943"/>
          </a:xfrm>
          <a:prstGeom prst="rect">
            <a:avLst/>
          </a:prstGeom>
        </p:spPr>
      </p:pic>
      <p:sp>
        <p:nvSpPr>
          <p:cNvPr id="5" name="Tytuł 4">
            <a:extLst>
              <a:ext uri="{FF2B5EF4-FFF2-40B4-BE49-F238E27FC236}">
                <a16:creationId xmlns:a16="http://schemas.microsoft.com/office/drawing/2014/main" id="{D6F3E0BF-D493-5260-900F-CC22B9E7994F}"/>
              </a:ext>
            </a:extLst>
          </p:cNvPr>
          <p:cNvSpPr>
            <a:spLocks noGrp="1"/>
          </p:cNvSpPr>
          <p:nvPr>
            <p:ph type="title"/>
          </p:nvPr>
        </p:nvSpPr>
        <p:spPr>
          <a:xfrm>
            <a:off x="7529209" y="-1"/>
            <a:ext cx="4662791" cy="2091448"/>
          </a:xfrm>
        </p:spPr>
        <p:txBody>
          <a:bodyPr>
            <a:noAutofit/>
          </a:bodyPr>
          <a:lstStyle/>
          <a:p>
            <a:pPr algn="ctr"/>
            <a:r>
              <a:rPr lang="pl-PL" sz="2800" dirty="0" err="1"/>
              <a:t>Convolutional</a:t>
            </a:r>
            <a:r>
              <a:rPr lang="pl-PL" sz="2800" dirty="0"/>
              <a:t> </a:t>
            </a:r>
            <a:r>
              <a:rPr lang="pl-PL" sz="2800" dirty="0" err="1"/>
              <a:t>Neural</a:t>
            </a:r>
            <a:r>
              <a:rPr lang="pl-PL" sz="2800" dirty="0"/>
              <a:t> Network:</a:t>
            </a:r>
            <a:br>
              <a:rPr lang="pl-PL" sz="2800" dirty="0"/>
            </a:br>
            <a:r>
              <a:rPr lang="en-GB" sz="3200" dirty="0"/>
              <a:t>1. Convolution</a:t>
            </a:r>
            <a:br>
              <a:rPr lang="pl-PL" sz="3200" dirty="0"/>
            </a:br>
            <a:br>
              <a:rPr lang="pl-PL" sz="3200" dirty="0"/>
            </a:br>
            <a:endParaRPr lang="en-GB" sz="3200" dirty="0"/>
          </a:p>
        </p:txBody>
      </p:sp>
    </p:spTree>
    <p:extLst>
      <p:ext uri="{BB962C8B-B14F-4D97-AF65-F5344CB8AC3E}">
        <p14:creationId xmlns:p14="http://schemas.microsoft.com/office/powerpoint/2010/main" val="302857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raz 5">
            <a:extLst>
              <a:ext uri="{FF2B5EF4-FFF2-40B4-BE49-F238E27FC236}">
                <a16:creationId xmlns:a16="http://schemas.microsoft.com/office/drawing/2014/main" id="{BEBCCF04-6945-0465-8CD3-638948BD8D07}"/>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1494" b="99770" l="166" r="98559">
                        <a14:foregroundMark x1="12140" y1="11379" x2="12694" y2="38276"/>
                        <a14:foregroundMark x1="12694" y1="38276" x2="46674" y2="50920"/>
                        <a14:foregroundMark x1="46674" y1="50920" x2="26940" y2="56552"/>
                        <a14:foregroundMark x1="26940" y1="56552" x2="46452" y2="80805"/>
                        <a14:foregroundMark x1="46452" y1="80805" x2="86807" y2="77931"/>
                        <a14:foregroundMark x1="86807" y1="77931" x2="87140" y2="89540"/>
                        <a14:foregroundMark x1="87140" y1="89540" x2="80155" y2="73908"/>
                        <a14:foregroundMark x1="80155" y1="73908" x2="88581" y2="58046"/>
                        <a14:foregroundMark x1="88581" y1="58046" x2="84922" y2="26322"/>
                        <a14:foregroundMark x1="84922" y1="26322" x2="88340" y2="21125"/>
                        <a14:foregroundMark x1="80597" y1="20904" x2="37749" y2="35402"/>
                        <a14:foregroundMark x1="37749" y1="35402" x2="14690" y2="21954"/>
                        <a14:foregroundMark x1="14690" y1="21954" x2="9035" y2="10115"/>
                        <a14:foregroundMark x1="9035" y1="10115" x2="2162" y2="13563"/>
                        <a14:foregroundMark x1="2162" y1="13563" x2="9978" y2="11149"/>
                        <a14:foregroundMark x1="9978" y1="11149" x2="9590" y2="27931"/>
                        <a14:foregroundMark x1="9590" y1="27931" x2="2772" y2="34138"/>
                        <a14:foregroundMark x1="2772" y1="34138" x2="2217" y2="43448"/>
                        <a14:foregroundMark x1="2217" y1="43448" x2="4878" y2="79080"/>
                        <a14:foregroundMark x1="4878" y1="79080" x2="15687" y2="87241"/>
                        <a14:foregroundMark x1="15687" y1="87241" x2="68902" y2="76437"/>
                        <a14:foregroundMark x1="68902" y1="76437" x2="65798" y2="82989"/>
                        <a14:foregroundMark x1="65798" y1="82989" x2="89191" y2="88276"/>
                        <a14:foregroundMark x1="89191" y1="88276" x2="50055" y2="94138"/>
                        <a14:foregroundMark x1="50055" y1="94138" x2="74113" y2="91954"/>
                        <a14:foregroundMark x1="74113" y1="91954" x2="87583" y2="46552"/>
                        <a14:foregroundMark x1="87583" y1="46552" x2="82206" y2="43908"/>
                        <a14:foregroundMark x1="82206" y1="43908" x2="76996" y2="34483"/>
                        <a14:foregroundMark x1="76996" y1="34483" x2="48503" y2="21264"/>
                        <a14:foregroundMark x1="48503" y1="21264" x2="50222" y2="6322"/>
                        <a14:foregroundMark x1="50222" y1="6322" x2="72417" y2="3008"/>
                        <a14:foregroundMark x1="96871" y1="16873" x2="97949" y2="92414"/>
                        <a14:foregroundMark x1="97949" y1="92414" x2="44180" y2="93563"/>
                        <a14:foregroundMark x1="44180" y1="93563" x2="18293" y2="80115"/>
                        <a14:foregroundMark x1="18293" y1="80115" x2="18404" y2="46322"/>
                        <a14:foregroundMark x1="18404" y1="46322" x2="15244" y2="22414"/>
                        <a14:foregroundMark x1="15244" y1="22414" x2="16962" y2="3908"/>
                        <a14:foregroundMark x1="16962" y1="3908" x2="24612" y2="3678"/>
                        <a14:foregroundMark x1="24612" y1="3678" x2="5432" y2="5747"/>
                        <a14:foregroundMark x1="27384" y1="3103" x2="36197" y2="41494"/>
                        <a14:foregroundMark x1="51220" y1="14023" x2="14468" y2="27126"/>
                        <a14:foregroundMark x1="11197" y1="39770" x2="43958" y2="96552"/>
                        <a14:foregroundMark x1="52882" y1="34368" x2="55155" y2="85862"/>
                        <a14:foregroundMark x1="83703" y1="26092" x2="76829" y2="47931"/>
                        <a14:foregroundMark x1="76829" y1="47931" x2="54601" y2="74023"/>
                        <a14:foregroundMark x1="54601" y1="74023" x2="45011" y2="70920"/>
                        <a14:foregroundMark x1="37251" y1="61494" x2="90078" y2="59310"/>
                        <a14:foregroundMark x1="89135" y1="54598" x2="38193" y2="48966"/>
                        <a14:foregroundMark x1="45621" y1="24713" x2="75388" y2="18161"/>
                        <a14:foregroundMark x1="73630" y1="10836" x2="31763" y2="7356"/>
                        <a14:foregroundMark x1="24279" y1="5057" x2="61918" y2="2759"/>
                        <a14:foregroundMark x1="61918" y1="2759" x2="66131" y2="2759"/>
                        <a14:foregroundMark x1="68404" y1="3103" x2="6541" y2="1954"/>
                        <a14:foregroundMark x1="4157" y1="2299" x2="2605" y2="84713"/>
                        <a14:foregroundMark x1="2605" y1="84713" x2="32594" y2="98161"/>
                        <a14:foregroundMark x1="32594" y1="98161" x2="52882" y2="96782"/>
                        <a14:foregroundMark x1="52882" y1="96782" x2="69678" y2="97931"/>
                        <a14:foregroundMark x1="69678" y1="97931" x2="98725" y2="94598"/>
                        <a14:foregroundMark x1="98725" y1="94598" x2="98559" y2="70805"/>
                        <a14:foregroundMark x1="98559" y1="70805" x2="92960" y2="29080"/>
                        <a14:foregroundMark x1="78485" y1="17925" x2="52217" y2="39540"/>
                        <a14:foregroundMark x1="52217" y1="39540" x2="49390" y2="47241"/>
                        <a14:foregroundMark x1="36863" y1="21954" x2="52882" y2="53678"/>
                        <a14:foregroundMark x1="50721" y1="26552" x2="80820" y2="58736"/>
                        <a14:foregroundMark x1="84257" y1="38391" x2="62528" y2="36322"/>
                        <a14:foregroundMark x1="86641" y1="45172" x2="94235" y2="84023"/>
                        <a14:foregroundMark x1="97506" y1="49540" x2="97284" y2="78161"/>
                        <a14:foregroundMark x1="97284" y1="78161" x2="96951" y2="78736"/>
                        <a14:foregroundMark x1="71341" y1="85632" x2="56319" y2="93448"/>
                        <a14:foregroundMark x1="56319" y1="93448" x2="49446" y2="92414"/>
                        <a14:foregroundMark x1="50998" y1="83793" x2="58703" y2="99770"/>
                        <a14:foregroundMark x1="58703" y1="99770" x2="58703" y2="99770"/>
                        <a14:foregroundMark x1="60421" y1="78046" x2="55155" y2="99885"/>
                        <a14:foregroundMark x1="55155" y1="99885" x2="55155" y2="99885"/>
                        <a14:foregroundMark x1="26552" y1="92069" x2="166" y2="92989"/>
                        <a14:foregroundMark x1="9479" y1="51724" x2="6208" y2="36322"/>
                        <a14:foregroundMark x1="6208" y1="36322" x2="5987" y2="33218"/>
                        <a14:foregroundMark x1="21397" y1="29770" x2="33481" y2="31839"/>
                        <a14:foregroundMark x1="33481" y1="31839" x2="55931" y2="28851"/>
                        <a14:foregroundMark x1="72838" y1="31724" x2="88027" y2="61839"/>
                        <a14:foregroundMark x1="92794" y1="69885" x2="53548" y2="80000"/>
                        <a14:foregroundMark x1="53548" y1="80000" x2="52328" y2="79540"/>
                        <a14:backgroundMark x1="74335" y1="460" x2="78936" y2="14828"/>
                        <a14:backgroundMark x1="78936" y1="14828" x2="92295" y2="14368"/>
                        <a14:backgroundMark x1="92295" y1="14368" x2="96563" y2="6437"/>
                        <a14:backgroundMark x1="96563" y1="6437" x2="74058" y2="1609"/>
                        <a14:backgroundMark x1="95565" y1="15287" x2="90909" y2="14253"/>
                        <a14:backgroundMark x1="90909" y1="14253" x2="81929" y2="6207"/>
                        <a14:backgroundMark x1="81929" y1="6207" x2="92738" y2="460"/>
                        <a14:backgroundMark x1="92738" y1="460" x2="92960" y2="460"/>
                        <a14:backgroundMark x1="98004" y1="460" x2="78437" y2="4943"/>
                        <a14:backgroundMark x1="80599" y1="1724" x2="88747" y2="805"/>
                        <a14:backgroundMark x1="88747" y1="805" x2="89911" y2="805"/>
                        <a14:backgroundMark x1="95177" y1="5057" x2="77993" y2="13218"/>
                        <a14:backgroundMark x1="77993" y1="13218" x2="73891" y2="13563"/>
                        <a14:backgroundMark x1="75887" y1="1494" x2="90687" y2="15172"/>
                        <a14:backgroundMark x1="90687" y1="15172" x2="91519" y2="15632"/>
                        <a14:backgroundMark x1="73060" y1="2069" x2="78936" y2="16437"/>
                        <a14:backgroundMark x1="78936" y1="16437" x2="92849" y2="15862"/>
                        <a14:backgroundMark x1="92849" y1="15862" x2="96619" y2="13103"/>
                        <a14:backgroundMark x1="96619" y1="13103" x2="97506" y2="3908"/>
                        <a14:backgroundMark x1="97506" y1="3908" x2="72506" y2="1724"/>
                        <a14:backgroundMark x1="72395" y1="2759" x2="81929" y2="20805"/>
                        <a14:backgroundMark x1="81929" y1="20805" x2="94789" y2="18276"/>
                        <a14:backgroundMark x1="94789" y1="18276" x2="95787" y2="7931"/>
                        <a14:backgroundMark x1="95787" y1="7931" x2="85865" y2="460"/>
                        <a14:backgroundMark x1="85865" y1="460" x2="81042" y2="1149"/>
                        <a14:backgroundMark x1="73004" y1="7356" x2="78271" y2="15977"/>
                        <a14:backgroundMark x1="78271" y1="15977" x2="85144" y2="19310"/>
                        <a14:backgroundMark x1="85033" y1="9195" x2="85033" y2="20920"/>
                        <a14:backgroundMark x1="94623" y1="7011" x2="96341" y2="17241"/>
                        <a14:backgroundMark x1="96341" y1="17241" x2="93404" y2="17011"/>
                        <a14:backgroundMark x1="96120" y1="9885" x2="94457" y2="11724"/>
                        <a14:backgroundMark x1="97173" y1="4368" x2="96840" y2="1609"/>
                        <a14:backgroundMark x1="97007" y1="4138" x2="96286" y2="1609"/>
                        <a14:backgroundMark x1="97118" y1="2299" x2="97506" y2="5057"/>
                      </a14:backgroundRemoval>
                    </a14:imgEffect>
                  </a14:imgLayer>
                </a14:imgProps>
              </a:ext>
            </a:extLst>
          </a:blip>
          <a:srcRect l="45958" t="-47" r="36170" b="91940"/>
          <a:stretch/>
        </p:blipFill>
        <p:spPr>
          <a:xfrm>
            <a:off x="5603132" y="758758"/>
            <a:ext cx="2178996" cy="476656"/>
          </a:xfrm>
          <a:prstGeom prst="rect">
            <a:avLst/>
          </a:prstGeom>
        </p:spPr>
      </p:pic>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5"/>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pic>
        <p:nvPicPr>
          <p:cNvPr id="3" name="Obraz 2">
            <a:extLst>
              <a:ext uri="{FF2B5EF4-FFF2-40B4-BE49-F238E27FC236}">
                <a16:creationId xmlns:a16="http://schemas.microsoft.com/office/drawing/2014/main" id="{E0E9DD76-5BED-82B8-16FA-5154BA4718C9}"/>
              </a:ext>
            </a:extLst>
          </p:cNvPr>
          <p:cNvPicPr>
            <a:picLocks noChangeAspect="1"/>
          </p:cNvPicPr>
          <p:nvPr/>
        </p:nvPicPr>
        <p:blipFill>
          <a:blip r:embed="rId6"/>
          <a:stretch>
            <a:fillRect/>
          </a:stretch>
        </p:blipFill>
        <p:spPr>
          <a:xfrm>
            <a:off x="2311697" y="1420258"/>
            <a:ext cx="2724371" cy="3158139"/>
          </a:xfrm>
          <a:prstGeom prst="rect">
            <a:avLst/>
          </a:prstGeom>
        </p:spPr>
      </p:pic>
      <p:pic>
        <p:nvPicPr>
          <p:cNvPr id="7" name="Obraz 6">
            <a:extLst>
              <a:ext uri="{FF2B5EF4-FFF2-40B4-BE49-F238E27FC236}">
                <a16:creationId xmlns:a16="http://schemas.microsoft.com/office/drawing/2014/main" id="{DC085E40-9D08-A347-8BFA-85CBE472DBD9}"/>
              </a:ext>
            </a:extLst>
          </p:cNvPr>
          <p:cNvPicPr>
            <a:picLocks noChangeAspect="1"/>
          </p:cNvPicPr>
          <p:nvPr/>
        </p:nvPicPr>
        <p:blipFill>
          <a:blip r:embed="rId7"/>
          <a:stretch>
            <a:fillRect/>
          </a:stretch>
        </p:blipFill>
        <p:spPr>
          <a:xfrm>
            <a:off x="8529223" y="1420258"/>
            <a:ext cx="2623852" cy="3189931"/>
          </a:xfrm>
          <a:prstGeom prst="rect">
            <a:avLst/>
          </a:prstGeom>
        </p:spPr>
      </p:pic>
      <p:sp>
        <p:nvSpPr>
          <p:cNvPr id="9" name="Strzałka: w prawo 8">
            <a:extLst>
              <a:ext uri="{FF2B5EF4-FFF2-40B4-BE49-F238E27FC236}">
                <a16:creationId xmlns:a16="http://schemas.microsoft.com/office/drawing/2014/main" id="{0FBBD37E-DE11-4C7C-0C3C-79DBE217330C}"/>
              </a:ext>
            </a:extLst>
          </p:cNvPr>
          <p:cNvSpPr/>
          <p:nvPr/>
        </p:nvSpPr>
        <p:spPr>
          <a:xfrm>
            <a:off x="5296780" y="2402732"/>
            <a:ext cx="3049552" cy="690664"/>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0" name="Dymek mowy: prostokąt 9">
            <a:extLst>
              <a:ext uri="{FF2B5EF4-FFF2-40B4-BE49-F238E27FC236}">
                <a16:creationId xmlns:a16="http://schemas.microsoft.com/office/drawing/2014/main" id="{F0A22885-CD5C-047A-01CA-4D6CC76D6EEE}"/>
              </a:ext>
            </a:extLst>
          </p:cNvPr>
          <p:cNvSpPr/>
          <p:nvPr/>
        </p:nvSpPr>
        <p:spPr>
          <a:xfrm>
            <a:off x="5603133" y="3128578"/>
            <a:ext cx="2290908" cy="900770"/>
          </a:xfrm>
          <a:prstGeom prst="wedgeRectCallout">
            <a:avLst>
              <a:gd name="adj1" fmla="val -33895"/>
              <a:gd name="adj2" fmla="val 47286"/>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pl-PL" sz="2000" dirty="0" err="1">
                <a:solidFill>
                  <a:schemeClr val="tx1"/>
                </a:solidFill>
                <a:latin typeface="Comic Sans MS" panose="030F0702030302020204" pitchFamily="66" charset="0"/>
              </a:rPr>
              <a:t>Backpropagation</a:t>
            </a:r>
            <a:endParaRPr lang="pl-PL" sz="2000" dirty="0">
              <a:solidFill>
                <a:schemeClr val="tx1"/>
              </a:solidFill>
              <a:latin typeface="Comic Sans MS" panose="030F0702030302020204" pitchFamily="66" charset="0"/>
            </a:endParaRPr>
          </a:p>
        </p:txBody>
      </p:sp>
      <p:sp>
        <p:nvSpPr>
          <p:cNvPr id="5" name="Tytuł 4">
            <a:extLst>
              <a:ext uri="{FF2B5EF4-FFF2-40B4-BE49-F238E27FC236}">
                <a16:creationId xmlns:a16="http://schemas.microsoft.com/office/drawing/2014/main" id="{9E2AD753-1032-9461-D41C-7D679203A79A}"/>
              </a:ext>
            </a:extLst>
          </p:cNvPr>
          <p:cNvSpPr>
            <a:spLocks noGrp="1"/>
          </p:cNvSpPr>
          <p:nvPr>
            <p:ph type="title"/>
          </p:nvPr>
        </p:nvSpPr>
        <p:spPr>
          <a:xfrm>
            <a:off x="7529209" y="-1"/>
            <a:ext cx="4662791" cy="2091448"/>
          </a:xfrm>
        </p:spPr>
        <p:txBody>
          <a:bodyPr>
            <a:noAutofit/>
          </a:bodyPr>
          <a:lstStyle/>
          <a:p>
            <a:pPr algn="ctr"/>
            <a:r>
              <a:rPr lang="pl-PL" sz="2800" dirty="0" err="1"/>
              <a:t>Convolutional</a:t>
            </a:r>
            <a:r>
              <a:rPr lang="pl-PL" sz="2800" dirty="0"/>
              <a:t> </a:t>
            </a:r>
            <a:r>
              <a:rPr lang="pl-PL" sz="2800" dirty="0" err="1"/>
              <a:t>Neural</a:t>
            </a:r>
            <a:r>
              <a:rPr lang="pl-PL" sz="2800" dirty="0"/>
              <a:t> Network:</a:t>
            </a:r>
            <a:br>
              <a:rPr lang="pl-PL" sz="2800" dirty="0"/>
            </a:br>
            <a:r>
              <a:rPr lang="en-GB" sz="3200" dirty="0"/>
              <a:t>1. Convolution</a:t>
            </a:r>
            <a:br>
              <a:rPr lang="pl-PL" sz="3200" dirty="0"/>
            </a:br>
            <a:br>
              <a:rPr lang="pl-PL" sz="3200" dirty="0"/>
            </a:br>
            <a:endParaRPr lang="en-GB" sz="3200" dirty="0"/>
          </a:p>
        </p:txBody>
      </p:sp>
    </p:spTree>
    <p:extLst>
      <p:ext uri="{BB962C8B-B14F-4D97-AF65-F5344CB8AC3E}">
        <p14:creationId xmlns:p14="http://schemas.microsoft.com/office/powerpoint/2010/main" val="361790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E5EE348B-31F9-C06E-E9B6-2C0D76ECB3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97" t="23323" r="80016" b="22490"/>
          <a:stretch/>
        </p:blipFill>
        <p:spPr bwMode="auto">
          <a:xfrm>
            <a:off x="479127" y="433267"/>
            <a:ext cx="1917577" cy="204186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4ECB38BA-631A-000B-958C-58333028E9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1059" t="14135" r="29591" b="14244"/>
          <a:stretch/>
        </p:blipFill>
        <p:spPr bwMode="auto">
          <a:xfrm>
            <a:off x="2881270" y="28587"/>
            <a:ext cx="2321044" cy="2698812"/>
          </a:xfrm>
          <a:prstGeom prst="rect">
            <a:avLst/>
          </a:prstGeom>
          <a:noFill/>
          <a:extLst>
            <a:ext uri="{909E8E84-426E-40DD-AFC4-6F175D3DCCD1}">
              <a14:hiddenFill xmlns:a14="http://schemas.microsoft.com/office/drawing/2010/main">
                <a:solidFill>
                  <a:srgbClr val="FFFFFF"/>
                </a:solidFill>
              </a14:hiddenFill>
            </a:ext>
          </a:extLst>
        </p:spPr>
      </p:pic>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4"/>
              </a:rPr>
              <a:t>https://towardsdatascience.com/the-most-intuitive-and-easiest-guide-for-convolutional-neural-network-3607be47480</a:t>
            </a:r>
            <a:r>
              <a:rPr lang="pl-PL" sz="1200" dirty="0"/>
              <a:t> </a:t>
            </a:r>
            <a:endParaRPr lang="en-GB" sz="1200" dirty="0"/>
          </a:p>
        </p:txBody>
      </p:sp>
      <p:sp>
        <p:nvSpPr>
          <p:cNvPr id="2" name="Dymek mowy: prostokąt 1">
            <a:extLst>
              <a:ext uri="{FF2B5EF4-FFF2-40B4-BE49-F238E27FC236}">
                <a16:creationId xmlns:a16="http://schemas.microsoft.com/office/drawing/2014/main" id="{5806AFCB-8025-28B0-44E1-C6A7356D7481}"/>
              </a:ext>
            </a:extLst>
          </p:cNvPr>
          <p:cNvSpPr/>
          <p:nvPr/>
        </p:nvSpPr>
        <p:spPr>
          <a:xfrm>
            <a:off x="174102" y="2727399"/>
            <a:ext cx="2527628" cy="1455938"/>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No </a:t>
            </a:r>
            <a:r>
              <a:rPr lang="pl-PL" sz="2000" dirty="0" err="1">
                <a:solidFill>
                  <a:schemeClr val="tx1"/>
                </a:solidFill>
                <a:latin typeface="Comic Sans MS" panose="030F0702030302020204" pitchFamily="66" charset="0"/>
              </a:rPr>
              <a:t>padding</a:t>
            </a:r>
            <a:r>
              <a:rPr lang="pl-PL" sz="2000" dirty="0">
                <a:solidFill>
                  <a:schemeClr val="tx1"/>
                </a:solidFill>
                <a:latin typeface="Comic Sans MS" panose="030F0702030302020204" pitchFamily="66" charset="0"/>
              </a:rPr>
              <a:t> / </a:t>
            </a:r>
            <a:br>
              <a:rPr lang="pl-PL" sz="2000" dirty="0">
                <a:solidFill>
                  <a:schemeClr val="tx1"/>
                </a:solidFill>
                <a:latin typeface="Comic Sans MS" panose="030F0702030302020204" pitchFamily="66" charset="0"/>
              </a:rPr>
            </a:br>
            <a:r>
              <a:rPr lang="pl-PL" sz="2000" b="1" dirty="0" err="1">
                <a:solidFill>
                  <a:schemeClr val="tx1"/>
                </a:solidFill>
                <a:latin typeface="Comic Sans MS" panose="030F0702030302020204" pitchFamily="66" charset="0"/>
              </a:rPr>
              <a:t>valid</a:t>
            </a:r>
            <a:r>
              <a:rPr lang="pl-PL" sz="2000" dirty="0">
                <a:solidFill>
                  <a:schemeClr val="tx1"/>
                </a:solidFill>
                <a:latin typeface="Comic Sans MS" panose="030F0702030302020204" pitchFamily="66" charset="0"/>
              </a:rPr>
              <a:t> </a:t>
            </a:r>
            <a:r>
              <a:rPr lang="pl-PL" sz="2000" dirty="0" err="1">
                <a:solidFill>
                  <a:schemeClr val="tx1"/>
                </a:solidFill>
                <a:latin typeface="Comic Sans MS" panose="030F0702030302020204" pitchFamily="66" charset="0"/>
              </a:rPr>
              <a:t>padding</a:t>
            </a:r>
            <a:br>
              <a:rPr lang="pl-PL" sz="2000" dirty="0">
                <a:solidFill>
                  <a:schemeClr val="tx1"/>
                </a:solidFill>
                <a:latin typeface="Comic Sans MS" panose="030F0702030302020204" pitchFamily="66" charset="0"/>
              </a:rPr>
            </a:br>
            <a:br>
              <a:rPr lang="pl-PL" sz="2000" dirty="0">
                <a:solidFill>
                  <a:schemeClr val="tx1"/>
                </a:solidFill>
                <a:latin typeface="Comic Sans MS" panose="030F0702030302020204" pitchFamily="66" charset="0"/>
              </a:rPr>
            </a:br>
            <a:r>
              <a:rPr lang="pl-PL" sz="2000" i="1" dirty="0" err="1">
                <a:solidFill>
                  <a:schemeClr val="tx1"/>
                </a:solidFill>
                <a:latin typeface="Comic Sans MS" panose="030F0702030302020204" pitchFamily="66" charset="0"/>
              </a:rPr>
              <a:t>stride</a:t>
            </a:r>
            <a:r>
              <a:rPr lang="pl-PL" sz="2000" i="1" dirty="0">
                <a:solidFill>
                  <a:schemeClr val="tx1"/>
                </a:solidFill>
                <a:latin typeface="Comic Sans MS" panose="030F0702030302020204" pitchFamily="66" charset="0"/>
              </a:rPr>
              <a:t> </a:t>
            </a:r>
            <a:r>
              <a:rPr lang="pl-PL" sz="2000" i="1" dirty="0" err="1">
                <a:solidFill>
                  <a:schemeClr val="tx1"/>
                </a:solidFill>
                <a:latin typeface="Comic Sans MS" panose="030F0702030302020204" pitchFamily="66" charset="0"/>
              </a:rPr>
              <a:t>length</a:t>
            </a:r>
            <a:r>
              <a:rPr lang="pl-PL" sz="2000" i="1" dirty="0">
                <a:solidFill>
                  <a:schemeClr val="tx1"/>
                </a:solidFill>
                <a:latin typeface="Comic Sans MS" panose="030F0702030302020204" pitchFamily="66" charset="0"/>
              </a:rPr>
              <a:t> =</a:t>
            </a:r>
            <a:r>
              <a:rPr lang="pl-PL" sz="2000" b="1" i="1" dirty="0">
                <a:solidFill>
                  <a:schemeClr val="tx1"/>
                </a:solidFill>
                <a:latin typeface="Comic Sans MS" panose="030F0702030302020204" pitchFamily="66" charset="0"/>
              </a:rPr>
              <a:t>1</a:t>
            </a:r>
            <a:r>
              <a:rPr lang="pl-PL" sz="2000" i="1" dirty="0">
                <a:solidFill>
                  <a:schemeClr val="tx1"/>
                </a:solidFill>
                <a:latin typeface="Comic Sans MS" panose="030F0702030302020204" pitchFamily="66" charset="0"/>
              </a:rPr>
              <a:t>px</a:t>
            </a:r>
            <a:endParaRPr lang="pl-PL" sz="2000" dirty="0">
              <a:solidFill>
                <a:schemeClr val="tx1"/>
              </a:solidFill>
              <a:latin typeface="Comic Sans MS" panose="030F0702030302020204" pitchFamily="66" charset="0"/>
            </a:endParaRPr>
          </a:p>
        </p:txBody>
      </p:sp>
      <p:sp>
        <p:nvSpPr>
          <p:cNvPr id="6" name="Dymek mowy: prostokąt 5">
            <a:extLst>
              <a:ext uri="{FF2B5EF4-FFF2-40B4-BE49-F238E27FC236}">
                <a16:creationId xmlns:a16="http://schemas.microsoft.com/office/drawing/2014/main" id="{E60EB105-6023-DAC2-B773-84CE1FC04E3A}"/>
              </a:ext>
            </a:extLst>
          </p:cNvPr>
          <p:cNvSpPr/>
          <p:nvPr/>
        </p:nvSpPr>
        <p:spPr>
          <a:xfrm>
            <a:off x="4969783" y="198989"/>
            <a:ext cx="2479641" cy="1455938"/>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en-GB" sz="2000" b="1" dirty="0">
                <a:solidFill>
                  <a:schemeClr val="tx1"/>
                </a:solidFill>
                <a:latin typeface="Comic Sans MS" panose="030F0702030302020204" pitchFamily="66" charset="0"/>
              </a:rPr>
              <a:t>Same padding </a:t>
            </a:r>
            <a:r>
              <a:rPr lang="en-GB" sz="2000" dirty="0">
                <a:solidFill>
                  <a:schemeClr val="tx1"/>
                </a:solidFill>
                <a:latin typeface="Comic Sans MS" panose="030F0702030302020204" pitchFamily="66" charset="0"/>
              </a:rPr>
              <a:t>(maintains size)</a:t>
            </a:r>
          </a:p>
          <a:p>
            <a:pPr algn="ctr"/>
            <a:endParaRPr lang="pl-PL" sz="2000" dirty="0">
              <a:solidFill>
                <a:schemeClr val="tx1"/>
              </a:solidFill>
              <a:latin typeface="Comic Sans MS" panose="030F0702030302020204" pitchFamily="66" charset="0"/>
            </a:endParaRPr>
          </a:p>
          <a:p>
            <a:pPr algn="ctr"/>
            <a:r>
              <a:rPr lang="en-GB" sz="2000" dirty="0">
                <a:solidFill>
                  <a:schemeClr val="tx1"/>
                </a:solidFill>
                <a:latin typeface="Comic Sans MS" panose="030F0702030302020204" pitchFamily="66" charset="0"/>
              </a:rPr>
              <a:t>Stride length = 1px</a:t>
            </a:r>
            <a:endParaRPr lang="pl-PL" sz="2000" dirty="0">
              <a:solidFill>
                <a:schemeClr val="tx1"/>
              </a:solidFill>
              <a:latin typeface="Comic Sans MS" panose="030F0702030302020204" pitchFamily="66" charset="0"/>
            </a:endParaRPr>
          </a:p>
        </p:txBody>
      </p:sp>
      <p:sp>
        <p:nvSpPr>
          <p:cNvPr id="13" name="pole tekstowe 12">
            <a:extLst>
              <a:ext uri="{FF2B5EF4-FFF2-40B4-BE49-F238E27FC236}">
                <a16:creationId xmlns:a16="http://schemas.microsoft.com/office/drawing/2014/main" id="{26FE36DA-8E04-0671-A52E-468D78357D8B}"/>
              </a:ext>
            </a:extLst>
          </p:cNvPr>
          <p:cNvSpPr txBox="1"/>
          <p:nvPr/>
        </p:nvSpPr>
        <p:spPr>
          <a:xfrm>
            <a:off x="5450889" y="1840051"/>
            <a:ext cx="6667131" cy="1938992"/>
          </a:xfrm>
          <a:prstGeom prst="rect">
            <a:avLst/>
          </a:prstGeom>
          <a:noFill/>
        </p:spPr>
        <p:txBody>
          <a:bodyPr wrap="square">
            <a:spAutoFit/>
          </a:bodyPr>
          <a:lstStyle/>
          <a:p>
            <a:r>
              <a:rPr lang="pl-PL" sz="2400" b="1" dirty="0" err="1"/>
              <a:t>Padding</a:t>
            </a:r>
            <a:r>
              <a:rPr lang="pl-PL" sz="2400" b="1" dirty="0"/>
              <a:t> </a:t>
            </a:r>
            <a:r>
              <a:rPr lang="pl-PL" sz="2400" b="1" dirty="0" err="1"/>
              <a:t>techniques</a:t>
            </a:r>
            <a:r>
              <a:rPr lang="pl-PL" sz="2400" b="1" dirty="0"/>
              <a:t>:</a:t>
            </a:r>
          </a:p>
          <a:p>
            <a:pPr marL="342900" indent="-342900">
              <a:buFont typeface="Wingdings" panose="05000000000000000000" pitchFamily="2" charset="2"/>
              <a:buChar char="v"/>
            </a:pPr>
            <a:r>
              <a:rPr lang="pl-PL" sz="2400" dirty="0"/>
              <a:t>Zero </a:t>
            </a:r>
            <a:r>
              <a:rPr lang="pl-PL" sz="2400" dirty="0" err="1"/>
              <a:t>padding</a:t>
            </a:r>
            <a:endParaRPr lang="pl-PL" sz="2400" dirty="0"/>
          </a:p>
          <a:p>
            <a:pPr marL="342900" indent="-342900">
              <a:buFont typeface="Wingdings" panose="05000000000000000000" pitchFamily="2" charset="2"/>
              <a:buChar char="v"/>
            </a:pPr>
            <a:r>
              <a:rPr lang="pl-PL" sz="2400" dirty="0" err="1"/>
              <a:t>Reflective</a:t>
            </a:r>
            <a:r>
              <a:rPr lang="pl-PL" sz="2400" dirty="0"/>
              <a:t>/mirror </a:t>
            </a:r>
            <a:r>
              <a:rPr lang="pl-PL" sz="2400" dirty="0" err="1"/>
              <a:t>padding</a:t>
            </a:r>
            <a:endParaRPr lang="pl-PL" sz="2400" dirty="0"/>
          </a:p>
          <a:p>
            <a:pPr marL="342900" indent="-342900">
              <a:buFont typeface="Wingdings" panose="05000000000000000000" pitchFamily="2" charset="2"/>
              <a:buChar char="v"/>
            </a:pPr>
            <a:r>
              <a:rPr lang="pl-PL" sz="2400" dirty="0" err="1"/>
              <a:t>Replicate</a:t>
            </a:r>
            <a:r>
              <a:rPr lang="pl-PL" sz="2400" dirty="0"/>
              <a:t> </a:t>
            </a:r>
            <a:r>
              <a:rPr lang="pl-PL" sz="2400" dirty="0" err="1"/>
              <a:t>padding</a:t>
            </a:r>
            <a:endParaRPr lang="pl-PL" sz="2400" dirty="0"/>
          </a:p>
          <a:p>
            <a:pPr marL="342900" indent="-342900">
              <a:buFont typeface="Wingdings" panose="05000000000000000000" pitchFamily="2" charset="2"/>
              <a:buChar char="v"/>
            </a:pPr>
            <a:r>
              <a:rPr lang="pl-PL" sz="2400" dirty="0" err="1"/>
              <a:t>Circular</a:t>
            </a:r>
            <a:r>
              <a:rPr lang="pl-PL" sz="2400" dirty="0"/>
              <a:t> </a:t>
            </a:r>
            <a:r>
              <a:rPr lang="pl-PL" sz="2400" dirty="0" err="1"/>
              <a:t>padding</a:t>
            </a:r>
            <a:r>
              <a:rPr lang="pl-PL" sz="2400" dirty="0"/>
              <a:t> (</a:t>
            </a:r>
            <a:r>
              <a:rPr lang="pl-PL" sz="2400" dirty="0" err="1"/>
              <a:t>periodic</a:t>
            </a:r>
            <a:r>
              <a:rPr lang="pl-PL" sz="2400" dirty="0"/>
              <a:t>)</a:t>
            </a:r>
            <a:endParaRPr lang="en-GB" sz="2400" dirty="0"/>
          </a:p>
        </p:txBody>
      </p:sp>
      <p:pic>
        <p:nvPicPr>
          <p:cNvPr id="1026" name="Picture 2">
            <a:extLst>
              <a:ext uri="{FF2B5EF4-FFF2-40B4-BE49-F238E27FC236}">
                <a16:creationId xmlns:a16="http://schemas.microsoft.com/office/drawing/2014/main" id="{454998E7-E025-768D-BBD3-DC49B5C435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451" y="3779043"/>
            <a:ext cx="8412447" cy="2801958"/>
          </a:xfrm>
          <a:prstGeom prst="rect">
            <a:avLst/>
          </a:prstGeom>
          <a:noFill/>
          <a:extLst>
            <a:ext uri="{909E8E84-426E-40DD-AFC4-6F175D3DCCD1}">
              <a14:hiddenFill xmlns:a14="http://schemas.microsoft.com/office/drawing/2010/main">
                <a:solidFill>
                  <a:srgbClr val="FFFFFF"/>
                </a:solidFill>
              </a14:hiddenFill>
            </a:ext>
          </a:extLst>
        </p:spPr>
      </p:pic>
      <p:sp>
        <p:nvSpPr>
          <p:cNvPr id="5" name="Tytuł 4">
            <a:extLst>
              <a:ext uri="{FF2B5EF4-FFF2-40B4-BE49-F238E27FC236}">
                <a16:creationId xmlns:a16="http://schemas.microsoft.com/office/drawing/2014/main" id="{0800199C-3C88-5C98-8910-F82C4DDCEF11}"/>
              </a:ext>
            </a:extLst>
          </p:cNvPr>
          <p:cNvSpPr>
            <a:spLocks noGrp="1"/>
          </p:cNvSpPr>
          <p:nvPr>
            <p:ph type="title"/>
          </p:nvPr>
        </p:nvSpPr>
        <p:spPr>
          <a:xfrm>
            <a:off x="7529209" y="-1"/>
            <a:ext cx="4662791" cy="2091448"/>
          </a:xfrm>
        </p:spPr>
        <p:txBody>
          <a:bodyPr>
            <a:noAutofit/>
          </a:bodyPr>
          <a:lstStyle/>
          <a:p>
            <a:pPr algn="ctr"/>
            <a:r>
              <a:rPr lang="pl-PL" sz="2800" dirty="0" err="1"/>
              <a:t>Convolutional</a:t>
            </a:r>
            <a:r>
              <a:rPr lang="pl-PL" sz="2800" dirty="0"/>
              <a:t> </a:t>
            </a:r>
            <a:r>
              <a:rPr lang="pl-PL" sz="2800" dirty="0" err="1"/>
              <a:t>Neural</a:t>
            </a:r>
            <a:r>
              <a:rPr lang="pl-PL" sz="2800" dirty="0"/>
              <a:t> Network:</a:t>
            </a:r>
            <a:br>
              <a:rPr lang="pl-PL" sz="2800" dirty="0"/>
            </a:br>
            <a:r>
              <a:rPr lang="en-GB" sz="3200" dirty="0"/>
              <a:t>1. Convolution</a:t>
            </a:r>
            <a:br>
              <a:rPr lang="pl-PL" sz="3200" dirty="0"/>
            </a:br>
            <a:br>
              <a:rPr lang="pl-PL" sz="3200" dirty="0"/>
            </a:br>
            <a:endParaRPr lang="en-GB" sz="3200" dirty="0"/>
          </a:p>
        </p:txBody>
      </p:sp>
    </p:spTree>
    <p:extLst>
      <p:ext uri="{BB962C8B-B14F-4D97-AF65-F5344CB8AC3E}">
        <p14:creationId xmlns:p14="http://schemas.microsoft.com/office/powerpoint/2010/main" val="3310888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3"/>
              </a:rPr>
              <a:t>https://towardsdatascience.com/a-comprehensive-guide-to-convolutional-neural-networks-the-eli5-way-3bd2b1164a53</a:t>
            </a:r>
            <a:r>
              <a:rPr lang="pl-PL" sz="1200" dirty="0"/>
              <a:t> </a:t>
            </a:r>
            <a:endParaRPr lang="en-GB" sz="1200" dirty="0"/>
          </a:p>
        </p:txBody>
      </p:sp>
      <p:pic>
        <p:nvPicPr>
          <p:cNvPr id="3074" name="Picture 2">
            <a:extLst>
              <a:ext uri="{FF2B5EF4-FFF2-40B4-BE49-F238E27FC236}">
                <a16:creationId xmlns:a16="http://schemas.microsoft.com/office/drawing/2014/main" id="{58572698-59B1-EEC0-463A-E0DD47495B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2885" y="1774285"/>
            <a:ext cx="3762375" cy="36290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31BED854-0981-D73C-BFA5-47ED008034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417" y="1450434"/>
            <a:ext cx="3762375" cy="4276725"/>
          </a:xfrm>
          <a:prstGeom prst="rect">
            <a:avLst/>
          </a:prstGeom>
          <a:noFill/>
          <a:extLst>
            <a:ext uri="{909E8E84-426E-40DD-AFC4-6F175D3DCCD1}">
              <a14:hiddenFill xmlns:a14="http://schemas.microsoft.com/office/drawing/2010/main">
                <a:solidFill>
                  <a:srgbClr val="FFFFFF"/>
                </a:solidFill>
              </a14:hiddenFill>
            </a:ext>
          </a:extLst>
        </p:spPr>
      </p:pic>
      <p:sp>
        <p:nvSpPr>
          <p:cNvPr id="2" name="Dymek mowy: prostokąt 1">
            <a:extLst>
              <a:ext uri="{FF2B5EF4-FFF2-40B4-BE49-F238E27FC236}">
                <a16:creationId xmlns:a16="http://schemas.microsoft.com/office/drawing/2014/main" id="{5806AFCB-8025-28B0-44E1-C6A7356D7481}"/>
              </a:ext>
            </a:extLst>
          </p:cNvPr>
          <p:cNvSpPr/>
          <p:nvPr/>
        </p:nvSpPr>
        <p:spPr>
          <a:xfrm>
            <a:off x="1032318" y="5501662"/>
            <a:ext cx="3956932" cy="987914"/>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2000" i="1" dirty="0" err="1">
                <a:solidFill>
                  <a:schemeClr val="tx1"/>
                </a:solidFill>
                <a:latin typeface="Comic Sans MS" panose="030F0702030302020204" pitchFamily="66" charset="0"/>
              </a:rPr>
              <a:t>stride</a:t>
            </a:r>
            <a:r>
              <a:rPr lang="pl-PL" sz="2000" i="1" dirty="0">
                <a:solidFill>
                  <a:schemeClr val="tx1"/>
                </a:solidFill>
                <a:latin typeface="Comic Sans MS" panose="030F0702030302020204" pitchFamily="66" charset="0"/>
              </a:rPr>
              <a:t> </a:t>
            </a:r>
            <a:r>
              <a:rPr lang="pl-PL" sz="2000" i="1" dirty="0" err="1">
                <a:solidFill>
                  <a:schemeClr val="tx1"/>
                </a:solidFill>
                <a:latin typeface="Comic Sans MS" panose="030F0702030302020204" pitchFamily="66" charset="0"/>
              </a:rPr>
              <a:t>length</a:t>
            </a:r>
            <a:r>
              <a:rPr lang="pl-PL" sz="2000" i="1" dirty="0">
                <a:solidFill>
                  <a:schemeClr val="tx1"/>
                </a:solidFill>
                <a:latin typeface="Comic Sans MS" panose="030F0702030302020204" pitchFamily="66" charset="0"/>
              </a:rPr>
              <a:t> =</a:t>
            </a:r>
            <a:r>
              <a:rPr lang="pl-PL" sz="2000" b="1" i="1" dirty="0">
                <a:solidFill>
                  <a:schemeClr val="tx1"/>
                </a:solidFill>
                <a:latin typeface="Comic Sans MS" panose="030F0702030302020204" pitchFamily="66" charset="0"/>
              </a:rPr>
              <a:t>1</a:t>
            </a:r>
            <a:r>
              <a:rPr lang="pl-PL" sz="2000" i="1" dirty="0">
                <a:solidFill>
                  <a:schemeClr val="tx1"/>
                </a:solidFill>
                <a:latin typeface="Comic Sans MS" panose="030F0702030302020204" pitchFamily="66" charset="0"/>
              </a:rPr>
              <a:t>px</a:t>
            </a:r>
            <a:endParaRPr lang="pl-PL" sz="2000" dirty="0">
              <a:solidFill>
                <a:schemeClr val="tx1"/>
              </a:solidFill>
              <a:latin typeface="Comic Sans MS" panose="030F0702030302020204" pitchFamily="66" charset="0"/>
            </a:endParaRPr>
          </a:p>
        </p:txBody>
      </p:sp>
      <p:sp>
        <p:nvSpPr>
          <p:cNvPr id="3" name="Dymek mowy: prostokąt 2">
            <a:extLst>
              <a:ext uri="{FF2B5EF4-FFF2-40B4-BE49-F238E27FC236}">
                <a16:creationId xmlns:a16="http://schemas.microsoft.com/office/drawing/2014/main" id="{D2B67744-4C1A-E4C0-22D6-B450C00E868A}"/>
              </a:ext>
            </a:extLst>
          </p:cNvPr>
          <p:cNvSpPr/>
          <p:nvPr/>
        </p:nvSpPr>
        <p:spPr>
          <a:xfrm>
            <a:off x="6635607" y="5501661"/>
            <a:ext cx="3956932" cy="987915"/>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2000" i="1" dirty="0" err="1">
                <a:solidFill>
                  <a:schemeClr val="tx1"/>
                </a:solidFill>
                <a:latin typeface="Comic Sans MS" panose="030F0702030302020204" pitchFamily="66" charset="0"/>
              </a:rPr>
              <a:t>stride</a:t>
            </a:r>
            <a:r>
              <a:rPr lang="pl-PL" sz="2000" i="1" dirty="0">
                <a:solidFill>
                  <a:schemeClr val="tx1"/>
                </a:solidFill>
                <a:latin typeface="Comic Sans MS" panose="030F0702030302020204" pitchFamily="66" charset="0"/>
              </a:rPr>
              <a:t> </a:t>
            </a:r>
            <a:r>
              <a:rPr lang="pl-PL" sz="2000" i="1" dirty="0" err="1">
                <a:solidFill>
                  <a:schemeClr val="tx1"/>
                </a:solidFill>
                <a:latin typeface="Comic Sans MS" panose="030F0702030302020204" pitchFamily="66" charset="0"/>
              </a:rPr>
              <a:t>length</a:t>
            </a:r>
            <a:r>
              <a:rPr lang="pl-PL" sz="2000" i="1" dirty="0">
                <a:solidFill>
                  <a:schemeClr val="tx1"/>
                </a:solidFill>
                <a:latin typeface="Comic Sans MS" panose="030F0702030302020204" pitchFamily="66" charset="0"/>
              </a:rPr>
              <a:t> =</a:t>
            </a:r>
            <a:r>
              <a:rPr lang="pl-PL" sz="2000" b="1" i="1" dirty="0">
                <a:solidFill>
                  <a:schemeClr val="tx1"/>
                </a:solidFill>
                <a:latin typeface="Comic Sans MS" panose="030F0702030302020204" pitchFamily="66" charset="0"/>
              </a:rPr>
              <a:t>2</a:t>
            </a:r>
            <a:r>
              <a:rPr lang="pl-PL" sz="2000" i="1" dirty="0">
                <a:solidFill>
                  <a:schemeClr val="tx1"/>
                </a:solidFill>
                <a:latin typeface="Comic Sans MS" panose="030F0702030302020204" pitchFamily="66" charset="0"/>
              </a:rPr>
              <a:t>px</a:t>
            </a:r>
            <a:endParaRPr lang="pl-PL" sz="2000" dirty="0">
              <a:solidFill>
                <a:schemeClr val="tx1"/>
              </a:solidFill>
              <a:latin typeface="Comic Sans MS" panose="030F0702030302020204" pitchFamily="66" charset="0"/>
            </a:endParaRPr>
          </a:p>
        </p:txBody>
      </p:sp>
      <p:sp>
        <p:nvSpPr>
          <p:cNvPr id="6" name="Tytuł 4">
            <a:extLst>
              <a:ext uri="{FF2B5EF4-FFF2-40B4-BE49-F238E27FC236}">
                <a16:creationId xmlns:a16="http://schemas.microsoft.com/office/drawing/2014/main" id="{A66E5200-6EEC-D9F1-770A-E673A36D4648}"/>
              </a:ext>
            </a:extLst>
          </p:cNvPr>
          <p:cNvSpPr>
            <a:spLocks noGrp="1"/>
          </p:cNvSpPr>
          <p:nvPr>
            <p:ph type="title"/>
          </p:nvPr>
        </p:nvSpPr>
        <p:spPr>
          <a:xfrm>
            <a:off x="7529209" y="-1"/>
            <a:ext cx="4662791" cy="2091448"/>
          </a:xfrm>
        </p:spPr>
        <p:txBody>
          <a:bodyPr>
            <a:noAutofit/>
          </a:bodyPr>
          <a:lstStyle/>
          <a:p>
            <a:pPr algn="ctr"/>
            <a:r>
              <a:rPr lang="pl-PL" sz="2800" dirty="0" err="1"/>
              <a:t>Convolutional</a:t>
            </a:r>
            <a:r>
              <a:rPr lang="pl-PL" sz="2800" dirty="0"/>
              <a:t> </a:t>
            </a:r>
            <a:r>
              <a:rPr lang="pl-PL" sz="2800" dirty="0" err="1"/>
              <a:t>Neural</a:t>
            </a:r>
            <a:r>
              <a:rPr lang="pl-PL" sz="2800" dirty="0"/>
              <a:t> Network:</a:t>
            </a:r>
            <a:br>
              <a:rPr lang="pl-PL" sz="2800" dirty="0"/>
            </a:br>
            <a:r>
              <a:rPr lang="en-GB" sz="3200" dirty="0"/>
              <a:t>1. Convolution</a:t>
            </a:r>
            <a:br>
              <a:rPr lang="pl-PL" sz="3200" dirty="0"/>
            </a:br>
            <a:br>
              <a:rPr lang="pl-PL" sz="3200" dirty="0"/>
            </a:br>
            <a:endParaRPr lang="en-GB" sz="3200" dirty="0"/>
          </a:p>
        </p:txBody>
      </p:sp>
    </p:spTree>
    <p:extLst>
      <p:ext uri="{BB962C8B-B14F-4D97-AF65-F5344CB8AC3E}">
        <p14:creationId xmlns:p14="http://schemas.microsoft.com/office/powerpoint/2010/main" val="3641919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3"/>
              </a:rPr>
              <a:t>https://towardsdatascience.com/the-most-intuitive-and-easiest-guide-for-convolutional-neural-network-3607be47480</a:t>
            </a:r>
            <a:r>
              <a:rPr lang="pl-PL" sz="1200" dirty="0"/>
              <a:t> </a:t>
            </a:r>
            <a:endParaRPr lang="en-GB" sz="1200" dirty="0"/>
          </a:p>
        </p:txBody>
      </p:sp>
      <p:pic>
        <p:nvPicPr>
          <p:cNvPr id="4" name="Picture 2">
            <a:extLst>
              <a:ext uri="{FF2B5EF4-FFF2-40B4-BE49-F238E27FC236}">
                <a16:creationId xmlns:a16="http://schemas.microsoft.com/office/drawing/2014/main" id="{189AFD80-E1BE-48F7-FA15-6D0B64EA70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4346" y="1747176"/>
            <a:ext cx="7796258" cy="4755717"/>
          </a:xfrm>
          <a:prstGeom prst="rect">
            <a:avLst/>
          </a:prstGeom>
          <a:noFill/>
          <a:extLst>
            <a:ext uri="{909E8E84-426E-40DD-AFC4-6F175D3DCCD1}">
              <a14:hiddenFill xmlns:a14="http://schemas.microsoft.com/office/drawing/2010/main">
                <a:solidFill>
                  <a:srgbClr val="FFFFFF"/>
                </a:solidFill>
              </a14:hiddenFill>
            </a:ext>
          </a:extLst>
        </p:spPr>
      </p:pic>
      <p:sp>
        <p:nvSpPr>
          <p:cNvPr id="5" name="Dymek mowy: prostokąt 4">
            <a:extLst>
              <a:ext uri="{FF2B5EF4-FFF2-40B4-BE49-F238E27FC236}">
                <a16:creationId xmlns:a16="http://schemas.microsoft.com/office/drawing/2014/main" id="{20C321B5-8D48-8478-3762-212D3A9BF3AD}"/>
              </a:ext>
            </a:extLst>
          </p:cNvPr>
          <p:cNvSpPr/>
          <p:nvPr/>
        </p:nvSpPr>
        <p:spPr>
          <a:xfrm>
            <a:off x="106532" y="550979"/>
            <a:ext cx="3316202" cy="141105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en-GB" sz="2000" dirty="0">
                <a:solidFill>
                  <a:schemeClr val="tx1"/>
                </a:solidFill>
                <a:latin typeface="Comic Sans MS" panose="030F0702030302020204" pitchFamily="66" charset="0"/>
              </a:rPr>
              <a:t>Input image,</a:t>
            </a:r>
          </a:p>
          <a:p>
            <a:pPr algn="ctr"/>
            <a:r>
              <a:rPr lang="en-GB" sz="2000" dirty="0">
                <a:solidFill>
                  <a:schemeClr val="tx1"/>
                </a:solidFill>
                <a:latin typeface="Comic Sans MS" panose="030F0702030302020204" pitchFamily="66" charset="0"/>
              </a:rPr>
              <a:t>Red Green Blue </a:t>
            </a:r>
            <a:r>
              <a:rPr lang="en-GB" sz="2000" dirty="0" err="1">
                <a:solidFill>
                  <a:schemeClr val="tx1"/>
                </a:solidFill>
                <a:latin typeface="Comic Sans MS" panose="030F0702030302020204" pitchFamily="66" charset="0"/>
              </a:rPr>
              <a:t>color</a:t>
            </a:r>
            <a:r>
              <a:rPr lang="en-GB" sz="2000" dirty="0">
                <a:solidFill>
                  <a:schemeClr val="tx1"/>
                </a:solidFill>
                <a:latin typeface="Comic Sans MS" panose="030F0702030302020204" pitchFamily="66" charset="0"/>
              </a:rPr>
              <a:t> space,</a:t>
            </a:r>
          </a:p>
          <a:p>
            <a:pPr algn="ctr"/>
            <a:r>
              <a:rPr lang="en-GB" sz="2000" dirty="0">
                <a:solidFill>
                  <a:schemeClr val="tx1"/>
                </a:solidFill>
                <a:latin typeface="Comic Sans MS" panose="030F0702030302020204" pitchFamily="66" charset="0"/>
              </a:rPr>
              <a:t>7x7 </a:t>
            </a:r>
            <a:r>
              <a:rPr lang="en-GB" sz="2000" dirty="0" err="1">
                <a:solidFill>
                  <a:schemeClr val="tx1"/>
                </a:solidFill>
                <a:latin typeface="Comic Sans MS" panose="030F0702030302020204" pitchFamily="66" charset="0"/>
              </a:rPr>
              <a:t>px</a:t>
            </a:r>
            <a:r>
              <a:rPr lang="en-GB" sz="2000" dirty="0">
                <a:solidFill>
                  <a:schemeClr val="tx1"/>
                </a:solidFill>
                <a:latin typeface="Comic Sans MS" panose="030F0702030302020204" pitchFamily="66" charset="0"/>
              </a:rPr>
              <a:t> resolution</a:t>
            </a:r>
            <a:endParaRPr lang="pl-PL" sz="2000" dirty="0">
              <a:solidFill>
                <a:schemeClr val="tx1"/>
              </a:solidFill>
              <a:latin typeface="Comic Sans MS" panose="030F0702030302020204" pitchFamily="66" charset="0"/>
            </a:endParaRPr>
          </a:p>
        </p:txBody>
      </p:sp>
      <p:sp>
        <p:nvSpPr>
          <p:cNvPr id="7" name="Dymek mowy: prostokąt 6">
            <a:extLst>
              <a:ext uri="{FF2B5EF4-FFF2-40B4-BE49-F238E27FC236}">
                <a16:creationId xmlns:a16="http://schemas.microsoft.com/office/drawing/2014/main" id="{5FB7C818-5A9D-1E11-38D1-847A80646ADD}"/>
              </a:ext>
            </a:extLst>
          </p:cNvPr>
          <p:cNvSpPr/>
          <p:nvPr/>
        </p:nvSpPr>
        <p:spPr>
          <a:xfrm>
            <a:off x="4034846" y="746620"/>
            <a:ext cx="3855257" cy="961502"/>
          </a:xfrm>
          <a:prstGeom prst="wedgeRectCallout">
            <a:avLst>
              <a:gd name="adj1" fmla="val -33895"/>
              <a:gd name="adj2" fmla="val 47286"/>
            </a:avLst>
          </a:prstGeom>
          <a:ln w="34925">
            <a:solidFill>
              <a:schemeClr val="bg1">
                <a:lumMod val="50000"/>
              </a:schemeClr>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en-GB" sz="2000" dirty="0">
                <a:solidFill>
                  <a:schemeClr val="tx1"/>
                </a:solidFill>
                <a:latin typeface="Comic Sans MS" panose="030F0702030302020204" pitchFamily="66" charset="0"/>
              </a:rPr>
              <a:t>4 filters with 3 channels each,</a:t>
            </a:r>
          </a:p>
          <a:p>
            <a:pPr algn="ctr"/>
            <a:r>
              <a:rPr lang="en-GB" sz="2000" dirty="0">
                <a:solidFill>
                  <a:schemeClr val="tx1"/>
                </a:solidFill>
                <a:latin typeface="Comic Sans MS" panose="030F0702030302020204" pitchFamily="66" charset="0"/>
              </a:rPr>
              <a:t>of size 3x3</a:t>
            </a:r>
            <a:endParaRPr lang="pl-PL" sz="2000" dirty="0">
              <a:solidFill>
                <a:schemeClr val="tx1"/>
              </a:solidFill>
              <a:latin typeface="Comic Sans MS" panose="030F0702030302020204" pitchFamily="66" charset="0"/>
            </a:endParaRPr>
          </a:p>
        </p:txBody>
      </p:sp>
      <p:sp>
        <p:nvSpPr>
          <p:cNvPr id="8" name="Tytuł 4">
            <a:extLst>
              <a:ext uri="{FF2B5EF4-FFF2-40B4-BE49-F238E27FC236}">
                <a16:creationId xmlns:a16="http://schemas.microsoft.com/office/drawing/2014/main" id="{94C06B6F-A2F9-C696-6FB4-9CF843BF38D6}"/>
              </a:ext>
            </a:extLst>
          </p:cNvPr>
          <p:cNvSpPr>
            <a:spLocks noGrp="1"/>
          </p:cNvSpPr>
          <p:nvPr>
            <p:ph type="title"/>
          </p:nvPr>
        </p:nvSpPr>
        <p:spPr>
          <a:xfrm>
            <a:off x="7529209" y="-1"/>
            <a:ext cx="4662791" cy="2091448"/>
          </a:xfrm>
        </p:spPr>
        <p:txBody>
          <a:bodyPr>
            <a:noAutofit/>
          </a:bodyPr>
          <a:lstStyle/>
          <a:p>
            <a:pPr algn="ctr"/>
            <a:r>
              <a:rPr lang="pl-PL" sz="2800" dirty="0" err="1"/>
              <a:t>Convolutional</a:t>
            </a:r>
            <a:r>
              <a:rPr lang="pl-PL" sz="2800" dirty="0"/>
              <a:t> </a:t>
            </a:r>
            <a:r>
              <a:rPr lang="pl-PL" sz="2800" dirty="0" err="1"/>
              <a:t>Neural</a:t>
            </a:r>
            <a:r>
              <a:rPr lang="pl-PL" sz="2800" dirty="0"/>
              <a:t> Network:</a:t>
            </a:r>
            <a:br>
              <a:rPr lang="pl-PL" sz="2800" dirty="0"/>
            </a:br>
            <a:r>
              <a:rPr lang="en-GB" sz="3200" dirty="0"/>
              <a:t>1. Convolution</a:t>
            </a:r>
            <a:br>
              <a:rPr lang="pl-PL" sz="3200" dirty="0"/>
            </a:br>
            <a:br>
              <a:rPr lang="pl-PL" sz="3200" dirty="0"/>
            </a:br>
            <a:endParaRPr lang="en-GB" sz="3200" dirty="0"/>
          </a:p>
        </p:txBody>
      </p:sp>
    </p:spTree>
    <p:extLst>
      <p:ext uri="{BB962C8B-B14F-4D97-AF65-F5344CB8AC3E}">
        <p14:creationId xmlns:p14="http://schemas.microsoft.com/office/powerpoint/2010/main" val="3455916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raz 5">
            <a:extLst>
              <a:ext uri="{FF2B5EF4-FFF2-40B4-BE49-F238E27FC236}">
                <a16:creationId xmlns:a16="http://schemas.microsoft.com/office/drawing/2014/main" id="{BEBCCF04-6945-0465-8CD3-638948BD8D0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494" b="99770" l="166" r="98559">
                        <a14:foregroundMark x1="12140" y1="11379" x2="12694" y2="38276"/>
                        <a14:foregroundMark x1="12694" y1="38276" x2="46674" y2="50920"/>
                        <a14:foregroundMark x1="46674" y1="50920" x2="26940" y2="56552"/>
                        <a14:foregroundMark x1="26940" y1="56552" x2="46452" y2="80805"/>
                        <a14:foregroundMark x1="46452" y1="80805" x2="86807" y2="77931"/>
                        <a14:foregroundMark x1="86807" y1="77931" x2="87140" y2="89540"/>
                        <a14:foregroundMark x1="87140" y1="89540" x2="80155" y2="73908"/>
                        <a14:foregroundMark x1="80155" y1="73908" x2="88581" y2="58046"/>
                        <a14:foregroundMark x1="88581" y1="58046" x2="84922" y2="26322"/>
                        <a14:foregroundMark x1="84922" y1="26322" x2="88340" y2="21125"/>
                        <a14:foregroundMark x1="80597" y1="20904" x2="37749" y2="35402"/>
                        <a14:foregroundMark x1="37749" y1="35402" x2="14690" y2="21954"/>
                        <a14:foregroundMark x1="14690" y1="21954" x2="9035" y2="10115"/>
                        <a14:foregroundMark x1="9035" y1="10115" x2="2162" y2="13563"/>
                        <a14:foregroundMark x1="2162" y1="13563" x2="9978" y2="11149"/>
                        <a14:foregroundMark x1="9978" y1="11149" x2="9590" y2="27931"/>
                        <a14:foregroundMark x1="9590" y1="27931" x2="2772" y2="34138"/>
                        <a14:foregroundMark x1="2772" y1="34138" x2="2217" y2="43448"/>
                        <a14:foregroundMark x1="2217" y1="43448" x2="4878" y2="79080"/>
                        <a14:foregroundMark x1="4878" y1="79080" x2="15687" y2="87241"/>
                        <a14:foregroundMark x1="15687" y1="87241" x2="68902" y2="76437"/>
                        <a14:foregroundMark x1="68902" y1="76437" x2="65798" y2="82989"/>
                        <a14:foregroundMark x1="65798" y1="82989" x2="89191" y2="88276"/>
                        <a14:foregroundMark x1="89191" y1="88276" x2="50055" y2="94138"/>
                        <a14:foregroundMark x1="50055" y1="94138" x2="74113" y2="91954"/>
                        <a14:foregroundMark x1="74113" y1="91954" x2="87583" y2="46552"/>
                        <a14:foregroundMark x1="87583" y1="46552" x2="82206" y2="43908"/>
                        <a14:foregroundMark x1="82206" y1="43908" x2="76996" y2="34483"/>
                        <a14:foregroundMark x1="76996" y1="34483" x2="48503" y2="21264"/>
                        <a14:foregroundMark x1="48503" y1="21264" x2="50222" y2="6322"/>
                        <a14:foregroundMark x1="50222" y1="6322" x2="72417" y2="3008"/>
                        <a14:foregroundMark x1="96871" y1="16873" x2="97949" y2="92414"/>
                        <a14:foregroundMark x1="97949" y1="92414" x2="44180" y2="93563"/>
                        <a14:foregroundMark x1="44180" y1="93563" x2="18293" y2="80115"/>
                        <a14:foregroundMark x1="18293" y1="80115" x2="18404" y2="46322"/>
                        <a14:foregroundMark x1="18404" y1="46322" x2="15244" y2="22414"/>
                        <a14:foregroundMark x1="15244" y1="22414" x2="16962" y2="3908"/>
                        <a14:foregroundMark x1="16962" y1="3908" x2="24612" y2="3678"/>
                        <a14:foregroundMark x1="24612" y1="3678" x2="5432" y2="5747"/>
                        <a14:foregroundMark x1="27384" y1="3103" x2="36197" y2="41494"/>
                        <a14:foregroundMark x1="51220" y1="14023" x2="14468" y2="27126"/>
                        <a14:foregroundMark x1="11197" y1="39770" x2="43958" y2="96552"/>
                        <a14:foregroundMark x1="52882" y1="34368" x2="55155" y2="85862"/>
                        <a14:foregroundMark x1="83703" y1="26092" x2="76829" y2="47931"/>
                        <a14:foregroundMark x1="76829" y1="47931" x2="54601" y2="74023"/>
                        <a14:foregroundMark x1="54601" y1="74023" x2="45011" y2="70920"/>
                        <a14:foregroundMark x1="37251" y1="61494" x2="90078" y2="59310"/>
                        <a14:foregroundMark x1="89135" y1="54598" x2="38193" y2="48966"/>
                        <a14:foregroundMark x1="45621" y1="24713" x2="75388" y2="18161"/>
                        <a14:foregroundMark x1="73630" y1="10836" x2="31763" y2="7356"/>
                        <a14:foregroundMark x1="24279" y1="5057" x2="61918" y2="2759"/>
                        <a14:foregroundMark x1="61918" y1="2759" x2="66131" y2="2759"/>
                        <a14:foregroundMark x1="68404" y1="3103" x2="6541" y2="1954"/>
                        <a14:foregroundMark x1="4157" y1="2299" x2="2605" y2="84713"/>
                        <a14:foregroundMark x1="2605" y1="84713" x2="32594" y2="98161"/>
                        <a14:foregroundMark x1="32594" y1="98161" x2="52882" y2="96782"/>
                        <a14:foregroundMark x1="52882" y1="96782" x2="69678" y2="97931"/>
                        <a14:foregroundMark x1="69678" y1="97931" x2="98725" y2="94598"/>
                        <a14:foregroundMark x1="98725" y1="94598" x2="98559" y2="70805"/>
                        <a14:foregroundMark x1="98559" y1="70805" x2="92960" y2="29080"/>
                        <a14:foregroundMark x1="78485" y1="17925" x2="52217" y2="39540"/>
                        <a14:foregroundMark x1="52217" y1="39540" x2="49390" y2="47241"/>
                        <a14:foregroundMark x1="36863" y1="21954" x2="52882" y2="53678"/>
                        <a14:foregroundMark x1="50721" y1="26552" x2="80820" y2="58736"/>
                        <a14:foregroundMark x1="84257" y1="38391" x2="62528" y2="36322"/>
                        <a14:foregroundMark x1="86641" y1="45172" x2="94235" y2="84023"/>
                        <a14:foregroundMark x1="97506" y1="49540" x2="97284" y2="78161"/>
                        <a14:foregroundMark x1="97284" y1="78161" x2="96951" y2="78736"/>
                        <a14:foregroundMark x1="71341" y1="85632" x2="56319" y2="93448"/>
                        <a14:foregroundMark x1="56319" y1="93448" x2="49446" y2="92414"/>
                        <a14:foregroundMark x1="50998" y1="83793" x2="58703" y2="99770"/>
                        <a14:foregroundMark x1="58703" y1="99770" x2="58703" y2="99770"/>
                        <a14:foregroundMark x1="60421" y1="78046" x2="55155" y2="99885"/>
                        <a14:foregroundMark x1="55155" y1="99885" x2="55155" y2="99885"/>
                        <a14:foregroundMark x1="26552" y1="92069" x2="166" y2="92989"/>
                        <a14:foregroundMark x1="9479" y1="51724" x2="6208" y2="36322"/>
                        <a14:foregroundMark x1="6208" y1="36322" x2="5987" y2="33218"/>
                        <a14:foregroundMark x1="21397" y1="29770" x2="33481" y2="31839"/>
                        <a14:foregroundMark x1="33481" y1="31839" x2="55931" y2="28851"/>
                        <a14:foregroundMark x1="72838" y1="31724" x2="88027" y2="61839"/>
                        <a14:foregroundMark x1="92794" y1="69885" x2="53548" y2="80000"/>
                        <a14:foregroundMark x1="53548" y1="80000" x2="52328" y2="79540"/>
                        <a14:backgroundMark x1="74335" y1="460" x2="78936" y2="14828"/>
                        <a14:backgroundMark x1="78936" y1="14828" x2="92295" y2="14368"/>
                        <a14:backgroundMark x1="92295" y1="14368" x2="96563" y2="6437"/>
                        <a14:backgroundMark x1="96563" y1="6437" x2="74058" y2="1609"/>
                        <a14:backgroundMark x1="95565" y1="15287" x2="90909" y2="14253"/>
                        <a14:backgroundMark x1="90909" y1="14253" x2="81929" y2="6207"/>
                        <a14:backgroundMark x1="81929" y1="6207" x2="92738" y2="460"/>
                        <a14:backgroundMark x1="92738" y1="460" x2="92960" y2="460"/>
                        <a14:backgroundMark x1="98004" y1="460" x2="78437" y2="4943"/>
                        <a14:backgroundMark x1="80599" y1="1724" x2="88747" y2="805"/>
                        <a14:backgroundMark x1="88747" y1="805" x2="89911" y2="805"/>
                        <a14:backgroundMark x1="95177" y1="5057" x2="77993" y2="13218"/>
                        <a14:backgroundMark x1="77993" y1="13218" x2="73891" y2="13563"/>
                        <a14:backgroundMark x1="75887" y1="1494" x2="90687" y2="15172"/>
                        <a14:backgroundMark x1="90687" y1="15172" x2="91519" y2="15632"/>
                        <a14:backgroundMark x1="73060" y1="2069" x2="78936" y2="16437"/>
                        <a14:backgroundMark x1="78936" y1="16437" x2="92849" y2="15862"/>
                        <a14:backgroundMark x1="92849" y1="15862" x2="96619" y2="13103"/>
                        <a14:backgroundMark x1="96619" y1="13103" x2="97506" y2="3908"/>
                        <a14:backgroundMark x1="97506" y1="3908" x2="72506" y2="1724"/>
                        <a14:backgroundMark x1="72395" y1="2759" x2="81929" y2="20805"/>
                        <a14:backgroundMark x1="81929" y1="20805" x2="94789" y2="18276"/>
                        <a14:backgroundMark x1="94789" y1="18276" x2="95787" y2="7931"/>
                        <a14:backgroundMark x1="95787" y1="7931" x2="85865" y2="460"/>
                        <a14:backgroundMark x1="85865" y1="460" x2="81042" y2="1149"/>
                        <a14:backgroundMark x1="73004" y1="7356" x2="78271" y2="15977"/>
                        <a14:backgroundMark x1="78271" y1="15977" x2="85144" y2="19310"/>
                        <a14:backgroundMark x1="85033" y1="9195" x2="85033" y2="20920"/>
                        <a14:backgroundMark x1="94623" y1="7011" x2="96341" y2="17241"/>
                        <a14:backgroundMark x1="96341" y1="17241" x2="93404" y2="17011"/>
                        <a14:backgroundMark x1="96120" y1="9885" x2="94457" y2="11724"/>
                        <a14:backgroundMark x1="97173" y1="4368" x2="96840" y2="1609"/>
                        <a14:backgroundMark x1="97007" y1="4138" x2="96286" y2="1609"/>
                        <a14:backgroundMark x1="97118" y1="2299" x2="97506" y2="5057"/>
                      </a14:backgroundRemoval>
                    </a14:imgEffect>
                  </a14:imgLayer>
                </a14:imgProps>
              </a:ext>
            </a:extLst>
          </a:blip>
          <a:stretch>
            <a:fillRect/>
          </a:stretch>
        </p:blipFill>
        <p:spPr>
          <a:xfrm>
            <a:off x="0" y="761506"/>
            <a:ext cx="12192000" cy="5879734"/>
          </a:xfrm>
          <a:prstGeom prst="rect">
            <a:avLst/>
          </a:prstGeom>
        </p:spPr>
      </p:pic>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5"/>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sp>
        <p:nvSpPr>
          <p:cNvPr id="4" name="Tytuł 4">
            <a:extLst>
              <a:ext uri="{FF2B5EF4-FFF2-40B4-BE49-F238E27FC236}">
                <a16:creationId xmlns:a16="http://schemas.microsoft.com/office/drawing/2014/main" id="{75D762C3-2EB6-12ED-5562-BF721A604538}"/>
              </a:ext>
            </a:extLst>
          </p:cNvPr>
          <p:cNvSpPr>
            <a:spLocks noGrp="1"/>
          </p:cNvSpPr>
          <p:nvPr>
            <p:ph type="title"/>
          </p:nvPr>
        </p:nvSpPr>
        <p:spPr>
          <a:xfrm>
            <a:off x="7529209" y="-1"/>
            <a:ext cx="4662791" cy="2091448"/>
          </a:xfrm>
        </p:spPr>
        <p:txBody>
          <a:bodyPr>
            <a:noAutofit/>
          </a:bodyPr>
          <a:lstStyle/>
          <a:p>
            <a:pPr algn="ctr"/>
            <a:r>
              <a:rPr lang="pl-PL" sz="2800" dirty="0" err="1"/>
              <a:t>Convolutional</a:t>
            </a:r>
            <a:r>
              <a:rPr lang="pl-PL" sz="2800" dirty="0"/>
              <a:t> </a:t>
            </a:r>
            <a:r>
              <a:rPr lang="pl-PL" sz="2800" dirty="0" err="1"/>
              <a:t>Neural</a:t>
            </a:r>
            <a:r>
              <a:rPr lang="pl-PL" sz="2800" dirty="0"/>
              <a:t> Network:</a:t>
            </a:r>
            <a:br>
              <a:rPr lang="pl-PL" sz="2800" dirty="0"/>
            </a:br>
            <a:r>
              <a:rPr lang="en-GB" sz="3200" dirty="0"/>
              <a:t>1. Convolution</a:t>
            </a:r>
            <a:br>
              <a:rPr lang="pl-PL" sz="3200" dirty="0"/>
            </a:br>
            <a:br>
              <a:rPr lang="pl-PL" sz="3200" dirty="0"/>
            </a:br>
            <a:endParaRPr lang="en-GB" sz="3200" dirty="0"/>
          </a:p>
        </p:txBody>
      </p:sp>
    </p:spTree>
    <p:extLst>
      <p:ext uri="{BB962C8B-B14F-4D97-AF65-F5344CB8AC3E}">
        <p14:creationId xmlns:p14="http://schemas.microsoft.com/office/powerpoint/2010/main" val="1808405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3"/>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pic>
        <p:nvPicPr>
          <p:cNvPr id="3" name="Obraz 2">
            <a:extLst>
              <a:ext uri="{FF2B5EF4-FFF2-40B4-BE49-F238E27FC236}">
                <a16:creationId xmlns:a16="http://schemas.microsoft.com/office/drawing/2014/main" id="{D0A838ED-7B56-9496-4F2A-AD2031677B1D}"/>
              </a:ext>
            </a:extLst>
          </p:cNvPr>
          <p:cNvPicPr>
            <a:picLocks noChangeAspect="1"/>
          </p:cNvPicPr>
          <p:nvPr/>
        </p:nvPicPr>
        <p:blipFill>
          <a:blip r:embed="rId4"/>
          <a:stretch>
            <a:fillRect/>
          </a:stretch>
        </p:blipFill>
        <p:spPr>
          <a:xfrm>
            <a:off x="497150" y="1920722"/>
            <a:ext cx="8018894" cy="2845832"/>
          </a:xfrm>
          <a:prstGeom prst="rect">
            <a:avLst/>
          </a:prstGeom>
        </p:spPr>
      </p:pic>
      <p:sp>
        <p:nvSpPr>
          <p:cNvPr id="8" name="Dymek mowy: prostokąt 7">
            <a:extLst>
              <a:ext uri="{FF2B5EF4-FFF2-40B4-BE49-F238E27FC236}">
                <a16:creationId xmlns:a16="http://schemas.microsoft.com/office/drawing/2014/main" id="{54729361-44CA-B2A4-55DF-5C1D2D9E2157}"/>
              </a:ext>
            </a:extLst>
          </p:cNvPr>
          <p:cNvSpPr/>
          <p:nvPr/>
        </p:nvSpPr>
        <p:spPr>
          <a:xfrm>
            <a:off x="634492" y="1219592"/>
            <a:ext cx="2602613"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2000" dirty="0" err="1">
                <a:solidFill>
                  <a:schemeClr val="tx1"/>
                </a:solidFill>
                <a:latin typeface="Comic Sans MS" panose="030F0702030302020204" pitchFamily="66" charset="0"/>
              </a:rPr>
              <a:t>Feature</a:t>
            </a:r>
            <a:r>
              <a:rPr lang="pl-PL" sz="2000" dirty="0">
                <a:solidFill>
                  <a:schemeClr val="tx1"/>
                </a:solidFill>
                <a:latin typeface="Comic Sans MS" panose="030F0702030302020204" pitchFamily="66" charset="0"/>
              </a:rPr>
              <a:t> map</a:t>
            </a:r>
          </a:p>
        </p:txBody>
      </p:sp>
      <p:sp>
        <p:nvSpPr>
          <p:cNvPr id="9" name="Dymek mowy: prostokąt 8">
            <a:extLst>
              <a:ext uri="{FF2B5EF4-FFF2-40B4-BE49-F238E27FC236}">
                <a16:creationId xmlns:a16="http://schemas.microsoft.com/office/drawing/2014/main" id="{8FD4631F-FDC5-295B-4AA7-924924578ACB}"/>
              </a:ext>
            </a:extLst>
          </p:cNvPr>
          <p:cNvSpPr/>
          <p:nvPr/>
        </p:nvSpPr>
        <p:spPr>
          <a:xfrm>
            <a:off x="5767266" y="1300541"/>
            <a:ext cx="2748778"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dirty="0" err="1">
                <a:solidFill>
                  <a:schemeClr val="tx1"/>
                </a:solidFill>
                <a:latin typeface="Comic Sans MS" panose="030F0702030302020204" pitchFamily="66" charset="0"/>
              </a:rPr>
              <a:t>Feature</a:t>
            </a:r>
            <a:r>
              <a:rPr lang="pl-PL" dirty="0">
                <a:solidFill>
                  <a:schemeClr val="tx1"/>
                </a:solidFill>
                <a:latin typeface="Comic Sans MS" panose="030F0702030302020204" pitchFamily="66" charset="0"/>
              </a:rPr>
              <a:t> map, post </a:t>
            </a:r>
            <a:r>
              <a:rPr lang="pl-PL" dirty="0" err="1">
                <a:solidFill>
                  <a:schemeClr val="tx1"/>
                </a:solidFill>
                <a:latin typeface="Comic Sans MS" panose="030F0702030302020204" pitchFamily="66" charset="0"/>
              </a:rPr>
              <a:t>ReLU</a:t>
            </a:r>
            <a:endParaRPr lang="pl-PL" dirty="0">
              <a:solidFill>
                <a:schemeClr val="tx1"/>
              </a:solidFill>
              <a:latin typeface="Comic Sans MS" panose="030F0702030302020204" pitchFamily="66" charset="0"/>
            </a:endParaRPr>
          </a:p>
        </p:txBody>
      </p:sp>
      <p:sp>
        <p:nvSpPr>
          <p:cNvPr id="10" name="Dymek mowy: prostokąt 9">
            <a:extLst>
              <a:ext uri="{FF2B5EF4-FFF2-40B4-BE49-F238E27FC236}">
                <a16:creationId xmlns:a16="http://schemas.microsoft.com/office/drawing/2014/main" id="{BA985256-D1FF-966E-7957-103E492FF29A}"/>
              </a:ext>
            </a:extLst>
          </p:cNvPr>
          <p:cNvSpPr/>
          <p:nvPr/>
        </p:nvSpPr>
        <p:spPr>
          <a:xfrm>
            <a:off x="3427220" y="4227322"/>
            <a:ext cx="2158753" cy="539232"/>
          </a:xfrm>
          <a:prstGeom prst="wedgeRectCallout">
            <a:avLst>
              <a:gd name="adj1" fmla="val -33895"/>
              <a:gd name="adj2" fmla="val 47286"/>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pl-PL" sz="2000" dirty="0" err="1">
                <a:solidFill>
                  <a:schemeClr val="bg1"/>
                </a:solidFill>
                <a:latin typeface="Comic Sans MS" panose="030F0702030302020204" pitchFamily="66" charset="0"/>
              </a:rPr>
              <a:t>ReLU</a:t>
            </a:r>
            <a:r>
              <a:rPr lang="pl-PL" sz="2000" dirty="0">
                <a:solidFill>
                  <a:schemeClr val="bg1"/>
                </a:solidFill>
                <a:latin typeface="Comic Sans MS" panose="030F0702030302020204" pitchFamily="66" charset="0"/>
              </a:rPr>
              <a:t> = max(0,x)</a:t>
            </a:r>
          </a:p>
        </p:txBody>
      </p:sp>
      <p:sp>
        <p:nvSpPr>
          <p:cNvPr id="2" name="Tytuł 4">
            <a:extLst>
              <a:ext uri="{FF2B5EF4-FFF2-40B4-BE49-F238E27FC236}">
                <a16:creationId xmlns:a16="http://schemas.microsoft.com/office/drawing/2014/main" id="{868A6E35-A92D-D542-0078-EC74733D298D}"/>
              </a:ext>
            </a:extLst>
          </p:cNvPr>
          <p:cNvSpPr>
            <a:spLocks noGrp="1"/>
          </p:cNvSpPr>
          <p:nvPr>
            <p:ph type="title"/>
          </p:nvPr>
        </p:nvSpPr>
        <p:spPr>
          <a:xfrm>
            <a:off x="7529209" y="-1"/>
            <a:ext cx="4662791" cy="2091448"/>
          </a:xfrm>
        </p:spPr>
        <p:txBody>
          <a:bodyPr>
            <a:noAutofit/>
          </a:bodyPr>
          <a:lstStyle/>
          <a:p>
            <a:pPr algn="ctr"/>
            <a:r>
              <a:rPr lang="pl-PL" sz="2800" dirty="0" err="1"/>
              <a:t>Convolutional</a:t>
            </a:r>
            <a:r>
              <a:rPr lang="pl-PL" sz="2800" dirty="0"/>
              <a:t> </a:t>
            </a:r>
            <a:r>
              <a:rPr lang="pl-PL" sz="2800" dirty="0" err="1"/>
              <a:t>Neural</a:t>
            </a:r>
            <a:r>
              <a:rPr lang="pl-PL" sz="2800" dirty="0"/>
              <a:t> Network:</a:t>
            </a:r>
            <a:br>
              <a:rPr lang="pl-PL" sz="2800" dirty="0"/>
            </a:br>
            <a:r>
              <a:rPr lang="en-GB" sz="3200" dirty="0"/>
              <a:t>1. Convolution</a:t>
            </a:r>
            <a:br>
              <a:rPr lang="pl-PL" sz="3200" dirty="0"/>
            </a:br>
            <a:br>
              <a:rPr lang="pl-PL" sz="3200" dirty="0"/>
            </a:br>
            <a:endParaRPr lang="en-GB" sz="3200" dirty="0"/>
          </a:p>
        </p:txBody>
      </p:sp>
    </p:spTree>
    <p:extLst>
      <p:ext uri="{BB962C8B-B14F-4D97-AF65-F5344CB8AC3E}">
        <p14:creationId xmlns:p14="http://schemas.microsoft.com/office/powerpoint/2010/main" val="798313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35C71DD2-5D60-93B0-35A4-9AE97C86B42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07" b="96640" l="1614" r="97997">
                        <a14:foregroundMark x1="45799" y1="50611" x2="36060" y2="55295"/>
                        <a14:foregroundMark x1="36060" y1="55295" x2="29661" y2="80143"/>
                        <a14:foregroundMark x1="29661" y1="80143" x2="47524" y2="87984"/>
                        <a14:foregroundMark x1="47524" y1="87984" x2="52031" y2="85642"/>
                        <a14:foregroundMark x1="99165" y1="98676" x2="1224" y2="88086"/>
                        <a14:foregroundMark x1="1224" y1="88086" x2="8347" y2="24542"/>
                        <a14:foregroundMark x1="8347" y1="24542" x2="34669" y2="5601"/>
                        <a14:foregroundMark x1="34669" y1="5601" x2="58875" y2="4777"/>
                        <a14:foregroundMark x1="94209" y1="19852" x2="93100" y2="83809"/>
                        <a14:foregroundMark x1="94303" y1="14415" x2="94248" y2="17561"/>
                        <a14:foregroundMark x1="94400" y1="8805" x2="94327" y2="12998"/>
                        <a14:foregroundMark x1="94491" y1="3564" x2="94467" y2="4942"/>
                        <a14:foregroundMark x1="98052" y1="8147" x2="97663" y2="96640"/>
                        <a14:foregroundMark x1="97997" y1="96029" x2="75014" y2="82790"/>
                        <a14:foregroundMark x1="75014" y1="82790" x2="70117" y2="72301"/>
                        <a14:foregroundMark x1="70117" y1="72301" x2="70061" y2="71690"/>
                        <a14:foregroundMark x1="60879" y1="42057" x2="29772" y2="18635"/>
                        <a14:foregroundMark x1="56706" y1="26986" x2="35114" y2="20672"/>
                        <a14:foregroundMark x1="49304" y1="10692" x2="31942" y2="37984"/>
                        <a14:foregroundMark x1="6127" y1="7718" x2="3339" y2="17923"/>
                        <a14:foregroundMark x1="3339" y1="17923" x2="1892" y2="76782"/>
                        <a14:foregroundMark x1="1892" y1="76782" x2="8347" y2="94196"/>
                        <a14:foregroundMark x1="8347" y1="94196" x2="9572" y2="95621"/>
                        <a14:foregroundMark x1="26822" y1="95927" x2="10351" y2="50611"/>
                        <a14:foregroundMark x1="10351" y1="50611" x2="8625" y2="47556"/>
                        <a14:foregroundMark x1="24263" y1="31263" x2="20701" y2="47454"/>
                        <a14:foregroundMark x1="20701" y1="47454" x2="1725" y2="78717"/>
                        <a14:foregroundMark x1="1725" y1="78717" x2="2059" y2="85438"/>
                        <a14:foregroundMark x1="18753" y1="95316" x2="2226" y2="62933"/>
                        <a14:foregroundMark x1="11464" y1="58961" x2="5565" y2="87373"/>
                        <a14:foregroundMark x1="5565" y1="87373" x2="4953" y2="89206"/>
                        <a14:foregroundMark x1="19310" y1="96741" x2="1836" y2="77393"/>
                        <a14:foregroundMark x1="28102" y1="16497" x2="12076" y2="1018"/>
                        <a14:foregroundMark x1="24819" y1="1629" x2="8706" y2="1081"/>
                        <a14:foregroundMark x1="40957" y1="15173" x2="37173" y2="72403"/>
                        <a14:foregroundMark x1="73511" y1="25255" x2="85309" y2="96334"/>
                        <a14:foregroundMark x1="85309" y1="96334" x2="85364" y2="96334"/>
                        <a14:foregroundMark x1="60841" y1="19723" x2="34279" y2="30754"/>
                        <a14:foregroundMark x1="95826" y1="5193" x2="95451" y2="5349"/>
                        <a14:foregroundMark x1="34279" y1="30754" x2="15025" y2="67006"/>
                        <a14:foregroundMark x1="15025" y1="67006" x2="13801" y2="76375"/>
                        <a14:foregroundMark x1="13801" y1="76375" x2="13856" y2="76375"/>
                        <a14:foregroundMark x1="16694" y1="75356" x2="35114" y2="85743"/>
                        <a14:foregroundMark x1="35114" y1="85743" x2="81803" y2="83096"/>
                        <a14:foregroundMark x1="81803" y1="83096" x2="89705" y2="46843"/>
                        <a14:foregroundMark x1="89705" y1="46843" x2="54146" y2="44297"/>
                        <a14:foregroundMark x1="54146" y1="44297" x2="79967" y2="28717"/>
                        <a14:foregroundMark x1="79967" y1="28717" x2="34446" y2="38391"/>
                        <a14:foregroundMark x1="34446" y1="38391" x2="19254" y2="32892"/>
                        <a14:foregroundMark x1="19254" y1="32892" x2="24430" y2="15377"/>
                        <a14:foregroundMark x1="24430" y1="15377" x2="13300" y2="16293"/>
                        <a14:foregroundMark x1="13300" y1="16293" x2="13801" y2="71079"/>
                        <a14:foregroundMark x1="13801" y1="71079" x2="27546" y2="68330"/>
                        <a14:foregroundMark x1="27546" y1="68330" x2="72565" y2="81365"/>
                        <a14:foregroundMark x1="72565" y1="81365" x2="85309" y2="72301"/>
                        <a14:foregroundMark x1="85309" y1="72301" x2="84418" y2="63238"/>
                        <a14:foregroundMark x1="84418" y1="63238" x2="87184" y2="29629"/>
                        <a14:foregroundMark x1="62112" y1="23477" x2="39900" y2="47760"/>
                        <a14:foregroundMark x1="39900" y1="47760" x2="53756" y2="37780"/>
                        <a14:foregroundMark x1="73344" y1="79532" x2="70673" y2="58961"/>
                        <a14:foregroundMark x1="72788" y1="80244" x2="73957" y2="62933"/>
                        <a14:foregroundMark x1="9238" y1="611" x2="9182" y2="407"/>
                        <a14:foregroundMark x1="8625" y1="5804" x2="9572" y2="3055"/>
                        <a14:backgroundMark x1="7846" y1="1018" x2="4508" y2="6415"/>
                        <a14:backgroundMark x1="4508" y1="6415" x2="390" y2="3870"/>
                        <a14:backgroundMark x1="390" y1="3870" x2="4174" y2="713"/>
                        <a14:backgroundMark x1="4174" y1="713" x2="7735" y2="713"/>
                        <a14:backgroundMark x1="7568" y1="1629" x2="3172" y2="6925"/>
                        <a14:backgroundMark x1="3172" y1="6925" x2="612" y2="8147"/>
                        <a14:backgroundMark x1="0" y1="9470" x2="4841" y2="8350"/>
                        <a14:backgroundMark x1="4841" y1="8350" x2="8403" y2="3666"/>
                        <a14:backgroundMark x1="8403" y1="3666" x2="8459" y2="0"/>
                        <a14:backgroundMark x1="6956" y1="1018" x2="8292" y2="1324"/>
                        <a14:backgroundMark x1="6455" y1="2342" x2="3339" y2="6008"/>
                        <a14:backgroundMark x1="91987" y1="48574" x2="88314" y2="27699"/>
                        <a14:backgroundMark x1="88314" y1="27699" x2="86144" y2="21385"/>
                        <a14:backgroundMark x1="86144" y1="21385" x2="62437" y2="16701"/>
                        <a14:backgroundMark x1="62437" y1="16701" x2="62938" y2="7536"/>
                        <a14:backgroundMark x1="62938" y1="7536" x2="88815" y2="1629"/>
                        <a14:backgroundMark x1="88815" y1="1629" x2="93990" y2="3157"/>
                        <a14:backgroundMark x1="93990" y1="3157" x2="93990" y2="12525"/>
                        <a14:backgroundMark x1="93990" y1="12525" x2="89983" y2="20163"/>
                        <a14:backgroundMark x1="89983" y1="20163" x2="70339" y2="15275"/>
                        <a14:backgroundMark x1="70339" y1="15275" x2="90707" y2="4684"/>
                        <a14:backgroundMark x1="87869" y1="11507" x2="81413" y2="16904"/>
                        <a14:backgroundMark x1="81413" y1="16904" x2="79410" y2="9470"/>
                        <a14:backgroundMark x1="79410" y1="9470" x2="79410" y2="8350"/>
                        <a14:backgroundMark x1="89705" y1="5703" x2="75737" y2="16497"/>
                        <a14:backgroundMark x1="75737" y1="16497" x2="75626" y2="16497"/>
                        <a14:backgroundMark x1="92766" y1="8859" x2="88703" y2="12322"/>
                        <a14:backgroundMark x1="88703" y1="12322" x2="62827" y2="18941"/>
                        <a14:backgroundMark x1="62827" y1="18941" x2="62326" y2="19450"/>
                        <a14:backgroundMark x1="59210" y1="7739" x2="64830" y2="4277"/>
                        <a14:backgroundMark x1="64830" y1="4277" x2="65442" y2="4175"/>
                        <a14:backgroundMark x1="92376" y1="4175" x2="89204" y2="8758"/>
                        <a14:backgroundMark x1="86144" y1="2444" x2="86422" y2="9369"/>
                        <a14:backgroundMark x1="88536" y1="2138" x2="85309" y2="8147"/>
                        <a14:backgroundMark x1="94324" y1="4684" x2="83194" y2="18228"/>
                        <a14:backgroundMark x1="89705" y1="23625" x2="80634" y2="18839"/>
                        <a14:backgroundMark x1="80634" y1="18839" x2="77407" y2="13646"/>
                        <a14:backgroundMark x1="77407" y1="13646" x2="79243" y2="10896"/>
                        <a14:backgroundMark x1="87145" y1="3971" x2="83361" y2="4990"/>
                        <a14:backgroundMark x1="91208" y1="3666" x2="87924" y2="3768"/>
                        <a14:backgroundMark x1="73623" y1="5397" x2="63662" y2="5397"/>
                        <a14:backgroundMark x1="63662" y1="5397" x2="63328" y2="4990"/>
                        <a14:backgroundMark x1="61213" y1="4481" x2="66945" y2="3666"/>
                        <a14:backgroundMark x1="62549" y1="7739" x2="64552" y2="14868"/>
                        <a14:backgroundMark x1="64552" y1="14868" x2="69338" y2="22505"/>
                        <a14:backgroundMark x1="69338" y1="22505" x2="70785" y2="23320"/>
                        <a14:backgroundMark x1="68058" y1="20468" x2="62437" y2="17108"/>
                        <a14:backgroundMark x1="62437" y1="17108" x2="61491" y2="15479"/>
                        <a14:backgroundMark x1="84252" y1="14155" x2="86477" y2="18126"/>
                        <a14:backgroundMark x1="92098" y1="48574" x2="86311" y2="25866"/>
                        <a14:backgroundMark x1="86311" y1="25866" x2="86088" y2="20978"/>
                        <a14:backgroundMark x1="86088" y1="20163" x2="87145" y2="28411"/>
                        <a14:backgroundMark x1="87145" y1="28411" x2="87924" y2="29633"/>
                        <a14:backgroundMark x1="92376" y1="45418" x2="89204" y2="35336"/>
                        <a14:backgroundMark x1="89204" y1="35336" x2="88648" y2="35031"/>
                        <a14:backgroundMark x1="59766" y1="3666" x2="60267" y2="12831"/>
                        <a14:backgroundMark x1="60267" y1="12831" x2="62493" y2="22403"/>
                        <a14:backgroundMark x1="62493" y1="22403" x2="79299" y2="23320"/>
                        <a14:backgroundMark x1="79299" y1="23320" x2="90262" y2="23014"/>
                        <a14:backgroundMark x1="90262" y1="23014" x2="95326" y2="17515"/>
                        <a14:backgroundMark x1="95326" y1="17515" x2="95604" y2="7536"/>
                        <a14:backgroundMark x1="95604" y1="7536" x2="60100" y2="3157"/>
                        <a14:backgroundMark x1="60100" y1="3157" x2="59655" y2="3157"/>
                        <a14:backgroundMark x1="69171" y1="18635" x2="62159" y2="19959"/>
                        <a14:backgroundMark x1="61380" y1="4990" x2="59989" y2="4786"/>
                        <a14:backgroundMark x1="7902" y1="6823" x2="7513" y2="4990"/>
                      </a14:backgroundRemoval>
                    </a14:imgEffect>
                  </a14:imgLayer>
                </a14:imgProps>
              </a:ext>
            </a:extLst>
          </a:blip>
          <a:stretch>
            <a:fillRect/>
          </a:stretch>
        </p:blipFill>
        <p:spPr>
          <a:xfrm>
            <a:off x="0" y="195482"/>
            <a:ext cx="12192000" cy="6662518"/>
          </a:xfrm>
          <a:prstGeom prst="rect">
            <a:avLst/>
          </a:prstGeom>
        </p:spPr>
      </p:pic>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5"/>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sp>
        <p:nvSpPr>
          <p:cNvPr id="2" name="Prostokąt 1">
            <a:extLst>
              <a:ext uri="{FF2B5EF4-FFF2-40B4-BE49-F238E27FC236}">
                <a16:creationId xmlns:a16="http://schemas.microsoft.com/office/drawing/2014/main" id="{C50CB4C4-80FB-FFB9-EB84-C6BD421FCB62}"/>
              </a:ext>
            </a:extLst>
          </p:cNvPr>
          <p:cNvSpPr/>
          <p:nvPr/>
        </p:nvSpPr>
        <p:spPr>
          <a:xfrm>
            <a:off x="1" y="97277"/>
            <a:ext cx="2811294" cy="6565241"/>
          </a:xfrm>
          <a:prstGeom prst="rect">
            <a:avLst/>
          </a:prstGeom>
          <a:noFill/>
          <a:ln w="76200">
            <a:solidFill>
              <a:srgbClr val="E91D12"/>
            </a:solidFill>
            <a:prstDash val="sysDot"/>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4" name="Prostokąt 3">
            <a:extLst>
              <a:ext uri="{FF2B5EF4-FFF2-40B4-BE49-F238E27FC236}">
                <a16:creationId xmlns:a16="http://schemas.microsoft.com/office/drawing/2014/main" id="{9F73632F-B524-9517-56C2-B4DF60F1213F}"/>
              </a:ext>
            </a:extLst>
          </p:cNvPr>
          <p:cNvSpPr/>
          <p:nvPr/>
        </p:nvSpPr>
        <p:spPr>
          <a:xfrm>
            <a:off x="2889115" y="97277"/>
            <a:ext cx="3511685" cy="3005846"/>
          </a:xfrm>
          <a:prstGeom prst="rect">
            <a:avLst/>
          </a:prstGeom>
          <a:noFill/>
          <a:ln w="76200">
            <a:solidFill>
              <a:schemeClr val="accent2"/>
            </a:solidFill>
            <a:prstDash val="sysDot"/>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6" name="Prostokąt 5">
            <a:extLst>
              <a:ext uri="{FF2B5EF4-FFF2-40B4-BE49-F238E27FC236}">
                <a16:creationId xmlns:a16="http://schemas.microsoft.com/office/drawing/2014/main" id="{3E092C45-7F70-C74D-08CD-B3A904DE04A8}"/>
              </a:ext>
            </a:extLst>
          </p:cNvPr>
          <p:cNvSpPr/>
          <p:nvPr/>
        </p:nvSpPr>
        <p:spPr>
          <a:xfrm>
            <a:off x="3391711" y="3103123"/>
            <a:ext cx="8800288" cy="3657600"/>
          </a:xfrm>
          <a:prstGeom prst="rect">
            <a:avLst/>
          </a:prstGeom>
          <a:noFill/>
          <a:ln w="76200">
            <a:solidFill>
              <a:schemeClr val="accent6"/>
            </a:solidFill>
            <a:prstDash val="sysDot"/>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7" name="Strzałka: w dół 6">
            <a:extLst>
              <a:ext uri="{FF2B5EF4-FFF2-40B4-BE49-F238E27FC236}">
                <a16:creationId xmlns:a16="http://schemas.microsoft.com/office/drawing/2014/main" id="{17C653AC-AF49-8775-B506-E3F90568361E}"/>
              </a:ext>
            </a:extLst>
          </p:cNvPr>
          <p:cNvSpPr/>
          <p:nvPr/>
        </p:nvSpPr>
        <p:spPr>
          <a:xfrm rot="3925195">
            <a:off x="5669906" y="851270"/>
            <a:ext cx="2106934" cy="2103631"/>
          </a:xfrm>
          <a:prstGeom prst="down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GB"/>
          </a:p>
        </p:txBody>
      </p:sp>
      <p:sp>
        <p:nvSpPr>
          <p:cNvPr id="10" name="Tytuł 4">
            <a:extLst>
              <a:ext uri="{FF2B5EF4-FFF2-40B4-BE49-F238E27FC236}">
                <a16:creationId xmlns:a16="http://schemas.microsoft.com/office/drawing/2014/main" id="{D6F145CB-AABF-1403-3927-239C11D1BFAF}"/>
              </a:ext>
            </a:extLst>
          </p:cNvPr>
          <p:cNvSpPr>
            <a:spLocks noGrp="1"/>
          </p:cNvSpPr>
          <p:nvPr>
            <p:ph type="title"/>
          </p:nvPr>
        </p:nvSpPr>
        <p:spPr>
          <a:xfrm>
            <a:off x="7529209" y="-1"/>
            <a:ext cx="4662791" cy="2091448"/>
          </a:xfrm>
        </p:spPr>
        <p:txBody>
          <a:bodyPr>
            <a:noAutofit/>
          </a:bodyPr>
          <a:lstStyle/>
          <a:p>
            <a:pPr algn="ctr"/>
            <a:r>
              <a:rPr lang="pl-PL" sz="2800" dirty="0" err="1"/>
              <a:t>Convolutional</a:t>
            </a:r>
            <a:r>
              <a:rPr lang="pl-PL" sz="2800" dirty="0"/>
              <a:t> </a:t>
            </a:r>
            <a:r>
              <a:rPr lang="pl-PL" sz="2800" dirty="0" err="1"/>
              <a:t>Neural</a:t>
            </a:r>
            <a:r>
              <a:rPr lang="pl-PL" sz="2800" dirty="0"/>
              <a:t> Network:</a:t>
            </a:r>
            <a:br>
              <a:rPr lang="pl-PL" sz="2800" dirty="0"/>
            </a:br>
            <a:r>
              <a:rPr lang="en-GB" sz="3200" dirty="0"/>
              <a:t>1. Convolution</a:t>
            </a:r>
            <a:br>
              <a:rPr lang="en-GB" sz="3200" dirty="0"/>
            </a:br>
            <a:r>
              <a:rPr lang="en-GB" sz="3200" b="1" u="sng" dirty="0"/>
              <a:t>2. Max pooling</a:t>
            </a:r>
            <a:br>
              <a:rPr lang="en-GB" sz="3200" dirty="0"/>
            </a:br>
            <a:r>
              <a:rPr lang="en-GB" sz="3200" dirty="0"/>
              <a:t>3. Regular neural network</a:t>
            </a:r>
          </a:p>
        </p:txBody>
      </p:sp>
    </p:spTree>
    <p:extLst>
      <p:ext uri="{BB962C8B-B14F-4D97-AF65-F5344CB8AC3E}">
        <p14:creationId xmlns:p14="http://schemas.microsoft.com/office/powerpoint/2010/main" val="2521042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t>https://towardsdatascience.com/the-most-intuitive-and-easiest-guide-for-convolutional-neural-network-3607be47480</a:t>
            </a:r>
          </a:p>
        </p:txBody>
      </p:sp>
      <p:pic>
        <p:nvPicPr>
          <p:cNvPr id="3" name="Obraz 2">
            <a:extLst>
              <a:ext uri="{FF2B5EF4-FFF2-40B4-BE49-F238E27FC236}">
                <a16:creationId xmlns:a16="http://schemas.microsoft.com/office/drawing/2014/main" id="{D0A838ED-7B56-9496-4F2A-AD2031677B1D}"/>
              </a:ext>
            </a:extLst>
          </p:cNvPr>
          <p:cNvPicPr>
            <a:picLocks noChangeAspect="1"/>
          </p:cNvPicPr>
          <p:nvPr/>
        </p:nvPicPr>
        <p:blipFill>
          <a:blip r:embed="rId3"/>
          <a:stretch>
            <a:fillRect/>
          </a:stretch>
        </p:blipFill>
        <p:spPr>
          <a:xfrm>
            <a:off x="128328" y="1945758"/>
            <a:ext cx="6731969" cy="2389114"/>
          </a:xfrm>
          <a:prstGeom prst="rect">
            <a:avLst/>
          </a:prstGeom>
        </p:spPr>
      </p:pic>
      <p:sp>
        <p:nvSpPr>
          <p:cNvPr id="8" name="Dymek mowy: prostokąt 7">
            <a:extLst>
              <a:ext uri="{FF2B5EF4-FFF2-40B4-BE49-F238E27FC236}">
                <a16:creationId xmlns:a16="http://schemas.microsoft.com/office/drawing/2014/main" id="{54729361-44CA-B2A4-55DF-5C1D2D9E2157}"/>
              </a:ext>
            </a:extLst>
          </p:cNvPr>
          <p:cNvSpPr/>
          <p:nvPr/>
        </p:nvSpPr>
        <p:spPr>
          <a:xfrm>
            <a:off x="128329" y="1312861"/>
            <a:ext cx="2340552"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2000" dirty="0" err="1">
                <a:solidFill>
                  <a:schemeClr val="tx1"/>
                </a:solidFill>
                <a:latin typeface="Comic Sans MS" panose="030F0702030302020204" pitchFamily="66" charset="0"/>
              </a:rPr>
              <a:t>Feature</a:t>
            </a:r>
            <a:r>
              <a:rPr lang="pl-PL" sz="2000" dirty="0">
                <a:solidFill>
                  <a:schemeClr val="tx1"/>
                </a:solidFill>
                <a:latin typeface="Comic Sans MS" panose="030F0702030302020204" pitchFamily="66" charset="0"/>
              </a:rPr>
              <a:t> map</a:t>
            </a:r>
          </a:p>
        </p:txBody>
      </p:sp>
      <p:sp>
        <p:nvSpPr>
          <p:cNvPr id="9" name="Dymek mowy: prostokąt 8">
            <a:extLst>
              <a:ext uri="{FF2B5EF4-FFF2-40B4-BE49-F238E27FC236}">
                <a16:creationId xmlns:a16="http://schemas.microsoft.com/office/drawing/2014/main" id="{8FD4631F-FDC5-295B-4AA7-924924578ACB}"/>
              </a:ext>
            </a:extLst>
          </p:cNvPr>
          <p:cNvSpPr/>
          <p:nvPr/>
        </p:nvSpPr>
        <p:spPr>
          <a:xfrm>
            <a:off x="4358936" y="1322330"/>
            <a:ext cx="2496154"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1600" dirty="0" err="1">
                <a:solidFill>
                  <a:schemeClr val="tx1"/>
                </a:solidFill>
                <a:latin typeface="Comic Sans MS" panose="030F0702030302020204" pitchFamily="66" charset="0"/>
              </a:rPr>
              <a:t>Feature</a:t>
            </a:r>
            <a:r>
              <a:rPr lang="pl-PL" sz="1600" dirty="0">
                <a:solidFill>
                  <a:schemeClr val="tx1"/>
                </a:solidFill>
                <a:latin typeface="Comic Sans MS" panose="030F0702030302020204" pitchFamily="66" charset="0"/>
              </a:rPr>
              <a:t> map, post </a:t>
            </a:r>
            <a:r>
              <a:rPr lang="pl-PL" sz="1600" dirty="0" err="1">
                <a:solidFill>
                  <a:schemeClr val="tx1"/>
                </a:solidFill>
                <a:latin typeface="Comic Sans MS" panose="030F0702030302020204" pitchFamily="66" charset="0"/>
              </a:rPr>
              <a:t>ReLU</a:t>
            </a:r>
            <a:endParaRPr lang="pl-PL" sz="1600" dirty="0">
              <a:solidFill>
                <a:schemeClr val="tx1"/>
              </a:solidFill>
              <a:latin typeface="Comic Sans MS" panose="030F0702030302020204" pitchFamily="66" charset="0"/>
            </a:endParaRPr>
          </a:p>
        </p:txBody>
      </p:sp>
      <p:sp>
        <p:nvSpPr>
          <p:cNvPr id="10" name="Dymek mowy: prostokąt 9">
            <a:extLst>
              <a:ext uri="{FF2B5EF4-FFF2-40B4-BE49-F238E27FC236}">
                <a16:creationId xmlns:a16="http://schemas.microsoft.com/office/drawing/2014/main" id="{BA985256-D1FF-966E-7957-103E492FF29A}"/>
              </a:ext>
            </a:extLst>
          </p:cNvPr>
          <p:cNvSpPr/>
          <p:nvPr/>
        </p:nvSpPr>
        <p:spPr>
          <a:xfrm>
            <a:off x="3032999" y="3598949"/>
            <a:ext cx="922625" cy="627116"/>
          </a:xfrm>
          <a:prstGeom prst="wedgeRectCallout">
            <a:avLst>
              <a:gd name="adj1" fmla="val -33895"/>
              <a:gd name="adj2" fmla="val 47286"/>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pl-PL" sz="2000" dirty="0" err="1">
                <a:solidFill>
                  <a:schemeClr val="bg1"/>
                </a:solidFill>
                <a:latin typeface="Comic Sans MS" panose="030F0702030302020204" pitchFamily="66" charset="0"/>
              </a:rPr>
              <a:t>ReLU</a:t>
            </a:r>
            <a:endParaRPr lang="pl-PL" sz="2000" dirty="0">
              <a:solidFill>
                <a:schemeClr val="bg1"/>
              </a:solidFill>
              <a:latin typeface="Comic Sans MS" panose="030F0702030302020204" pitchFamily="66" charset="0"/>
            </a:endParaRPr>
          </a:p>
        </p:txBody>
      </p:sp>
      <p:pic>
        <p:nvPicPr>
          <p:cNvPr id="4" name="Obraz 3">
            <a:extLst>
              <a:ext uri="{FF2B5EF4-FFF2-40B4-BE49-F238E27FC236}">
                <a16:creationId xmlns:a16="http://schemas.microsoft.com/office/drawing/2014/main" id="{689763C7-52C2-6FEE-827F-CFA003BCDE24}"/>
              </a:ext>
            </a:extLst>
          </p:cNvPr>
          <p:cNvPicPr>
            <a:picLocks noChangeAspect="1"/>
          </p:cNvPicPr>
          <p:nvPr/>
        </p:nvPicPr>
        <p:blipFill>
          <a:blip r:embed="rId4"/>
          <a:stretch>
            <a:fillRect/>
          </a:stretch>
        </p:blipFill>
        <p:spPr>
          <a:xfrm>
            <a:off x="4445246" y="1945758"/>
            <a:ext cx="4570706" cy="2433325"/>
          </a:xfrm>
          <a:prstGeom prst="rect">
            <a:avLst/>
          </a:prstGeom>
        </p:spPr>
      </p:pic>
      <p:sp>
        <p:nvSpPr>
          <p:cNvPr id="6" name="Dymek mowy: prostokąt 5">
            <a:extLst>
              <a:ext uri="{FF2B5EF4-FFF2-40B4-BE49-F238E27FC236}">
                <a16:creationId xmlns:a16="http://schemas.microsoft.com/office/drawing/2014/main" id="{15DB3908-5B19-63BA-878F-7671DF05E517}"/>
              </a:ext>
            </a:extLst>
          </p:cNvPr>
          <p:cNvSpPr/>
          <p:nvPr/>
        </p:nvSpPr>
        <p:spPr>
          <a:xfrm>
            <a:off x="7767875" y="1355400"/>
            <a:ext cx="1248077"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1600" dirty="0">
                <a:solidFill>
                  <a:schemeClr val="tx1"/>
                </a:solidFill>
                <a:latin typeface="Comic Sans MS" panose="030F0702030302020204" pitchFamily="66" charset="0"/>
              </a:rPr>
              <a:t>Max </a:t>
            </a:r>
            <a:r>
              <a:rPr lang="pl-PL" sz="1600" dirty="0" err="1">
                <a:solidFill>
                  <a:schemeClr val="tx1"/>
                </a:solidFill>
                <a:latin typeface="Comic Sans MS" panose="030F0702030302020204" pitchFamily="66" charset="0"/>
              </a:rPr>
              <a:t>Pooled</a:t>
            </a:r>
            <a:endParaRPr lang="pl-PL" sz="1600" dirty="0">
              <a:solidFill>
                <a:schemeClr val="tx1"/>
              </a:solidFill>
              <a:latin typeface="Comic Sans MS" panose="030F0702030302020204" pitchFamily="66" charset="0"/>
            </a:endParaRPr>
          </a:p>
        </p:txBody>
      </p:sp>
      <p:sp>
        <p:nvSpPr>
          <p:cNvPr id="7" name="pole tekstowe 6">
            <a:extLst>
              <a:ext uri="{FF2B5EF4-FFF2-40B4-BE49-F238E27FC236}">
                <a16:creationId xmlns:a16="http://schemas.microsoft.com/office/drawing/2014/main" id="{4B870BCE-EF9F-8889-A261-4515E8C5C932}"/>
              </a:ext>
            </a:extLst>
          </p:cNvPr>
          <p:cNvSpPr txBox="1"/>
          <p:nvPr/>
        </p:nvSpPr>
        <p:spPr>
          <a:xfrm>
            <a:off x="337083" y="4814525"/>
            <a:ext cx="9523521" cy="1569660"/>
          </a:xfrm>
          <a:prstGeom prst="rect">
            <a:avLst/>
          </a:prstGeom>
          <a:noFill/>
        </p:spPr>
        <p:txBody>
          <a:bodyPr wrap="square">
            <a:spAutoFit/>
          </a:bodyPr>
          <a:lstStyle/>
          <a:p>
            <a:r>
              <a:rPr lang="en-US" sz="2400" b="0" i="0" dirty="0">
                <a:solidFill>
                  <a:srgbClr val="242424"/>
                </a:solidFill>
                <a:effectLst/>
                <a:highlight>
                  <a:srgbClr val="FFFFFF"/>
                </a:highlight>
                <a:latin typeface="Bahnschrift Light" panose="020B0502040204020203" pitchFamily="34" charset="0"/>
              </a:rPr>
              <a:t>It could be seen like losing information at the first glimpse, but it’s rather getting more ‘meaningful’ data than losing. By removing some noise in the data and extracting only the significant one, we can reduce overfitting and speed up the computation.</a:t>
            </a:r>
            <a:endParaRPr lang="en-GB" sz="2400" dirty="0">
              <a:latin typeface="Bahnschrift Light" panose="020B0502040204020203" pitchFamily="34" charset="0"/>
            </a:endParaRPr>
          </a:p>
        </p:txBody>
      </p:sp>
      <p:sp>
        <p:nvSpPr>
          <p:cNvPr id="2" name="Tytuł 4">
            <a:extLst>
              <a:ext uri="{FF2B5EF4-FFF2-40B4-BE49-F238E27FC236}">
                <a16:creationId xmlns:a16="http://schemas.microsoft.com/office/drawing/2014/main" id="{DF9E6EF0-D05C-AEB7-0D39-B034C3FD510B}"/>
              </a:ext>
            </a:extLst>
          </p:cNvPr>
          <p:cNvSpPr txBox="1">
            <a:spLocks/>
          </p:cNvSpPr>
          <p:nvPr/>
        </p:nvSpPr>
        <p:spPr>
          <a:xfrm>
            <a:off x="7529209" y="0"/>
            <a:ext cx="4662791" cy="209144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l-PL" sz="2800" dirty="0" err="1"/>
              <a:t>Convolutional</a:t>
            </a:r>
            <a:r>
              <a:rPr lang="pl-PL" sz="2800" dirty="0"/>
              <a:t> </a:t>
            </a:r>
            <a:r>
              <a:rPr lang="pl-PL" sz="2800" dirty="0" err="1"/>
              <a:t>Neural</a:t>
            </a:r>
            <a:r>
              <a:rPr lang="pl-PL" sz="2800" dirty="0"/>
              <a:t> Network:</a:t>
            </a:r>
            <a:br>
              <a:rPr lang="pl-PL" sz="2800" dirty="0"/>
            </a:br>
            <a:r>
              <a:rPr lang="en-GB" sz="3200" dirty="0"/>
              <a:t>2. Max pooling</a:t>
            </a:r>
            <a:endParaRPr lang="pl-PL" sz="3200" dirty="0"/>
          </a:p>
          <a:p>
            <a:pPr algn="ctr"/>
            <a:endParaRPr lang="pl-PL" sz="3200" b="1" u="sng" dirty="0"/>
          </a:p>
          <a:p>
            <a:pPr algn="ctr"/>
            <a:endParaRPr lang="en-GB" sz="3200" dirty="0"/>
          </a:p>
        </p:txBody>
      </p:sp>
    </p:spTree>
    <p:extLst>
      <p:ext uri="{BB962C8B-B14F-4D97-AF65-F5344CB8AC3E}">
        <p14:creationId xmlns:p14="http://schemas.microsoft.com/office/powerpoint/2010/main" val="42461930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D0A838ED-7B56-9496-4F2A-AD2031677B1D}"/>
              </a:ext>
            </a:extLst>
          </p:cNvPr>
          <p:cNvPicPr>
            <a:picLocks noChangeAspect="1"/>
          </p:cNvPicPr>
          <p:nvPr/>
        </p:nvPicPr>
        <p:blipFill>
          <a:blip r:embed="rId3"/>
          <a:stretch>
            <a:fillRect/>
          </a:stretch>
        </p:blipFill>
        <p:spPr>
          <a:xfrm>
            <a:off x="128328" y="1945758"/>
            <a:ext cx="6731969" cy="2389114"/>
          </a:xfrm>
          <a:prstGeom prst="rect">
            <a:avLst/>
          </a:prstGeom>
        </p:spPr>
      </p:pic>
      <p:pic>
        <p:nvPicPr>
          <p:cNvPr id="2" name="Obraz 1">
            <a:extLst>
              <a:ext uri="{FF2B5EF4-FFF2-40B4-BE49-F238E27FC236}">
                <a16:creationId xmlns:a16="http://schemas.microsoft.com/office/drawing/2014/main" id="{DC68BA50-7687-8265-404C-689EB8C702AA}"/>
              </a:ext>
            </a:extLst>
          </p:cNvPr>
          <p:cNvPicPr>
            <a:picLocks noChangeAspect="1"/>
          </p:cNvPicPr>
          <p:nvPr/>
        </p:nvPicPr>
        <p:blipFill>
          <a:blip r:embed="rId4"/>
          <a:stretch>
            <a:fillRect/>
          </a:stretch>
        </p:blipFill>
        <p:spPr>
          <a:xfrm>
            <a:off x="4439183" y="1952183"/>
            <a:ext cx="4570707" cy="2431461"/>
          </a:xfrm>
          <a:prstGeom prst="rect">
            <a:avLst/>
          </a:prstGeom>
        </p:spPr>
      </p:pic>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5"/>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sp>
        <p:nvSpPr>
          <p:cNvPr id="8" name="Dymek mowy: prostokąt 7">
            <a:extLst>
              <a:ext uri="{FF2B5EF4-FFF2-40B4-BE49-F238E27FC236}">
                <a16:creationId xmlns:a16="http://schemas.microsoft.com/office/drawing/2014/main" id="{54729361-44CA-B2A4-55DF-5C1D2D9E2157}"/>
              </a:ext>
            </a:extLst>
          </p:cNvPr>
          <p:cNvSpPr/>
          <p:nvPr/>
        </p:nvSpPr>
        <p:spPr>
          <a:xfrm>
            <a:off x="128329" y="1312861"/>
            <a:ext cx="2340552"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2000" dirty="0" err="1">
                <a:solidFill>
                  <a:schemeClr val="tx1"/>
                </a:solidFill>
                <a:latin typeface="Comic Sans MS" panose="030F0702030302020204" pitchFamily="66" charset="0"/>
              </a:rPr>
              <a:t>Feature</a:t>
            </a:r>
            <a:r>
              <a:rPr lang="pl-PL" sz="2000" dirty="0">
                <a:solidFill>
                  <a:schemeClr val="tx1"/>
                </a:solidFill>
                <a:latin typeface="Comic Sans MS" panose="030F0702030302020204" pitchFamily="66" charset="0"/>
              </a:rPr>
              <a:t> map</a:t>
            </a:r>
          </a:p>
        </p:txBody>
      </p:sp>
      <p:sp>
        <p:nvSpPr>
          <p:cNvPr id="9" name="Dymek mowy: prostokąt 8">
            <a:extLst>
              <a:ext uri="{FF2B5EF4-FFF2-40B4-BE49-F238E27FC236}">
                <a16:creationId xmlns:a16="http://schemas.microsoft.com/office/drawing/2014/main" id="{8FD4631F-FDC5-295B-4AA7-924924578ACB}"/>
              </a:ext>
            </a:extLst>
          </p:cNvPr>
          <p:cNvSpPr/>
          <p:nvPr/>
        </p:nvSpPr>
        <p:spPr>
          <a:xfrm>
            <a:off x="4358936" y="1322330"/>
            <a:ext cx="2496154"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1600" dirty="0" err="1">
                <a:solidFill>
                  <a:schemeClr val="tx1"/>
                </a:solidFill>
                <a:latin typeface="Comic Sans MS" panose="030F0702030302020204" pitchFamily="66" charset="0"/>
              </a:rPr>
              <a:t>Feature</a:t>
            </a:r>
            <a:r>
              <a:rPr lang="pl-PL" sz="1600" dirty="0">
                <a:solidFill>
                  <a:schemeClr val="tx1"/>
                </a:solidFill>
                <a:latin typeface="Comic Sans MS" panose="030F0702030302020204" pitchFamily="66" charset="0"/>
              </a:rPr>
              <a:t> map, post </a:t>
            </a:r>
            <a:r>
              <a:rPr lang="pl-PL" sz="1600" dirty="0" err="1">
                <a:solidFill>
                  <a:schemeClr val="tx1"/>
                </a:solidFill>
                <a:latin typeface="Comic Sans MS" panose="030F0702030302020204" pitchFamily="66" charset="0"/>
              </a:rPr>
              <a:t>ReLU</a:t>
            </a:r>
            <a:endParaRPr lang="pl-PL" sz="1600" dirty="0">
              <a:solidFill>
                <a:schemeClr val="tx1"/>
              </a:solidFill>
              <a:latin typeface="Comic Sans MS" panose="030F0702030302020204" pitchFamily="66" charset="0"/>
            </a:endParaRPr>
          </a:p>
        </p:txBody>
      </p:sp>
      <p:sp>
        <p:nvSpPr>
          <p:cNvPr id="10" name="Dymek mowy: prostokąt 9">
            <a:extLst>
              <a:ext uri="{FF2B5EF4-FFF2-40B4-BE49-F238E27FC236}">
                <a16:creationId xmlns:a16="http://schemas.microsoft.com/office/drawing/2014/main" id="{BA985256-D1FF-966E-7957-103E492FF29A}"/>
              </a:ext>
            </a:extLst>
          </p:cNvPr>
          <p:cNvSpPr/>
          <p:nvPr/>
        </p:nvSpPr>
        <p:spPr>
          <a:xfrm>
            <a:off x="3032999" y="3598949"/>
            <a:ext cx="922625" cy="627116"/>
          </a:xfrm>
          <a:prstGeom prst="wedgeRectCallout">
            <a:avLst>
              <a:gd name="adj1" fmla="val -33895"/>
              <a:gd name="adj2" fmla="val 47286"/>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pl-PL" sz="2000" dirty="0" err="1">
                <a:solidFill>
                  <a:schemeClr val="bg1"/>
                </a:solidFill>
                <a:latin typeface="Comic Sans MS" panose="030F0702030302020204" pitchFamily="66" charset="0"/>
              </a:rPr>
              <a:t>ReLU</a:t>
            </a:r>
            <a:endParaRPr lang="pl-PL" sz="2000" dirty="0">
              <a:solidFill>
                <a:schemeClr val="bg1"/>
              </a:solidFill>
              <a:latin typeface="Comic Sans MS" panose="030F0702030302020204" pitchFamily="66" charset="0"/>
            </a:endParaRPr>
          </a:p>
        </p:txBody>
      </p:sp>
      <p:sp>
        <p:nvSpPr>
          <p:cNvPr id="6" name="Dymek mowy: prostokąt 5">
            <a:extLst>
              <a:ext uri="{FF2B5EF4-FFF2-40B4-BE49-F238E27FC236}">
                <a16:creationId xmlns:a16="http://schemas.microsoft.com/office/drawing/2014/main" id="{15DB3908-5B19-63BA-878F-7671DF05E517}"/>
              </a:ext>
            </a:extLst>
          </p:cNvPr>
          <p:cNvSpPr/>
          <p:nvPr/>
        </p:nvSpPr>
        <p:spPr>
          <a:xfrm>
            <a:off x="7767875" y="1355400"/>
            <a:ext cx="1248077"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1600" dirty="0">
                <a:solidFill>
                  <a:schemeClr val="tx1"/>
                </a:solidFill>
                <a:latin typeface="Comic Sans MS" panose="030F0702030302020204" pitchFamily="66" charset="0"/>
              </a:rPr>
              <a:t>Max </a:t>
            </a:r>
            <a:r>
              <a:rPr lang="pl-PL" sz="1600" dirty="0" err="1">
                <a:solidFill>
                  <a:schemeClr val="tx1"/>
                </a:solidFill>
                <a:latin typeface="Comic Sans MS" panose="030F0702030302020204" pitchFamily="66" charset="0"/>
              </a:rPr>
              <a:t>Pooled</a:t>
            </a:r>
            <a:endParaRPr lang="pl-PL" sz="1600" dirty="0">
              <a:solidFill>
                <a:schemeClr val="tx1"/>
              </a:solidFill>
              <a:latin typeface="Comic Sans MS" panose="030F0702030302020204" pitchFamily="66" charset="0"/>
            </a:endParaRPr>
          </a:p>
        </p:txBody>
      </p:sp>
      <p:sp>
        <p:nvSpPr>
          <p:cNvPr id="11" name="Tytuł 4">
            <a:extLst>
              <a:ext uri="{FF2B5EF4-FFF2-40B4-BE49-F238E27FC236}">
                <a16:creationId xmlns:a16="http://schemas.microsoft.com/office/drawing/2014/main" id="{28BEB9EE-6BCC-EC4F-1928-E0B90637CC7C}"/>
              </a:ext>
            </a:extLst>
          </p:cNvPr>
          <p:cNvSpPr txBox="1">
            <a:spLocks/>
          </p:cNvSpPr>
          <p:nvPr/>
        </p:nvSpPr>
        <p:spPr>
          <a:xfrm>
            <a:off x="7529209" y="0"/>
            <a:ext cx="4662791" cy="209144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l-PL" sz="2800" dirty="0" err="1"/>
              <a:t>Convolutional</a:t>
            </a:r>
            <a:r>
              <a:rPr lang="pl-PL" sz="2800" dirty="0"/>
              <a:t> </a:t>
            </a:r>
            <a:r>
              <a:rPr lang="pl-PL" sz="2800" dirty="0" err="1"/>
              <a:t>Neural</a:t>
            </a:r>
            <a:r>
              <a:rPr lang="pl-PL" sz="2800" dirty="0"/>
              <a:t> Network:</a:t>
            </a:r>
            <a:br>
              <a:rPr lang="pl-PL" sz="2800" dirty="0"/>
            </a:br>
            <a:r>
              <a:rPr lang="en-GB" sz="3200" dirty="0"/>
              <a:t>2. Max pooling</a:t>
            </a:r>
            <a:endParaRPr lang="pl-PL" sz="3200" dirty="0"/>
          </a:p>
          <a:p>
            <a:pPr algn="ctr"/>
            <a:endParaRPr lang="pl-PL" sz="3200" b="1" u="sng" dirty="0"/>
          </a:p>
          <a:p>
            <a:pPr algn="ctr"/>
            <a:endParaRPr lang="en-GB" sz="3200" dirty="0"/>
          </a:p>
        </p:txBody>
      </p:sp>
    </p:spTree>
    <p:extLst>
      <p:ext uri="{BB962C8B-B14F-4D97-AF65-F5344CB8AC3E}">
        <p14:creationId xmlns:p14="http://schemas.microsoft.com/office/powerpoint/2010/main" val="3000588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D0A838ED-7B56-9496-4F2A-AD2031677B1D}"/>
              </a:ext>
            </a:extLst>
          </p:cNvPr>
          <p:cNvPicPr>
            <a:picLocks noChangeAspect="1"/>
          </p:cNvPicPr>
          <p:nvPr/>
        </p:nvPicPr>
        <p:blipFill>
          <a:blip r:embed="rId3"/>
          <a:stretch>
            <a:fillRect/>
          </a:stretch>
        </p:blipFill>
        <p:spPr>
          <a:xfrm>
            <a:off x="128328" y="1945758"/>
            <a:ext cx="6731969" cy="2389114"/>
          </a:xfrm>
          <a:prstGeom prst="rect">
            <a:avLst/>
          </a:prstGeom>
        </p:spPr>
      </p:pic>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4"/>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sp>
        <p:nvSpPr>
          <p:cNvPr id="8" name="Dymek mowy: prostokąt 7">
            <a:extLst>
              <a:ext uri="{FF2B5EF4-FFF2-40B4-BE49-F238E27FC236}">
                <a16:creationId xmlns:a16="http://schemas.microsoft.com/office/drawing/2014/main" id="{54729361-44CA-B2A4-55DF-5C1D2D9E2157}"/>
              </a:ext>
            </a:extLst>
          </p:cNvPr>
          <p:cNvSpPr/>
          <p:nvPr/>
        </p:nvSpPr>
        <p:spPr>
          <a:xfrm>
            <a:off x="128329" y="1312861"/>
            <a:ext cx="2340552"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2000" dirty="0" err="1">
                <a:solidFill>
                  <a:schemeClr val="tx1"/>
                </a:solidFill>
                <a:latin typeface="Comic Sans MS" panose="030F0702030302020204" pitchFamily="66" charset="0"/>
              </a:rPr>
              <a:t>Feature</a:t>
            </a:r>
            <a:r>
              <a:rPr lang="pl-PL" sz="2000" dirty="0">
                <a:solidFill>
                  <a:schemeClr val="tx1"/>
                </a:solidFill>
                <a:latin typeface="Comic Sans MS" panose="030F0702030302020204" pitchFamily="66" charset="0"/>
              </a:rPr>
              <a:t> map</a:t>
            </a:r>
          </a:p>
        </p:txBody>
      </p:sp>
      <p:sp>
        <p:nvSpPr>
          <p:cNvPr id="9" name="Dymek mowy: prostokąt 8">
            <a:extLst>
              <a:ext uri="{FF2B5EF4-FFF2-40B4-BE49-F238E27FC236}">
                <a16:creationId xmlns:a16="http://schemas.microsoft.com/office/drawing/2014/main" id="{8FD4631F-FDC5-295B-4AA7-924924578ACB}"/>
              </a:ext>
            </a:extLst>
          </p:cNvPr>
          <p:cNvSpPr/>
          <p:nvPr/>
        </p:nvSpPr>
        <p:spPr>
          <a:xfrm>
            <a:off x="4358936" y="1322330"/>
            <a:ext cx="2496154"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1600" dirty="0" err="1">
                <a:solidFill>
                  <a:schemeClr val="tx1"/>
                </a:solidFill>
                <a:latin typeface="Comic Sans MS" panose="030F0702030302020204" pitchFamily="66" charset="0"/>
              </a:rPr>
              <a:t>Feature</a:t>
            </a:r>
            <a:r>
              <a:rPr lang="pl-PL" sz="1600" dirty="0">
                <a:solidFill>
                  <a:schemeClr val="tx1"/>
                </a:solidFill>
                <a:latin typeface="Comic Sans MS" panose="030F0702030302020204" pitchFamily="66" charset="0"/>
              </a:rPr>
              <a:t> map, post </a:t>
            </a:r>
            <a:r>
              <a:rPr lang="pl-PL" sz="1600" dirty="0" err="1">
                <a:solidFill>
                  <a:schemeClr val="tx1"/>
                </a:solidFill>
                <a:latin typeface="Comic Sans MS" panose="030F0702030302020204" pitchFamily="66" charset="0"/>
              </a:rPr>
              <a:t>ReLU</a:t>
            </a:r>
            <a:endParaRPr lang="pl-PL" sz="1600" dirty="0">
              <a:solidFill>
                <a:schemeClr val="tx1"/>
              </a:solidFill>
              <a:latin typeface="Comic Sans MS" panose="030F0702030302020204" pitchFamily="66" charset="0"/>
            </a:endParaRPr>
          </a:p>
        </p:txBody>
      </p:sp>
      <p:sp>
        <p:nvSpPr>
          <p:cNvPr id="10" name="Dymek mowy: prostokąt 9">
            <a:extLst>
              <a:ext uri="{FF2B5EF4-FFF2-40B4-BE49-F238E27FC236}">
                <a16:creationId xmlns:a16="http://schemas.microsoft.com/office/drawing/2014/main" id="{BA985256-D1FF-966E-7957-103E492FF29A}"/>
              </a:ext>
            </a:extLst>
          </p:cNvPr>
          <p:cNvSpPr/>
          <p:nvPr/>
        </p:nvSpPr>
        <p:spPr>
          <a:xfrm>
            <a:off x="3032999" y="3598949"/>
            <a:ext cx="922625" cy="627116"/>
          </a:xfrm>
          <a:prstGeom prst="wedgeRectCallout">
            <a:avLst>
              <a:gd name="adj1" fmla="val -33895"/>
              <a:gd name="adj2" fmla="val 47286"/>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pl-PL" sz="2000" dirty="0" err="1">
                <a:solidFill>
                  <a:schemeClr val="bg1"/>
                </a:solidFill>
                <a:latin typeface="Comic Sans MS" panose="030F0702030302020204" pitchFamily="66" charset="0"/>
              </a:rPr>
              <a:t>ReLU</a:t>
            </a:r>
            <a:endParaRPr lang="pl-PL" sz="2000" dirty="0">
              <a:solidFill>
                <a:schemeClr val="bg1"/>
              </a:solidFill>
              <a:latin typeface="Comic Sans MS" panose="030F0702030302020204" pitchFamily="66" charset="0"/>
            </a:endParaRPr>
          </a:p>
        </p:txBody>
      </p:sp>
      <p:sp>
        <p:nvSpPr>
          <p:cNvPr id="6" name="Dymek mowy: prostokąt 5">
            <a:extLst>
              <a:ext uri="{FF2B5EF4-FFF2-40B4-BE49-F238E27FC236}">
                <a16:creationId xmlns:a16="http://schemas.microsoft.com/office/drawing/2014/main" id="{15DB3908-5B19-63BA-878F-7671DF05E517}"/>
              </a:ext>
            </a:extLst>
          </p:cNvPr>
          <p:cNvSpPr/>
          <p:nvPr/>
        </p:nvSpPr>
        <p:spPr>
          <a:xfrm>
            <a:off x="7767875" y="1355400"/>
            <a:ext cx="1248077" cy="539232"/>
          </a:xfrm>
          <a:prstGeom prst="wedgeRectCallout">
            <a:avLst>
              <a:gd name="adj1" fmla="val -33895"/>
              <a:gd name="adj2" fmla="val 47286"/>
            </a:avLst>
          </a:prstGeom>
          <a:solidFill>
            <a:srgbClr val="FF0000"/>
          </a:solidFill>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1600" dirty="0" err="1">
                <a:solidFill>
                  <a:srgbClr val="FFFF00"/>
                </a:solidFill>
                <a:latin typeface="Comic Sans MS" panose="030F0702030302020204" pitchFamily="66" charset="0"/>
              </a:rPr>
              <a:t>Mean</a:t>
            </a:r>
            <a:r>
              <a:rPr lang="pl-PL" sz="1600" dirty="0">
                <a:solidFill>
                  <a:srgbClr val="FFFF00"/>
                </a:solidFill>
                <a:latin typeface="Comic Sans MS" panose="030F0702030302020204" pitchFamily="66" charset="0"/>
              </a:rPr>
              <a:t> </a:t>
            </a:r>
            <a:r>
              <a:rPr lang="pl-PL" sz="1600" dirty="0" err="1">
                <a:solidFill>
                  <a:srgbClr val="FFFF00"/>
                </a:solidFill>
                <a:latin typeface="Comic Sans MS" panose="030F0702030302020204" pitchFamily="66" charset="0"/>
              </a:rPr>
              <a:t>Pooled</a:t>
            </a:r>
            <a:endParaRPr lang="pl-PL" sz="1600" dirty="0">
              <a:solidFill>
                <a:srgbClr val="FFFF00"/>
              </a:solidFill>
              <a:latin typeface="Comic Sans MS" panose="030F0702030302020204" pitchFamily="66" charset="0"/>
            </a:endParaRPr>
          </a:p>
        </p:txBody>
      </p:sp>
      <p:pic>
        <p:nvPicPr>
          <p:cNvPr id="7" name="Obraz 6">
            <a:extLst>
              <a:ext uri="{FF2B5EF4-FFF2-40B4-BE49-F238E27FC236}">
                <a16:creationId xmlns:a16="http://schemas.microsoft.com/office/drawing/2014/main" id="{63FA45E3-0D52-6B63-947C-3E0A87D836BC}"/>
              </a:ext>
            </a:extLst>
          </p:cNvPr>
          <p:cNvPicPr>
            <a:picLocks noChangeAspect="1"/>
          </p:cNvPicPr>
          <p:nvPr/>
        </p:nvPicPr>
        <p:blipFill rotWithShape="1">
          <a:blip r:embed="rId5"/>
          <a:srcRect t="9907"/>
          <a:stretch/>
        </p:blipFill>
        <p:spPr>
          <a:xfrm>
            <a:off x="4439183" y="1934725"/>
            <a:ext cx="4662791" cy="2466376"/>
          </a:xfrm>
          <a:prstGeom prst="rect">
            <a:avLst/>
          </a:prstGeom>
        </p:spPr>
      </p:pic>
      <p:sp>
        <p:nvSpPr>
          <p:cNvPr id="11" name="Dymek mowy: prostokąt 10">
            <a:extLst>
              <a:ext uri="{FF2B5EF4-FFF2-40B4-BE49-F238E27FC236}">
                <a16:creationId xmlns:a16="http://schemas.microsoft.com/office/drawing/2014/main" id="{E2540037-631B-B781-824E-B311B223A955}"/>
              </a:ext>
            </a:extLst>
          </p:cNvPr>
          <p:cNvSpPr/>
          <p:nvPr/>
        </p:nvSpPr>
        <p:spPr>
          <a:xfrm>
            <a:off x="7143836" y="765311"/>
            <a:ext cx="2496154" cy="539232"/>
          </a:xfrm>
          <a:prstGeom prst="wedgeRectCallout">
            <a:avLst>
              <a:gd name="adj1" fmla="val -33895"/>
              <a:gd name="adj2" fmla="val 47286"/>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1600" dirty="0" err="1">
                <a:solidFill>
                  <a:schemeClr val="tx1"/>
                </a:solidFill>
                <a:latin typeface="Comic Sans MS" panose="030F0702030302020204" pitchFamily="66" charset="0"/>
              </a:rPr>
              <a:t>Alternatively</a:t>
            </a:r>
            <a:endParaRPr lang="pl-PL" sz="16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41913582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D0A838ED-7B56-9496-4F2A-AD2031677B1D}"/>
              </a:ext>
            </a:extLst>
          </p:cNvPr>
          <p:cNvPicPr>
            <a:picLocks noChangeAspect="1"/>
          </p:cNvPicPr>
          <p:nvPr/>
        </p:nvPicPr>
        <p:blipFill>
          <a:blip r:embed="rId3"/>
          <a:stretch>
            <a:fillRect/>
          </a:stretch>
        </p:blipFill>
        <p:spPr>
          <a:xfrm>
            <a:off x="128328" y="1945758"/>
            <a:ext cx="6731969" cy="2389114"/>
          </a:xfrm>
          <a:prstGeom prst="rect">
            <a:avLst/>
          </a:prstGeom>
        </p:spPr>
      </p:pic>
      <p:pic>
        <p:nvPicPr>
          <p:cNvPr id="2" name="Obraz 1">
            <a:extLst>
              <a:ext uri="{FF2B5EF4-FFF2-40B4-BE49-F238E27FC236}">
                <a16:creationId xmlns:a16="http://schemas.microsoft.com/office/drawing/2014/main" id="{DC68BA50-7687-8265-404C-689EB8C702AA}"/>
              </a:ext>
            </a:extLst>
          </p:cNvPr>
          <p:cNvPicPr>
            <a:picLocks noChangeAspect="1"/>
          </p:cNvPicPr>
          <p:nvPr/>
        </p:nvPicPr>
        <p:blipFill>
          <a:blip r:embed="rId4"/>
          <a:stretch>
            <a:fillRect/>
          </a:stretch>
        </p:blipFill>
        <p:spPr>
          <a:xfrm>
            <a:off x="4439183" y="1952183"/>
            <a:ext cx="4570707" cy="2431461"/>
          </a:xfrm>
          <a:prstGeom prst="rect">
            <a:avLst/>
          </a:prstGeom>
        </p:spPr>
      </p:pic>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5"/>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sp>
        <p:nvSpPr>
          <p:cNvPr id="8" name="Dymek mowy: prostokąt 7">
            <a:extLst>
              <a:ext uri="{FF2B5EF4-FFF2-40B4-BE49-F238E27FC236}">
                <a16:creationId xmlns:a16="http://schemas.microsoft.com/office/drawing/2014/main" id="{54729361-44CA-B2A4-55DF-5C1D2D9E2157}"/>
              </a:ext>
            </a:extLst>
          </p:cNvPr>
          <p:cNvSpPr/>
          <p:nvPr/>
        </p:nvSpPr>
        <p:spPr>
          <a:xfrm>
            <a:off x="128329" y="1312861"/>
            <a:ext cx="2340552"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2000" dirty="0" err="1">
                <a:solidFill>
                  <a:schemeClr val="tx1"/>
                </a:solidFill>
                <a:latin typeface="Comic Sans MS" panose="030F0702030302020204" pitchFamily="66" charset="0"/>
              </a:rPr>
              <a:t>Feature</a:t>
            </a:r>
            <a:r>
              <a:rPr lang="pl-PL" sz="2000" dirty="0">
                <a:solidFill>
                  <a:schemeClr val="tx1"/>
                </a:solidFill>
                <a:latin typeface="Comic Sans MS" panose="030F0702030302020204" pitchFamily="66" charset="0"/>
              </a:rPr>
              <a:t> map</a:t>
            </a:r>
          </a:p>
        </p:txBody>
      </p:sp>
      <p:sp>
        <p:nvSpPr>
          <p:cNvPr id="9" name="Dymek mowy: prostokąt 8">
            <a:extLst>
              <a:ext uri="{FF2B5EF4-FFF2-40B4-BE49-F238E27FC236}">
                <a16:creationId xmlns:a16="http://schemas.microsoft.com/office/drawing/2014/main" id="{8FD4631F-FDC5-295B-4AA7-924924578ACB}"/>
              </a:ext>
            </a:extLst>
          </p:cNvPr>
          <p:cNvSpPr/>
          <p:nvPr/>
        </p:nvSpPr>
        <p:spPr>
          <a:xfrm>
            <a:off x="4358936" y="1322330"/>
            <a:ext cx="2496154"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1600" dirty="0" err="1">
                <a:solidFill>
                  <a:schemeClr val="tx1"/>
                </a:solidFill>
                <a:latin typeface="Comic Sans MS" panose="030F0702030302020204" pitchFamily="66" charset="0"/>
              </a:rPr>
              <a:t>Feature</a:t>
            </a:r>
            <a:r>
              <a:rPr lang="pl-PL" sz="1600" dirty="0">
                <a:solidFill>
                  <a:schemeClr val="tx1"/>
                </a:solidFill>
                <a:latin typeface="Comic Sans MS" panose="030F0702030302020204" pitchFamily="66" charset="0"/>
              </a:rPr>
              <a:t> map, post </a:t>
            </a:r>
            <a:r>
              <a:rPr lang="pl-PL" sz="1600" dirty="0" err="1">
                <a:solidFill>
                  <a:schemeClr val="tx1"/>
                </a:solidFill>
                <a:latin typeface="Comic Sans MS" panose="030F0702030302020204" pitchFamily="66" charset="0"/>
              </a:rPr>
              <a:t>ReLU</a:t>
            </a:r>
            <a:endParaRPr lang="pl-PL" sz="1600" dirty="0">
              <a:solidFill>
                <a:schemeClr val="tx1"/>
              </a:solidFill>
              <a:latin typeface="Comic Sans MS" panose="030F0702030302020204" pitchFamily="66" charset="0"/>
            </a:endParaRPr>
          </a:p>
        </p:txBody>
      </p:sp>
      <p:sp>
        <p:nvSpPr>
          <p:cNvPr id="10" name="Dymek mowy: prostokąt 9">
            <a:extLst>
              <a:ext uri="{FF2B5EF4-FFF2-40B4-BE49-F238E27FC236}">
                <a16:creationId xmlns:a16="http://schemas.microsoft.com/office/drawing/2014/main" id="{BA985256-D1FF-966E-7957-103E492FF29A}"/>
              </a:ext>
            </a:extLst>
          </p:cNvPr>
          <p:cNvSpPr/>
          <p:nvPr/>
        </p:nvSpPr>
        <p:spPr>
          <a:xfrm>
            <a:off x="3032999" y="3598949"/>
            <a:ext cx="922625" cy="627116"/>
          </a:xfrm>
          <a:prstGeom prst="wedgeRectCallout">
            <a:avLst>
              <a:gd name="adj1" fmla="val -33895"/>
              <a:gd name="adj2" fmla="val 47286"/>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pl-PL" sz="2000" dirty="0" err="1">
                <a:solidFill>
                  <a:schemeClr val="bg1"/>
                </a:solidFill>
                <a:latin typeface="Comic Sans MS" panose="030F0702030302020204" pitchFamily="66" charset="0"/>
              </a:rPr>
              <a:t>ReLU</a:t>
            </a:r>
            <a:endParaRPr lang="pl-PL" sz="2000" dirty="0">
              <a:solidFill>
                <a:schemeClr val="bg1"/>
              </a:solidFill>
              <a:latin typeface="Comic Sans MS" panose="030F0702030302020204" pitchFamily="66" charset="0"/>
            </a:endParaRPr>
          </a:p>
        </p:txBody>
      </p:sp>
      <p:sp>
        <p:nvSpPr>
          <p:cNvPr id="6" name="Dymek mowy: prostokąt 5">
            <a:extLst>
              <a:ext uri="{FF2B5EF4-FFF2-40B4-BE49-F238E27FC236}">
                <a16:creationId xmlns:a16="http://schemas.microsoft.com/office/drawing/2014/main" id="{15DB3908-5B19-63BA-878F-7671DF05E517}"/>
              </a:ext>
            </a:extLst>
          </p:cNvPr>
          <p:cNvSpPr/>
          <p:nvPr/>
        </p:nvSpPr>
        <p:spPr>
          <a:xfrm>
            <a:off x="7767875" y="1355400"/>
            <a:ext cx="1248077"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1600" dirty="0">
                <a:solidFill>
                  <a:schemeClr val="tx1"/>
                </a:solidFill>
                <a:latin typeface="Comic Sans MS" panose="030F0702030302020204" pitchFamily="66" charset="0"/>
              </a:rPr>
              <a:t>Max </a:t>
            </a:r>
            <a:r>
              <a:rPr lang="pl-PL" sz="1600" dirty="0" err="1">
                <a:solidFill>
                  <a:schemeClr val="tx1"/>
                </a:solidFill>
                <a:latin typeface="Comic Sans MS" panose="030F0702030302020204" pitchFamily="66" charset="0"/>
              </a:rPr>
              <a:t>Pooled</a:t>
            </a:r>
            <a:endParaRPr lang="pl-PL" sz="1600" dirty="0">
              <a:solidFill>
                <a:schemeClr val="tx1"/>
              </a:solidFill>
              <a:latin typeface="Comic Sans MS" panose="030F0702030302020204" pitchFamily="66" charset="0"/>
            </a:endParaRPr>
          </a:p>
        </p:txBody>
      </p:sp>
      <p:sp>
        <p:nvSpPr>
          <p:cNvPr id="11" name="Tytuł 4">
            <a:extLst>
              <a:ext uri="{FF2B5EF4-FFF2-40B4-BE49-F238E27FC236}">
                <a16:creationId xmlns:a16="http://schemas.microsoft.com/office/drawing/2014/main" id="{28BEB9EE-6BCC-EC4F-1928-E0B90637CC7C}"/>
              </a:ext>
            </a:extLst>
          </p:cNvPr>
          <p:cNvSpPr txBox="1">
            <a:spLocks/>
          </p:cNvSpPr>
          <p:nvPr/>
        </p:nvSpPr>
        <p:spPr>
          <a:xfrm>
            <a:off x="7529209" y="0"/>
            <a:ext cx="4662791" cy="209144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l-PL" sz="2800" dirty="0" err="1"/>
              <a:t>Convolutional</a:t>
            </a:r>
            <a:r>
              <a:rPr lang="pl-PL" sz="2800" dirty="0"/>
              <a:t> </a:t>
            </a:r>
            <a:r>
              <a:rPr lang="pl-PL" sz="2800" dirty="0" err="1"/>
              <a:t>Neural</a:t>
            </a:r>
            <a:r>
              <a:rPr lang="pl-PL" sz="2800" dirty="0"/>
              <a:t> Network:</a:t>
            </a:r>
            <a:br>
              <a:rPr lang="pl-PL" sz="2800" dirty="0"/>
            </a:br>
            <a:r>
              <a:rPr lang="en-GB" sz="3200" dirty="0"/>
              <a:t>2. Max pooling</a:t>
            </a:r>
            <a:endParaRPr lang="pl-PL" sz="3200" dirty="0"/>
          </a:p>
          <a:p>
            <a:pPr algn="ctr"/>
            <a:endParaRPr lang="pl-PL" sz="3200" b="1" u="sng" dirty="0"/>
          </a:p>
          <a:p>
            <a:pPr algn="ctr"/>
            <a:endParaRPr lang="en-GB" sz="3200" dirty="0"/>
          </a:p>
        </p:txBody>
      </p:sp>
    </p:spTree>
    <p:extLst>
      <p:ext uri="{BB962C8B-B14F-4D97-AF65-F5344CB8AC3E}">
        <p14:creationId xmlns:p14="http://schemas.microsoft.com/office/powerpoint/2010/main" val="3164003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35C71DD2-5D60-93B0-35A4-9AE97C86B42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07" b="96640" l="1614" r="97997">
                        <a14:foregroundMark x1="45799" y1="50611" x2="36060" y2="55295"/>
                        <a14:foregroundMark x1="36060" y1="55295" x2="29661" y2="80143"/>
                        <a14:foregroundMark x1="29661" y1="80143" x2="47524" y2="87984"/>
                        <a14:foregroundMark x1="47524" y1="87984" x2="52031" y2="85642"/>
                        <a14:foregroundMark x1="99165" y1="98676" x2="1224" y2="88086"/>
                        <a14:foregroundMark x1="1224" y1="88086" x2="8347" y2="24542"/>
                        <a14:foregroundMark x1="8347" y1="24542" x2="34669" y2="5601"/>
                        <a14:foregroundMark x1="34669" y1="5601" x2="58875" y2="4777"/>
                        <a14:foregroundMark x1="94209" y1="19852" x2="93100" y2="83809"/>
                        <a14:foregroundMark x1="94303" y1="14415" x2="94248" y2="17561"/>
                        <a14:foregroundMark x1="94400" y1="8805" x2="94327" y2="12998"/>
                        <a14:foregroundMark x1="94491" y1="3564" x2="94467" y2="4942"/>
                        <a14:foregroundMark x1="98052" y1="8147" x2="97663" y2="96640"/>
                        <a14:foregroundMark x1="97997" y1="96029" x2="75014" y2="82790"/>
                        <a14:foregroundMark x1="75014" y1="82790" x2="70117" y2="72301"/>
                        <a14:foregroundMark x1="70117" y1="72301" x2="70061" y2="71690"/>
                        <a14:foregroundMark x1="60879" y1="42057" x2="29772" y2="18635"/>
                        <a14:foregroundMark x1="56706" y1="26986" x2="35114" y2="20672"/>
                        <a14:foregroundMark x1="49304" y1="10692" x2="31942" y2="37984"/>
                        <a14:foregroundMark x1="6127" y1="7718" x2="3339" y2="17923"/>
                        <a14:foregroundMark x1="3339" y1="17923" x2="1892" y2="76782"/>
                        <a14:foregroundMark x1="1892" y1="76782" x2="8347" y2="94196"/>
                        <a14:foregroundMark x1="8347" y1="94196" x2="9572" y2="95621"/>
                        <a14:foregroundMark x1="26822" y1="95927" x2="10351" y2="50611"/>
                        <a14:foregroundMark x1="10351" y1="50611" x2="8625" y2="47556"/>
                        <a14:foregroundMark x1="24263" y1="31263" x2="20701" y2="47454"/>
                        <a14:foregroundMark x1="20701" y1="47454" x2="1725" y2="78717"/>
                        <a14:foregroundMark x1="1725" y1="78717" x2="2059" y2="85438"/>
                        <a14:foregroundMark x1="18753" y1="95316" x2="2226" y2="62933"/>
                        <a14:foregroundMark x1="11464" y1="58961" x2="5565" y2="87373"/>
                        <a14:foregroundMark x1="5565" y1="87373" x2="4953" y2="89206"/>
                        <a14:foregroundMark x1="19310" y1="96741" x2="1836" y2="77393"/>
                        <a14:foregroundMark x1="28102" y1="16497" x2="12076" y2="1018"/>
                        <a14:foregroundMark x1="24819" y1="1629" x2="8706" y2="1081"/>
                        <a14:foregroundMark x1="40957" y1="15173" x2="37173" y2="72403"/>
                        <a14:foregroundMark x1="73511" y1="25255" x2="85309" y2="96334"/>
                        <a14:foregroundMark x1="85309" y1="96334" x2="85364" y2="96334"/>
                        <a14:foregroundMark x1="60841" y1="19723" x2="34279" y2="30754"/>
                        <a14:foregroundMark x1="95826" y1="5193" x2="95451" y2="5349"/>
                        <a14:foregroundMark x1="34279" y1="30754" x2="15025" y2="67006"/>
                        <a14:foregroundMark x1="15025" y1="67006" x2="13801" y2="76375"/>
                        <a14:foregroundMark x1="13801" y1="76375" x2="13856" y2="76375"/>
                        <a14:foregroundMark x1="16694" y1="75356" x2="35114" y2="85743"/>
                        <a14:foregroundMark x1="35114" y1="85743" x2="81803" y2="83096"/>
                        <a14:foregroundMark x1="81803" y1="83096" x2="89705" y2="46843"/>
                        <a14:foregroundMark x1="89705" y1="46843" x2="54146" y2="44297"/>
                        <a14:foregroundMark x1="54146" y1="44297" x2="79967" y2="28717"/>
                        <a14:foregroundMark x1="79967" y1="28717" x2="34446" y2="38391"/>
                        <a14:foregroundMark x1="34446" y1="38391" x2="19254" y2="32892"/>
                        <a14:foregroundMark x1="19254" y1="32892" x2="24430" y2="15377"/>
                        <a14:foregroundMark x1="24430" y1="15377" x2="13300" y2="16293"/>
                        <a14:foregroundMark x1="13300" y1="16293" x2="13801" y2="71079"/>
                        <a14:foregroundMark x1="13801" y1="71079" x2="27546" y2="68330"/>
                        <a14:foregroundMark x1="27546" y1="68330" x2="72565" y2="81365"/>
                        <a14:foregroundMark x1="72565" y1="81365" x2="85309" y2="72301"/>
                        <a14:foregroundMark x1="85309" y1="72301" x2="84418" y2="63238"/>
                        <a14:foregroundMark x1="84418" y1="63238" x2="87184" y2="29629"/>
                        <a14:foregroundMark x1="62112" y1="23477" x2="39900" y2="47760"/>
                        <a14:foregroundMark x1="39900" y1="47760" x2="53756" y2="37780"/>
                        <a14:foregroundMark x1="73344" y1="79532" x2="70673" y2="58961"/>
                        <a14:foregroundMark x1="72788" y1="80244" x2="73957" y2="62933"/>
                        <a14:foregroundMark x1="9238" y1="611" x2="9182" y2="407"/>
                        <a14:foregroundMark x1="8625" y1="5804" x2="9572" y2="3055"/>
                        <a14:backgroundMark x1="7846" y1="1018" x2="4508" y2="6415"/>
                        <a14:backgroundMark x1="4508" y1="6415" x2="390" y2="3870"/>
                        <a14:backgroundMark x1="390" y1="3870" x2="4174" y2="713"/>
                        <a14:backgroundMark x1="4174" y1="713" x2="7735" y2="713"/>
                        <a14:backgroundMark x1="7568" y1="1629" x2="3172" y2="6925"/>
                        <a14:backgroundMark x1="3172" y1="6925" x2="612" y2="8147"/>
                        <a14:backgroundMark x1="0" y1="9470" x2="4841" y2="8350"/>
                        <a14:backgroundMark x1="4841" y1="8350" x2="8403" y2="3666"/>
                        <a14:backgroundMark x1="8403" y1="3666" x2="8459" y2="0"/>
                        <a14:backgroundMark x1="6956" y1="1018" x2="8292" y2="1324"/>
                        <a14:backgroundMark x1="6455" y1="2342" x2="3339" y2="6008"/>
                        <a14:backgroundMark x1="91987" y1="48574" x2="88314" y2="27699"/>
                        <a14:backgroundMark x1="88314" y1="27699" x2="86144" y2="21385"/>
                        <a14:backgroundMark x1="86144" y1="21385" x2="62437" y2="16701"/>
                        <a14:backgroundMark x1="62437" y1="16701" x2="62938" y2="7536"/>
                        <a14:backgroundMark x1="62938" y1="7536" x2="88815" y2="1629"/>
                        <a14:backgroundMark x1="88815" y1="1629" x2="93990" y2="3157"/>
                        <a14:backgroundMark x1="93990" y1="3157" x2="93990" y2="12525"/>
                        <a14:backgroundMark x1="93990" y1="12525" x2="89983" y2="20163"/>
                        <a14:backgroundMark x1="89983" y1="20163" x2="70339" y2="15275"/>
                        <a14:backgroundMark x1="70339" y1="15275" x2="90707" y2="4684"/>
                        <a14:backgroundMark x1="87869" y1="11507" x2="81413" y2="16904"/>
                        <a14:backgroundMark x1="81413" y1="16904" x2="79410" y2="9470"/>
                        <a14:backgroundMark x1="79410" y1="9470" x2="79410" y2="8350"/>
                        <a14:backgroundMark x1="89705" y1="5703" x2="75737" y2="16497"/>
                        <a14:backgroundMark x1="75737" y1="16497" x2="75626" y2="16497"/>
                        <a14:backgroundMark x1="92766" y1="8859" x2="88703" y2="12322"/>
                        <a14:backgroundMark x1="88703" y1="12322" x2="62827" y2="18941"/>
                        <a14:backgroundMark x1="62827" y1="18941" x2="62326" y2="19450"/>
                        <a14:backgroundMark x1="59210" y1="7739" x2="64830" y2="4277"/>
                        <a14:backgroundMark x1="64830" y1="4277" x2="65442" y2="4175"/>
                        <a14:backgroundMark x1="92376" y1="4175" x2="89204" y2="8758"/>
                        <a14:backgroundMark x1="86144" y1="2444" x2="86422" y2="9369"/>
                        <a14:backgroundMark x1="88536" y1="2138" x2="85309" y2="8147"/>
                        <a14:backgroundMark x1="94324" y1="4684" x2="83194" y2="18228"/>
                        <a14:backgroundMark x1="89705" y1="23625" x2="80634" y2="18839"/>
                        <a14:backgroundMark x1="80634" y1="18839" x2="77407" y2="13646"/>
                        <a14:backgroundMark x1="77407" y1="13646" x2="79243" y2="10896"/>
                        <a14:backgroundMark x1="87145" y1="3971" x2="83361" y2="4990"/>
                        <a14:backgroundMark x1="91208" y1="3666" x2="87924" y2="3768"/>
                        <a14:backgroundMark x1="73623" y1="5397" x2="63662" y2="5397"/>
                        <a14:backgroundMark x1="63662" y1="5397" x2="63328" y2="4990"/>
                        <a14:backgroundMark x1="61213" y1="4481" x2="66945" y2="3666"/>
                        <a14:backgroundMark x1="62549" y1="7739" x2="64552" y2="14868"/>
                        <a14:backgroundMark x1="64552" y1="14868" x2="69338" y2="22505"/>
                        <a14:backgroundMark x1="69338" y1="22505" x2="70785" y2="23320"/>
                        <a14:backgroundMark x1="68058" y1="20468" x2="62437" y2="17108"/>
                        <a14:backgroundMark x1="62437" y1="17108" x2="61491" y2="15479"/>
                        <a14:backgroundMark x1="84252" y1="14155" x2="86477" y2="18126"/>
                        <a14:backgroundMark x1="92098" y1="48574" x2="86311" y2="25866"/>
                        <a14:backgroundMark x1="86311" y1="25866" x2="86088" y2="20978"/>
                        <a14:backgroundMark x1="86088" y1="20163" x2="87145" y2="28411"/>
                        <a14:backgroundMark x1="87145" y1="28411" x2="87924" y2="29633"/>
                        <a14:backgroundMark x1="92376" y1="45418" x2="89204" y2="35336"/>
                        <a14:backgroundMark x1="89204" y1="35336" x2="88648" y2="35031"/>
                        <a14:backgroundMark x1="59766" y1="3666" x2="60267" y2="12831"/>
                        <a14:backgroundMark x1="60267" y1="12831" x2="62493" y2="22403"/>
                        <a14:backgroundMark x1="62493" y1="22403" x2="79299" y2="23320"/>
                        <a14:backgroundMark x1="79299" y1="23320" x2="90262" y2="23014"/>
                        <a14:backgroundMark x1="90262" y1="23014" x2="95326" y2="17515"/>
                        <a14:backgroundMark x1="95326" y1="17515" x2="95604" y2="7536"/>
                        <a14:backgroundMark x1="95604" y1="7536" x2="60100" y2="3157"/>
                        <a14:backgroundMark x1="60100" y1="3157" x2="59655" y2="3157"/>
                        <a14:backgroundMark x1="69171" y1="18635" x2="62159" y2="19959"/>
                        <a14:backgroundMark x1="61380" y1="4990" x2="59989" y2="4786"/>
                        <a14:backgroundMark x1="7902" y1="6823" x2="7513" y2="4990"/>
                      </a14:backgroundRemoval>
                    </a14:imgEffect>
                  </a14:imgLayer>
                </a14:imgProps>
              </a:ext>
            </a:extLst>
          </a:blip>
          <a:stretch>
            <a:fillRect/>
          </a:stretch>
        </p:blipFill>
        <p:spPr>
          <a:xfrm>
            <a:off x="0" y="195482"/>
            <a:ext cx="12192000" cy="6662518"/>
          </a:xfrm>
          <a:prstGeom prst="rect">
            <a:avLst/>
          </a:prstGeom>
        </p:spPr>
      </p:pic>
      <p:sp>
        <p:nvSpPr>
          <p:cNvPr id="5" name="Tytuł 4">
            <a:extLst>
              <a:ext uri="{FF2B5EF4-FFF2-40B4-BE49-F238E27FC236}">
                <a16:creationId xmlns:a16="http://schemas.microsoft.com/office/drawing/2014/main" id="{749658E0-488D-D737-61C2-9604F6D54FC1}"/>
              </a:ext>
            </a:extLst>
          </p:cNvPr>
          <p:cNvSpPr>
            <a:spLocks noGrp="1"/>
          </p:cNvSpPr>
          <p:nvPr>
            <p:ph type="title"/>
          </p:nvPr>
        </p:nvSpPr>
        <p:spPr>
          <a:xfrm>
            <a:off x="6578353" y="-2"/>
            <a:ext cx="5613647" cy="2858611"/>
          </a:xfrm>
        </p:spPr>
        <p:txBody>
          <a:bodyPr>
            <a:noAutofit/>
          </a:bodyPr>
          <a:lstStyle/>
          <a:p>
            <a:r>
              <a:rPr lang="pl-PL" sz="3200" b="1" dirty="0" err="1"/>
              <a:t>Convolutional</a:t>
            </a:r>
            <a:r>
              <a:rPr lang="pl-PL" sz="3200" b="1" dirty="0"/>
              <a:t> </a:t>
            </a:r>
            <a:r>
              <a:rPr lang="pl-PL" sz="3200" b="1" dirty="0" err="1"/>
              <a:t>Neural</a:t>
            </a:r>
            <a:r>
              <a:rPr lang="pl-PL" sz="3200" b="1" dirty="0"/>
              <a:t> Network:</a:t>
            </a:r>
            <a:br>
              <a:rPr lang="pl-PL" sz="3200" b="1" dirty="0"/>
            </a:br>
            <a:r>
              <a:rPr lang="pl-PL" sz="3200" dirty="0"/>
              <a:t>&gt;</a:t>
            </a:r>
            <a:r>
              <a:rPr lang="pl-PL" sz="3200" b="1" dirty="0"/>
              <a:t> </a:t>
            </a:r>
            <a:r>
              <a:rPr lang="pl-PL" sz="3200" dirty="0"/>
              <a:t>3x3 </a:t>
            </a:r>
            <a:r>
              <a:rPr lang="pl-PL" sz="3200" dirty="0" err="1"/>
              <a:t>filter</a:t>
            </a:r>
            <a:r>
              <a:rPr lang="pl-PL" sz="3200" dirty="0"/>
              <a:t>, </a:t>
            </a:r>
            <a:r>
              <a:rPr lang="pl-PL" sz="3200" dirty="0" err="1"/>
              <a:t>stride</a:t>
            </a:r>
            <a:r>
              <a:rPr lang="pl-PL" sz="3200" dirty="0"/>
              <a:t> 1 + </a:t>
            </a:r>
            <a:r>
              <a:rPr lang="pl-PL" sz="3200" dirty="0" err="1"/>
              <a:t>Relu</a:t>
            </a:r>
            <a:br>
              <a:rPr lang="pl-PL" sz="3200" dirty="0"/>
            </a:br>
            <a:r>
              <a:rPr lang="pl-PL" sz="3200" dirty="0"/>
              <a:t>&gt; Max Pooling 2x2, </a:t>
            </a:r>
            <a:r>
              <a:rPr lang="pl-PL" sz="3200" dirty="0" err="1"/>
              <a:t>stride</a:t>
            </a:r>
            <a:r>
              <a:rPr lang="pl-PL" sz="3200" dirty="0"/>
              <a:t> 2</a:t>
            </a:r>
            <a:br>
              <a:rPr lang="pl-PL" sz="3200" dirty="0"/>
            </a:br>
            <a:r>
              <a:rPr lang="pl-PL" sz="3200" dirty="0"/>
              <a:t>&gt; 2x2 -&gt; 1x4 </a:t>
            </a:r>
            <a:r>
              <a:rPr lang="pl-PL" sz="3200" dirty="0" err="1"/>
              <a:t>flatten</a:t>
            </a:r>
            <a:br>
              <a:rPr lang="pl-PL" sz="3200" dirty="0"/>
            </a:br>
            <a:r>
              <a:rPr lang="pl-PL" sz="3200" dirty="0"/>
              <a:t>&gt; </a:t>
            </a:r>
            <a:r>
              <a:rPr lang="pl-PL" sz="3200" dirty="0" err="1"/>
              <a:t>Dense</a:t>
            </a:r>
            <a:r>
              <a:rPr lang="pl-PL" sz="3200" dirty="0"/>
              <a:t> </a:t>
            </a:r>
            <a:r>
              <a:rPr lang="pl-PL" sz="3200" dirty="0" err="1"/>
              <a:t>layer</a:t>
            </a:r>
            <a:r>
              <a:rPr lang="pl-PL" sz="3200" dirty="0"/>
              <a:t> 1 </a:t>
            </a:r>
            <a:r>
              <a:rPr lang="pl-PL" sz="3200" dirty="0" err="1"/>
              <a:t>node</a:t>
            </a:r>
            <a:r>
              <a:rPr lang="pl-PL" sz="3200" dirty="0"/>
              <a:t> + </a:t>
            </a:r>
            <a:r>
              <a:rPr lang="pl-PL" sz="3200" dirty="0" err="1"/>
              <a:t>Relu</a:t>
            </a:r>
            <a:br>
              <a:rPr lang="pl-PL" sz="3200" dirty="0"/>
            </a:br>
            <a:r>
              <a:rPr lang="pl-PL" sz="3200" dirty="0"/>
              <a:t>&gt; </a:t>
            </a:r>
            <a:r>
              <a:rPr lang="pl-PL" sz="3200" dirty="0" err="1"/>
              <a:t>Output</a:t>
            </a:r>
            <a:r>
              <a:rPr lang="pl-PL" sz="3200" dirty="0"/>
              <a:t> </a:t>
            </a:r>
            <a:r>
              <a:rPr lang="pl-PL" sz="3200" dirty="0" err="1"/>
              <a:t>layer</a:t>
            </a:r>
            <a:r>
              <a:rPr lang="pl-PL" sz="3200" dirty="0"/>
              <a:t>, 2 </a:t>
            </a:r>
            <a:r>
              <a:rPr lang="pl-PL" sz="3200" dirty="0" err="1"/>
              <a:t>nodes</a:t>
            </a:r>
            <a:endParaRPr lang="en-GB" sz="3200" dirty="0">
              <a:solidFill>
                <a:schemeClr val="accent6"/>
              </a:solidFill>
            </a:endParaRPr>
          </a:p>
        </p:txBody>
      </p:sp>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5"/>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spTree>
    <p:extLst>
      <p:ext uri="{BB962C8B-B14F-4D97-AF65-F5344CB8AC3E}">
        <p14:creationId xmlns:p14="http://schemas.microsoft.com/office/powerpoint/2010/main" val="18577909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tatquest_conv_nn">
            <a:hlinkClick r:id="" action="ppaction://media"/>
            <a:extLst>
              <a:ext uri="{FF2B5EF4-FFF2-40B4-BE49-F238E27FC236}">
                <a16:creationId xmlns:a16="http://schemas.microsoft.com/office/drawing/2014/main" id="{17776191-78EF-D4EE-6480-96EB21D4C8BD}"/>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
        <p:nvSpPr>
          <p:cNvPr id="12" name="pole tekstowe 11">
            <a:extLst>
              <a:ext uri="{FF2B5EF4-FFF2-40B4-BE49-F238E27FC236}">
                <a16:creationId xmlns:a16="http://schemas.microsoft.com/office/drawing/2014/main" id="{7C4EAA0C-F6A0-C9C3-DBF6-7CFBD05BBC17}"/>
              </a:ext>
            </a:extLst>
          </p:cNvPr>
          <p:cNvSpPr txBox="1"/>
          <p:nvPr/>
        </p:nvSpPr>
        <p:spPr>
          <a:xfrm>
            <a:off x="0" y="6581001"/>
            <a:ext cx="12192000" cy="276999"/>
          </a:xfrm>
          <a:prstGeom prst="rect">
            <a:avLst/>
          </a:prstGeom>
          <a:noFill/>
        </p:spPr>
        <p:txBody>
          <a:bodyPr wrap="square">
            <a:spAutoFit/>
          </a:bodyPr>
          <a:lstStyle/>
          <a:p>
            <a:pPr algn="ctr"/>
            <a:r>
              <a:rPr lang="en-GB" sz="1200" dirty="0">
                <a:hlinkClick r:id="rId6"/>
              </a:rPr>
              <a:t>https://www.youtube.com/watch?v=HGwBXDKFk9I</a:t>
            </a:r>
            <a:r>
              <a:rPr lang="pl-PL" sz="1200" dirty="0"/>
              <a:t> </a:t>
            </a:r>
            <a:r>
              <a:rPr lang="en-US" sz="1200" dirty="0"/>
              <a:t>Neural Networks Part 8: Image Classification with Convolutional Neural Networks (CNNs)</a:t>
            </a:r>
            <a:r>
              <a:rPr lang="pl-PL" sz="1200" dirty="0"/>
              <a:t>; </a:t>
            </a:r>
            <a:r>
              <a:rPr lang="pl-PL" sz="1200" dirty="0" err="1"/>
              <a:t>StatQuest</a:t>
            </a:r>
            <a:r>
              <a:rPr lang="pl-PL" sz="1200" dirty="0"/>
              <a:t> with Josh </a:t>
            </a:r>
            <a:r>
              <a:rPr lang="pl-PL" sz="1200" dirty="0" err="1"/>
              <a:t>Starmer</a:t>
            </a:r>
            <a:endParaRPr lang="en-GB" sz="1200" dirty="0"/>
          </a:p>
        </p:txBody>
      </p:sp>
    </p:spTree>
    <p:extLst>
      <p:ext uri="{BB962C8B-B14F-4D97-AF65-F5344CB8AC3E}">
        <p14:creationId xmlns:p14="http://schemas.microsoft.com/office/powerpoint/2010/main" val="1921354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6963"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ytuł 4">
            <a:extLst>
              <a:ext uri="{FF2B5EF4-FFF2-40B4-BE49-F238E27FC236}">
                <a16:creationId xmlns:a16="http://schemas.microsoft.com/office/drawing/2014/main" id="{749658E0-488D-D737-61C2-9604F6D54FC1}"/>
              </a:ext>
            </a:extLst>
          </p:cNvPr>
          <p:cNvSpPr>
            <a:spLocks noGrp="1"/>
          </p:cNvSpPr>
          <p:nvPr>
            <p:ph type="title"/>
          </p:nvPr>
        </p:nvSpPr>
        <p:spPr>
          <a:xfrm>
            <a:off x="0" y="1"/>
            <a:ext cx="12192000" cy="655236"/>
          </a:xfrm>
        </p:spPr>
        <p:txBody>
          <a:bodyPr>
            <a:noAutofit/>
          </a:bodyPr>
          <a:lstStyle/>
          <a:p>
            <a:pPr algn="ctr"/>
            <a:r>
              <a:rPr lang="pl-PL" sz="3200" dirty="0" err="1"/>
              <a:t>Code</a:t>
            </a:r>
            <a:endParaRPr lang="en-GB" sz="3200" dirty="0"/>
          </a:p>
        </p:txBody>
      </p:sp>
      <p:sp>
        <p:nvSpPr>
          <p:cNvPr id="7" name="pole tekstowe 6">
            <a:extLst>
              <a:ext uri="{FF2B5EF4-FFF2-40B4-BE49-F238E27FC236}">
                <a16:creationId xmlns:a16="http://schemas.microsoft.com/office/drawing/2014/main" id="{D3268626-2948-2E5D-A6C7-0D54E3703DB9}"/>
              </a:ext>
            </a:extLst>
          </p:cNvPr>
          <p:cNvSpPr txBox="1"/>
          <p:nvPr/>
        </p:nvSpPr>
        <p:spPr>
          <a:xfrm>
            <a:off x="654341" y="655237"/>
            <a:ext cx="10209402" cy="1354217"/>
          </a:xfrm>
          <a:prstGeom prst="rect">
            <a:avLst/>
          </a:prstGeom>
          <a:noFill/>
        </p:spPr>
        <p:txBody>
          <a:bodyPr wrap="square">
            <a:spAutoFit/>
          </a:bodyPr>
          <a:lstStyle/>
          <a:p>
            <a:pPr>
              <a:spcBef>
                <a:spcPts val="600"/>
              </a:spcBef>
              <a:spcAft>
                <a:spcPts val="600"/>
              </a:spcAft>
            </a:pPr>
            <a:r>
              <a:rPr lang="pl-PL" sz="2400" dirty="0" err="1"/>
              <a:t>Sources</a:t>
            </a:r>
            <a:r>
              <a:rPr lang="pl-PL" sz="2400" dirty="0"/>
              <a:t> of </a:t>
            </a:r>
            <a:r>
              <a:rPr lang="pl-PL" sz="2400" dirty="0" err="1"/>
              <a:t>inspiration</a:t>
            </a:r>
            <a:r>
              <a:rPr lang="pl-PL" sz="2400" dirty="0"/>
              <a:t>: 	</a:t>
            </a:r>
            <a:r>
              <a:rPr lang="en-GB" sz="2400" dirty="0">
                <a:hlinkClick r:id="rId3"/>
              </a:rPr>
              <a:t>https://keras.io/examples/vision/</a:t>
            </a:r>
            <a:br>
              <a:rPr lang="pl-PL" sz="2400" dirty="0"/>
            </a:br>
            <a:r>
              <a:rPr lang="pl-PL" sz="2400" dirty="0"/>
              <a:t>				</a:t>
            </a:r>
            <a:r>
              <a:rPr lang="pl-PL" sz="2400" dirty="0">
                <a:hlinkClick r:id="rId4"/>
              </a:rPr>
              <a:t>https://keras.io/api/datasets/</a:t>
            </a:r>
            <a:r>
              <a:rPr lang="pl-PL" sz="2400" dirty="0"/>
              <a:t> </a:t>
            </a:r>
          </a:p>
          <a:p>
            <a:pPr>
              <a:spcBef>
                <a:spcPts val="600"/>
              </a:spcBef>
              <a:spcAft>
                <a:spcPts val="600"/>
              </a:spcAft>
            </a:pPr>
            <a:r>
              <a:rPr lang="pl-PL" sz="2400" i="1" dirty="0">
                <a:solidFill>
                  <a:srgbClr val="FF0000"/>
                </a:solidFill>
              </a:rPr>
              <a:t>00_mnist.py</a:t>
            </a:r>
          </a:p>
        </p:txBody>
      </p:sp>
      <p:pic>
        <p:nvPicPr>
          <p:cNvPr id="1028" name="Picture 4" descr="Keras - Platforma Akceleracji i Oprogramowania Masywnie Równoległego">
            <a:extLst>
              <a:ext uri="{FF2B5EF4-FFF2-40B4-BE49-F238E27FC236}">
                <a16:creationId xmlns:a16="http://schemas.microsoft.com/office/drawing/2014/main" id="{10D85140-3E13-4FE1-7EB0-14C39EF5D4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792" y="5483861"/>
            <a:ext cx="4187244" cy="12143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colab.google">
            <a:extLst>
              <a:ext uri="{FF2B5EF4-FFF2-40B4-BE49-F238E27FC236}">
                <a16:creationId xmlns:a16="http://schemas.microsoft.com/office/drawing/2014/main" id="{EC61CE70-8300-815C-7AAE-BBE1A2F867F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5483861"/>
            <a:ext cx="5825123" cy="1214300"/>
          </a:xfrm>
          <a:prstGeom prst="rect">
            <a:avLst/>
          </a:prstGeom>
          <a:noFill/>
          <a:ln>
            <a:solidFill>
              <a:srgbClr val="FFFFFF"/>
            </a:solidFill>
          </a:ln>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20FBB01A-4567-A5FD-BA86-4A5E42E9243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3445" y="2532674"/>
            <a:ext cx="4593996" cy="2697014"/>
          </a:xfrm>
          <a:prstGeom prst="rect">
            <a:avLst/>
          </a:prstGeom>
          <a:noFill/>
          <a:extLst>
            <a:ext uri="{909E8E84-426E-40DD-AFC4-6F175D3DCCD1}">
              <a14:hiddenFill xmlns:a14="http://schemas.microsoft.com/office/drawing/2010/main">
                <a:solidFill>
                  <a:srgbClr val="FFFFFF"/>
                </a:solidFill>
              </a14:hiddenFill>
            </a:ext>
          </a:extLst>
        </p:spPr>
      </p:pic>
      <p:sp>
        <p:nvSpPr>
          <p:cNvPr id="4" name="pole tekstowe 3">
            <a:extLst>
              <a:ext uri="{FF2B5EF4-FFF2-40B4-BE49-F238E27FC236}">
                <a16:creationId xmlns:a16="http://schemas.microsoft.com/office/drawing/2014/main" id="{4E4ECBF1-96BF-FA2B-B115-CCFA0669238D}"/>
              </a:ext>
            </a:extLst>
          </p:cNvPr>
          <p:cNvSpPr txBox="1"/>
          <p:nvPr/>
        </p:nvSpPr>
        <p:spPr>
          <a:xfrm>
            <a:off x="5486400" y="2532674"/>
            <a:ext cx="6705599" cy="2031325"/>
          </a:xfrm>
          <a:prstGeom prst="rect">
            <a:avLst/>
          </a:prstGeom>
          <a:solidFill>
            <a:schemeClr val="tx1"/>
          </a:solidFill>
        </p:spPr>
        <p:txBody>
          <a:bodyPr wrap="square">
            <a:spAutoFit/>
          </a:bodyPr>
          <a:lstStyle/>
          <a:p>
            <a:r>
              <a:rPr lang="pl-PL" b="0" dirty="0" err="1">
                <a:solidFill>
                  <a:srgbClr val="BBBBBB"/>
                </a:solidFill>
                <a:effectLst/>
                <a:latin typeface="Courier New" panose="02070309020205020404" pitchFamily="49" charset="0"/>
              </a:rPr>
              <a:t>inputs</a:t>
            </a:r>
            <a:r>
              <a:rPr lang="pl-PL" b="0" dirty="0">
                <a:solidFill>
                  <a:srgbClr val="BBBBBB"/>
                </a:solidFill>
                <a:effectLst/>
                <a:latin typeface="Courier New" panose="02070309020205020404" pitchFamily="49" charset="0"/>
              </a:rPr>
              <a:t> </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 </a:t>
            </a:r>
            <a:r>
              <a:rPr lang="pl-PL" b="0" dirty="0">
                <a:solidFill>
                  <a:srgbClr val="36F9F6"/>
                </a:solidFill>
                <a:effectLst/>
                <a:latin typeface="Courier New" panose="02070309020205020404" pitchFamily="49" charset="0"/>
              </a:rPr>
              <a:t>Input</a:t>
            </a:r>
            <a:r>
              <a:rPr lang="pl-PL" b="0" dirty="0">
                <a:solidFill>
                  <a:srgbClr val="BBBBBB"/>
                </a:solidFill>
                <a:effectLst/>
                <a:latin typeface="Courier New" panose="02070309020205020404" pitchFamily="49" charset="0"/>
              </a:rPr>
              <a:t>(</a:t>
            </a:r>
            <a:r>
              <a:rPr lang="pl-PL" b="0" dirty="0" err="1">
                <a:solidFill>
                  <a:srgbClr val="BBBBBB"/>
                </a:solidFill>
                <a:effectLst/>
                <a:latin typeface="Courier New" panose="02070309020205020404" pitchFamily="49" charset="0"/>
              </a:rPr>
              <a:t>shape</a:t>
            </a:r>
            <a:r>
              <a:rPr lang="pl-PL" b="0" dirty="0">
                <a:solidFill>
                  <a:srgbClr val="FFFFFF"/>
                </a:solidFill>
                <a:effectLst/>
                <a:latin typeface="Courier New" panose="02070309020205020404" pitchFamily="49" charset="0"/>
              </a:rPr>
              <a:t>=</a:t>
            </a:r>
            <a:r>
              <a:rPr lang="pl-PL" b="0" dirty="0" err="1">
                <a:solidFill>
                  <a:srgbClr val="BBBBBB"/>
                </a:solidFill>
                <a:effectLst/>
                <a:latin typeface="Courier New" panose="02070309020205020404" pitchFamily="49" charset="0"/>
              </a:rPr>
              <a:t>input_shape</a:t>
            </a:r>
            <a:r>
              <a:rPr lang="pl-PL" b="0" dirty="0">
                <a:solidFill>
                  <a:srgbClr val="BBBBBB"/>
                </a:solidFill>
                <a:effectLst/>
                <a:latin typeface="Courier New" panose="02070309020205020404" pitchFamily="49" charset="0"/>
              </a:rPr>
              <a:t>)</a:t>
            </a:r>
          </a:p>
          <a:p>
            <a:r>
              <a:rPr lang="pl-PL" b="0" dirty="0">
                <a:solidFill>
                  <a:srgbClr val="BBBBBB"/>
                </a:solidFill>
                <a:effectLst/>
                <a:latin typeface="Courier New" panose="02070309020205020404" pitchFamily="49" charset="0"/>
              </a:rPr>
              <a:t>x </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 </a:t>
            </a:r>
            <a:r>
              <a:rPr lang="pl-PL" b="0" dirty="0">
                <a:solidFill>
                  <a:srgbClr val="36F9F6"/>
                </a:solidFill>
                <a:effectLst/>
                <a:latin typeface="Courier New" panose="02070309020205020404" pitchFamily="49" charset="0"/>
              </a:rPr>
              <a:t>Conv2D</a:t>
            </a:r>
            <a:r>
              <a:rPr lang="pl-PL" b="0" dirty="0">
                <a:solidFill>
                  <a:srgbClr val="BBBBBB"/>
                </a:solidFill>
                <a:effectLst/>
                <a:latin typeface="Courier New" panose="02070309020205020404" pitchFamily="49" charset="0"/>
              </a:rPr>
              <a:t>(</a:t>
            </a:r>
            <a:r>
              <a:rPr lang="pl-PL" b="0" dirty="0">
                <a:solidFill>
                  <a:srgbClr val="F97E72"/>
                </a:solidFill>
                <a:effectLst/>
                <a:latin typeface="Courier New" panose="02070309020205020404" pitchFamily="49" charset="0"/>
              </a:rPr>
              <a:t>4</a:t>
            </a:r>
            <a:r>
              <a:rPr lang="pl-PL" b="0" dirty="0">
                <a:solidFill>
                  <a:srgbClr val="BBBBBB"/>
                </a:solidFill>
                <a:effectLst/>
                <a:latin typeface="Courier New" panose="02070309020205020404" pitchFamily="49" charset="0"/>
              </a:rPr>
              <a:t>, </a:t>
            </a:r>
            <a:r>
              <a:rPr lang="pl-PL" b="0" dirty="0" err="1">
                <a:solidFill>
                  <a:srgbClr val="BBBBBB"/>
                </a:solidFill>
                <a:effectLst/>
                <a:latin typeface="Courier New" panose="02070309020205020404" pitchFamily="49" charset="0"/>
              </a:rPr>
              <a:t>kernel_size</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a:t>
            </a:r>
            <a:r>
              <a:rPr lang="pl-PL" b="0" dirty="0">
                <a:solidFill>
                  <a:srgbClr val="F97E72"/>
                </a:solidFill>
                <a:effectLst/>
                <a:latin typeface="Courier New" panose="02070309020205020404" pitchFamily="49" charset="0"/>
              </a:rPr>
              <a:t>3</a:t>
            </a:r>
            <a:r>
              <a:rPr lang="pl-PL" b="0" dirty="0">
                <a:solidFill>
                  <a:srgbClr val="BBBBBB"/>
                </a:solidFill>
                <a:effectLst/>
                <a:latin typeface="Courier New" panose="02070309020205020404" pitchFamily="49" charset="0"/>
              </a:rPr>
              <a:t>, </a:t>
            </a:r>
            <a:r>
              <a:rPr lang="pl-PL" b="0" dirty="0">
                <a:solidFill>
                  <a:srgbClr val="F97E72"/>
                </a:solidFill>
                <a:effectLst/>
                <a:latin typeface="Courier New" panose="02070309020205020404" pitchFamily="49" charset="0"/>
              </a:rPr>
              <a:t>3</a:t>
            </a:r>
            <a:r>
              <a:rPr lang="pl-PL" b="0" dirty="0">
                <a:solidFill>
                  <a:srgbClr val="BBBBBB"/>
                </a:solidFill>
                <a:effectLst/>
                <a:latin typeface="Courier New" panose="02070309020205020404" pitchFamily="49" charset="0"/>
              </a:rPr>
              <a:t>), </a:t>
            </a:r>
            <a:r>
              <a:rPr lang="pl-PL" b="0" dirty="0" err="1">
                <a:solidFill>
                  <a:srgbClr val="BBBBBB"/>
                </a:solidFill>
                <a:effectLst/>
                <a:latin typeface="Courier New" panose="02070309020205020404" pitchFamily="49" charset="0"/>
              </a:rPr>
              <a:t>activ</a:t>
            </a:r>
            <a:r>
              <a:rPr lang="pl-PL" b="0" dirty="0">
                <a:solidFill>
                  <a:srgbClr val="FFFFFF"/>
                </a:solidFill>
                <a:effectLst/>
                <a:latin typeface="Courier New" panose="02070309020205020404" pitchFamily="49" charset="0"/>
              </a:rPr>
              <a:t>=</a:t>
            </a:r>
            <a:r>
              <a:rPr lang="pl-PL" b="0" dirty="0">
                <a:solidFill>
                  <a:srgbClr val="DD5500"/>
                </a:solidFill>
                <a:effectLst/>
                <a:latin typeface="Courier New" panose="02070309020205020404" pitchFamily="49" charset="0"/>
              </a:rPr>
              <a:t>'</a:t>
            </a:r>
            <a:r>
              <a:rPr lang="pl-PL" b="0" dirty="0" err="1">
                <a:solidFill>
                  <a:srgbClr val="FF8B39"/>
                </a:solidFill>
                <a:effectLst/>
                <a:latin typeface="Courier New" panose="02070309020205020404" pitchFamily="49" charset="0"/>
              </a:rPr>
              <a:t>relu</a:t>
            </a:r>
            <a:r>
              <a:rPr lang="pl-PL" b="0" dirty="0">
                <a:solidFill>
                  <a:srgbClr val="DD5500"/>
                </a:solidFill>
                <a:effectLst/>
                <a:latin typeface="Courier New" panose="02070309020205020404" pitchFamily="49" charset="0"/>
              </a:rPr>
              <a:t>'</a:t>
            </a:r>
            <a:r>
              <a:rPr lang="pl-PL" b="0" dirty="0">
                <a:solidFill>
                  <a:srgbClr val="BBBBBB"/>
                </a:solidFill>
                <a:effectLst/>
                <a:latin typeface="Courier New" panose="02070309020205020404" pitchFamily="49" charset="0"/>
              </a:rPr>
              <a:t>)(</a:t>
            </a:r>
            <a:r>
              <a:rPr lang="pl-PL" b="0" dirty="0" err="1">
                <a:solidFill>
                  <a:srgbClr val="BBBBBB"/>
                </a:solidFill>
                <a:effectLst/>
                <a:latin typeface="Courier New" panose="02070309020205020404" pitchFamily="49" charset="0"/>
              </a:rPr>
              <a:t>inputs</a:t>
            </a:r>
            <a:r>
              <a:rPr lang="pl-PL" b="0" dirty="0">
                <a:solidFill>
                  <a:srgbClr val="BBBBBB"/>
                </a:solidFill>
                <a:effectLst/>
                <a:latin typeface="Courier New" panose="02070309020205020404" pitchFamily="49" charset="0"/>
              </a:rPr>
              <a:t>)</a:t>
            </a:r>
          </a:p>
          <a:p>
            <a:r>
              <a:rPr lang="pl-PL" b="0" dirty="0">
                <a:solidFill>
                  <a:srgbClr val="BBBBBB"/>
                </a:solidFill>
                <a:effectLst/>
                <a:latin typeface="Courier New" panose="02070309020205020404" pitchFamily="49" charset="0"/>
              </a:rPr>
              <a:t>x </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 </a:t>
            </a:r>
            <a:r>
              <a:rPr lang="pl-PL" b="0" dirty="0">
                <a:solidFill>
                  <a:srgbClr val="36F9F6"/>
                </a:solidFill>
                <a:effectLst/>
                <a:latin typeface="Courier New" panose="02070309020205020404" pitchFamily="49" charset="0"/>
              </a:rPr>
              <a:t>MaxPooling2D</a:t>
            </a:r>
            <a:r>
              <a:rPr lang="pl-PL" b="0" dirty="0">
                <a:solidFill>
                  <a:srgbClr val="BBBBBB"/>
                </a:solidFill>
                <a:effectLst/>
                <a:latin typeface="Courier New" panose="02070309020205020404" pitchFamily="49" charset="0"/>
              </a:rPr>
              <a:t>(</a:t>
            </a:r>
            <a:r>
              <a:rPr lang="pl-PL" b="0" dirty="0" err="1">
                <a:solidFill>
                  <a:srgbClr val="BBBBBB"/>
                </a:solidFill>
                <a:effectLst/>
                <a:latin typeface="Courier New" panose="02070309020205020404" pitchFamily="49" charset="0"/>
              </a:rPr>
              <a:t>pool_size</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a:t>
            </a:r>
            <a:r>
              <a:rPr lang="pl-PL" b="0" dirty="0">
                <a:solidFill>
                  <a:srgbClr val="F97E72"/>
                </a:solidFill>
                <a:effectLst/>
                <a:latin typeface="Courier New" panose="02070309020205020404" pitchFamily="49" charset="0"/>
              </a:rPr>
              <a:t>2</a:t>
            </a:r>
            <a:r>
              <a:rPr lang="pl-PL" b="0" dirty="0">
                <a:solidFill>
                  <a:srgbClr val="BBBBBB"/>
                </a:solidFill>
                <a:effectLst/>
                <a:latin typeface="Courier New" panose="02070309020205020404" pitchFamily="49" charset="0"/>
              </a:rPr>
              <a:t>, </a:t>
            </a:r>
            <a:r>
              <a:rPr lang="pl-PL" b="0" dirty="0">
                <a:solidFill>
                  <a:srgbClr val="F97E72"/>
                </a:solidFill>
                <a:effectLst/>
                <a:latin typeface="Courier New" panose="02070309020205020404" pitchFamily="49" charset="0"/>
              </a:rPr>
              <a:t>2</a:t>
            </a:r>
            <a:r>
              <a:rPr lang="pl-PL" b="0" dirty="0">
                <a:solidFill>
                  <a:srgbClr val="BBBBBB"/>
                </a:solidFill>
                <a:effectLst/>
                <a:latin typeface="Courier New" panose="02070309020205020404" pitchFamily="49" charset="0"/>
              </a:rPr>
              <a:t>))(x)</a:t>
            </a:r>
          </a:p>
          <a:p>
            <a:r>
              <a:rPr lang="pl-PL" b="0" dirty="0">
                <a:solidFill>
                  <a:srgbClr val="BBBBBB"/>
                </a:solidFill>
                <a:effectLst/>
                <a:latin typeface="Courier New" panose="02070309020205020404" pitchFamily="49" charset="0"/>
              </a:rPr>
              <a:t>x </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 </a:t>
            </a:r>
            <a:r>
              <a:rPr lang="pl-PL" b="0" dirty="0" err="1">
                <a:solidFill>
                  <a:srgbClr val="36F9F6"/>
                </a:solidFill>
                <a:effectLst/>
                <a:latin typeface="Courier New" panose="02070309020205020404" pitchFamily="49" charset="0"/>
              </a:rPr>
              <a:t>Flatten</a:t>
            </a:r>
            <a:r>
              <a:rPr lang="pl-PL" b="0" dirty="0">
                <a:solidFill>
                  <a:srgbClr val="BBBBBB"/>
                </a:solidFill>
                <a:effectLst/>
                <a:latin typeface="Courier New" panose="02070309020205020404" pitchFamily="49" charset="0"/>
              </a:rPr>
              <a:t>()(x)</a:t>
            </a:r>
          </a:p>
          <a:p>
            <a:r>
              <a:rPr lang="pl-PL" b="0" dirty="0">
                <a:solidFill>
                  <a:srgbClr val="BBBBBB"/>
                </a:solidFill>
                <a:effectLst/>
                <a:latin typeface="Courier New" panose="02070309020205020404" pitchFamily="49" charset="0"/>
              </a:rPr>
              <a:t>x </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 </a:t>
            </a:r>
            <a:r>
              <a:rPr lang="pl-PL" b="0" dirty="0" err="1">
                <a:solidFill>
                  <a:srgbClr val="36F9F6"/>
                </a:solidFill>
                <a:effectLst/>
                <a:latin typeface="Courier New" panose="02070309020205020404" pitchFamily="49" charset="0"/>
              </a:rPr>
              <a:t>Dense</a:t>
            </a:r>
            <a:r>
              <a:rPr lang="pl-PL" b="0" dirty="0">
                <a:solidFill>
                  <a:srgbClr val="BBBBBB"/>
                </a:solidFill>
                <a:effectLst/>
                <a:latin typeface="Courier New" panose="02070309020205020404" pitchFamily="49" charset="0"/>
              </a:rPr>
              <a:t>(</a:t>
            </a:r>
            <a:r>
              <a:rPr lang="pl-PL" b="0" dirty="0">
                <a:solidFill>
                  <a:srgbClr val="F97E72"/>
                </a:solidFill>
                <a:effectLst/>
                <a:latin typeface="Courier New" panose="02070309020205020404" pitchFamily="49" charset="0"/>
              </a:rPr>
              <a:t>64</a:t>
            </a:r>
            <a:r>
              <a:rPr lang="pl-PL" b="0" dirty="0">
                <a:solidFill>
                  <a:srgbClr val="BBBBBB"/>
                </a:solidFill>
                <a:effectLst/>
                <a:latin typeface="Courier New" panose="02070309020205020404" pitchFamily="49" charset="0"/>
              </a:rPr>
              <a:t>, </a:t>
            </a:r>
            <a:r>
              <a:rPr lang="pl-PL" b="0" dirty="0" err="1">
                <a:solidFill>
                  <a:srgbClr val="BBBBBB"/>
                </a:solidFill>
                <a:effectLst/>
                <a:latin typeface="Courier New" panose="02070309020205020404" pitchFamily="49" charset="0"/>
              </a:rPr>
              <a:t>activation</a:t>
            </a:r>
            <a:r>
              <a:rPr lang="pl-PL" b="0" dirty="0">
                <a:solidFill>
                  <a:srgbClr val="FFFFFF"/>
                </a:solidFill>
                <a:effectLst/>
                <a:latin typeface="Courier New" panose="02070309020205020404" pitchFamily="49" charset="0"/>
              </a:rPr>
              <a:t>=</a:t>
            </a:r>
            <a:r>
              <a:rPr lang="pl-PL" b="0" dirty="0">
                <a:solidFill>
                  <a:srgbClr val="DD5500"/>
                </a:solidFill>
                <a:effectLst/>
                <a:latin typeface="Courier New" panose="02070309020205020404" pitchFamily="49" charset="0"/>
              </a:rPr>
              <a:t>'</a:t>
            </a:r>
            <a:r>
              <a:rPr lang="pl-PL" b="0" dirty="0" err="1">
                <a:solidFill>
                  <a:srgbClr val="FF8B39"/>
                </a:solidFill>
                <a:effectLst/>
                <a:latin typeface="Courier New" panose="02070309020205020404" pitchFamily="49" charset="0"/>
              </a:rPr>
              <a:t>relu</a:t>
            </a:r>
            <a:r>
              <a:rPr lang="pl-PL" b="0" dirty="0">
                <a:solidFill>
                  <a:srgbClr val="DD5500"/>
                </a:solidFill>
                <a:effectLst/>
                <a:latin typeface="Courier New" panose="02070309020205020404" pitchFamily="49" charset="0"/>
              </a:rPr>
              <a:t>’</a:t>
            </a:r>
            <a:r>
              <a:rPr lang="pl-PL" b="0" dirty="0">
                <a:solidFill>
                  <a:srgbClr val="BBBBBB"/>
                </a:solidFill>
                <a:effectLst/>
                <a:latin typeface="Courier New" panose="02070309020205020404" pitchFamily="49" charset="0"/>
              </a:rPr>
              <a:t>)(x)</a:t>
            </a:r>
          </a:p>
          <a:p>
            <a:r>
              <a:rPr lang="pl-PL" b="0" dirty="0" err="1">
                <a:solidFill>
                  <a:srgbClr val="BBBBBB"/>
                </a:solidFill>
                <a:effectLst/>
                <a:latin typeface="Courier New" panose="02070309020205020404" pitchFamily="49" charset="0"/>
              </a:rPr>
              <a:t>outputs</a:t>
            </a:r>
            <a:r>
              <a:rPr lang="pl-PL" b="0" dirty="0">
                <a:solidFill>
                  <a:srgbClr val="BBBBBB"/>
                </a:solidFill>
                <a:effectLst/>
                <a:latin typeface="Courier New" panose="02070309020205020404" pitchFamily="49" charset="0"/>
              </a:rPr>
              <a:t> </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 </a:t>
            </a:r>
            <a:r>
              <a:rPr lang="pl-PL" b="0" dirty="0" err="1">
                <a:solidFill>
                  <a:srgbClr val="36F9F6"/>
                </a:solidFill>
                <a:effectLst/>
                <a:latin typeface="Courier New" panose="02070309020205020404" pitchFamily="49" charset="0"/>
              </a:rPr>
              <a:t>Dense</a:t>
            </a:r>
            <a:r>
              <a:rPr lang="pl-PL" b="0" dirty="0">
                <a:solidFill>
                  <a:srgbClr val="BBBBBB"/>
                </a:solidFill>
                <a:effectLst/>
                <a:latin typeface="Courier New" panose="02070309020205020404" pitchFamily="49" charset="0"/>
              </a:rPr>
              <a:t>(</a:t>
            </a:r>
            <a:r>
              <a:rPr lang="pl-PL" b="0" dirty="0" err="1">
                <a:solidFill>
                  <a:srgbClr val="BBBBBB"/>
                </a:solidFill>
                <a:effectLst/>
                <a:latin typeface="Courier New" panose="02070309020205020404" pitchFamily="49" charset="0"/>
              </a:rPr>
              <a:t>num_classes</a:t>
            </a:r>
            <a:r>
              <a:rPr lang="pl-PL" dirty="0" err="1">
                <a:solidFill>
                  <a:srgbClr val="BBBBBB"/>
                </a:solidFill>
                <a:latin typeface="Courier New" panose="02070309020205020404" pitchFamily="49" charset="0"/>
              </a:rPr>
              <a:t>,</a:t>
            </a:r>
            <a:r>
              <a:rPr lang="pl-PL" b="0" dirty="0" err="1">
                <a:solidFill>
                  <a:srgbClr val="BBBBBB"/>
                </a:solidFill>
                <a:effectLst/>
                <a:latin typeface="Courier New" panose="02070309020205020404" pitchFamily="49" charset="0"/>
              </a:rPr>
              <a:t>activ</a:t>
            </a:r>
            <a:r>
              <a:rPr lang="pl-PL" b="0" dirty="0">
                <a:solidFill>
                  <a:srgbClr val="FFFFFF"/>
                </a:solidFill>
                <a:effectLst/>
                <a:latin typeface="Courier New" panose="02070309020205020404" pitchFamily="49" charset="0"/>
              </a:rPr>
              <a:t>=</a:t>
            </a:r>
            <a:r>
              <a:rPr lang="pl-PL" b="0" dirty="0">
                <a:solidFill>
                  <a:srgbClr val="DD5500"/>
                </a:solidFill>
                <a:effectLst/>
                <a:latin typeface="Courier New" panose="02070309020205020404" pitchFamily="49" charset="0"/>
              </a:rPr>
              <a:t>'</a:t>
            </a:r>
            <a:r>
              <a:rPr lang="pl-PL" b="0" dirty="0" err="1">
                <a:solidFill>
                  <a:srgbClr val="FF8B39"/>
                </a:solidFill>
                <a:effectLst/>
                <a:latin typeface="Courier New" panose="02070309020205020404" pitchFamily="49" charset="0"/>
              </a:rPr>
              <a:t>softmax</a:t>
            </a:r>
            <a:r>
              <a:rPr lang="pl-PL" b="0" dirty="0">
                <a:solidFill>
                  <a:srgbClr val="DD5500"/>
                </a:solidFill>
                <a:effectLst/>
                <a:latin typeface="Courier New" panose="02070309020205020404" pitchFamily="49" charset="0"/>
              </a:rPr>
              <a:t>'</a:t>
            </a:r>
            <a:r>
              <a:rPr lang="pl-PL" b="0" dirty="0">
                <a:solidFill>
                  <a:srgbClr val="BBBBBB"/>
                </a:solidFill>
                <a:effectLst/>
                <a:latin typeface="Courier New" panose="02070309020205020404" pitchFamily="49" charset="0"/>
              </a:rPr>
              <a:t>)(x)</a:t>
            </a:r>
          </a:p>
        </p:txBody>
      </p:sp>
    </p:spTree>
    <p:extLst>
      <p:ext uri="{BB962C8B-B14F-4D97-AF65-F5344CB8AC3E}">
        <p14:creationId xmlns:p14="http://schemas.microsoft.com/office/powerpoint/2010/main" val="3324562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ytuł 4">
            <a:extLst>
              <a:ext uri="{FF2B5EF4-FFF2-40B4-BE49-F238E27FC236}">
                <a16:creationId xmlns:a16="http://schemas.microsoft.com/office/drawing/2014/main" id="{749658E0-488D-D737-61C2-9604F6D54FC1}"/>
              </a:ext>
            </a:extLst>
          </p:cNvPr>
          <p:cNvSpPr>
            <a:spLocks noGrp="1"/>
          </p:cNvSpPr>
          <p:nvPr>
            <p:ph type="title"/>
          </p:nvPr>
        </p:nvSpPr>
        <p:spPr>
          <a:xfrm>
            <a:off x="0" y="1"/>
            <a:ext cx="12192000" cy="655236"/>
          </a:xfrm>
        </p:spPr>
        <p:txBody>
          <a:bodyPr>
            <a:noAutofit/>
          </a:bodyPr>
          <a:lstStyle/>
          <a:p>
            <a:pPr algn="ctr"/>
            <a:r>
              <a:rPr lang="pl-PL" sz="3200" dirty="0"/>
              <a:t>Cross-</a:t>
            </a:r>
            <a:r>
              <a:rPr lang="pl-PL" sz="3200" dirty="0" err="1"/>
              <a:t>entropy</a:t>
            </a:r>
            <a:r>
              <a:rPr lang="pl-PL" sz="3200" dirty="0"/>
              <a:t> </a:t>
            </a:r>
            <a:r>
              <a:rPr lang="pl-PL" sz="3200" dirty="0" err="1"/>
              <a:t>loss</a:t>
            </a:r>
            <a:r>
              <a:rPr lang="pl-PL" sz="3200" dirty="0"/>
              <a:t> </a:t>
            </a:r>
            <a:r>
              <a:rPr lang="pl-PL" sz="3200" dirty="0" err="1"/>
              <a:t>function</a:t>
            </a:r>
            <a:endParaRPr lang="en-GB" sz="3200" dirty="0"/>
          </a:p>
        </p:txBody>
      </p:sp>
      <p:pic>
        <p:nvPicPr>
          <p:cNvPr id="3" name="Picture 2">
            <a:extLst>
              <a:ext uri="{FF2B5EF4-FFF2-40B4-BE49-F238E27FC236}">
                <a16:creationId xmlns:a16="http://schemas.microsoft.com/office/drawing/2014/main" id="{19EB2EE4-F379-4D9A-A817-9B5EAEC361DB}"/>
              </a:ext>
            </a:extLst>
          </p:cNvPr>
          <p:cNvPicPr>
            <a:picLocks noChangeAspect="1"/>
          </p:cNvPicPr>
          <p:nvPr/>
        </p:nvPicPr>
        <p:blipFill rotWithShape="1">
          <a:blip r:embed="rId3"/>
          <a:srcRect r="3692"/>
          <a:stretch/>
        </p:blipFill>
        <p:spPr>
          <a:xfrm>
            <a:off x="244098" y="776129"/>
            <a:ext cx="6678148" cy="1226820"/>
          </a:xfrm>
          <a:prstGeom prst="rect">
            <a:avLst/>
          </a:prstGeom>
        </p:spPr>
      </p:pic>
      <p:pic>
        <p:nvPicPr>
          <p:cNvPr id="2" name="Picture 1">
            <a:extLst>
              <a:ext uri="{FF2B5EF4-FFF2-40B4-BE49-F238E27FC236}">
                <a16:creationId xmlns:a16="http://schemas.microsoft.com/office/drawing/2014/main" id="{7E9F8498-AB92-461D-AEFC-A66418CA579A}"/>
              </a:ext>
            </a:extLst>
          </p:cNvPr>
          <p:cNvPicPr>
            <a:picLocks noChangeAspect="1"/>
          </p:cNvPicPr>
          <p:nvPr/>
        </p:nvPicPr>
        <p:blipFill rotWithShape="1">
          <a:blip r:embed="rId4"/>
          <a:srcRect t="64858"/>
          <a:stretch/>
        </p:blipFill>
        <p:spPr>
          <a:xfrm>
            <a:off x="244098" y="2499882"/>
            <a:ext cx="5820728" cy="660752"/>
          </a:xfrm>
          <a:prstGeom prst="rect">
            <a:avLst/>
          </a:prstGeom>
        </p:spPr>
      </p:pic>
      <p:pic>
        <p:nvPicPr>
          <p:cNvPr id="4" name="Picture 3">
            <a:extLst>
              <a:ext uri="{FF2B5EF4-FFF2-40B4-BE49-F238E27FC236}">
                <a16:creationId xmlns:a16="http://schemas.microsoft.com/office/drawing/2014/main" id="{DCE8A2FD-D3B5-4ADD-92A6-1950462A9CC9}"/>
              </a:ext>
            </a:extLst>
          </p:cNvPr>
          <p:cNvPicPr>
            <a:picLocks noChangeAspect="1"/>
          </p:cNvPicPr>
          <p:nvPr/>
        </p:nvPicPr>
        <p:blipFill>
          <a:blip r:embed="rId5"/>
          <a:stretch>
            <a:fillRect/>
          </a:stretch>
        </p:blipFill>
        <p:spPr>
          <a:xfrm>
            <a:off x="244098" y="2063380"/>
            <a:ext cx="2633663" cy="353378"/>
          </a:xfrm>
          <a:prstGeom prst="rect">
            <a:avLst/>
          </a:prstGeom>
        </p:spPr>
      </p:pic>
      <p:pic>
        <p:nvPicPr>
          <p:cNvPr id="6" name="Picture 5">
            <a:extLst>
              <a:ext uri="{FF2B5EF4-FFF2-40B4-BE49-F238E27FC236}">
                <a16:creationId xmlns:a16="http://schemas.microsoft.com/office/drawing/2014/main" id="{71E7C898-F149-4F90-BFA3-44294445CD9B}"/>
              </a:ext>
            </a:extLst>
          </p:cNvPr>
          <p:cNvPicPr>
            <a:picLocks noChangeAspect="1"/>
          </p:cNvPicPr>
          <p:nvPr/>
        </p:nvPicPr>
        <p:blipFill>
          <a:blip r:embed="rId6"/>
          <a:stretch>
            <a:fillRect/>
          </a:stretch>
        </p:blipFill>
        <p:spPr>
          <a:xfrm>
            <a:off x="6922247" y="2608717"/>
            <a:ext cx="1341120" cy="259080"/>
          </a:xfrm>
          <a:prstGeom prst="rect">
            <a:avLst/>
          </a:prstGeom>
        </p:spPr>
      </p:pic>
      <p:pic>
        <p:nvPicPr>
          <p:cNvPr id="7" name="Picture 6">
            <a:extLst>
              <a:ext uri="{FF2B5EF4-FFF2-40B4-BE49-F238E27FC236}">
                <a16:creationId xmlns:a16="http://schemas.microsoft.com/office/drawing/2014/main" id="{A5E1C9C2-75C8-44B9-A344-786DE497B9B8}"/>
              </a:ext>
            </a:extLst>
          </p:cNvPr>
          <p:cNvPicPr>
            <a:picLocks noChangeAspect="1"/>
          </p:cNvPicPr>
          <p:nvPr/>
        </p:nvPicPr>
        <p:blipFill>
          <a:blip r:embed="rId7"/>
          <a:stretch>
            <a:fillRect/>
          </a:stretch>
        </p:blipFill>
        <p:spPr>
          <a:xfrm>
            <a:off x="6922246" y="2999344"/>
            <a:ext cx="4544568" cy="545592"/>
          </a:xfrm>
          <a:prstGeom prst="rect">
            <a:avLst/>
          </a:prstGeom>
        </p:spPr>
      </p:pic>
      <p:pic>
        <p:nvPicPr>
          <p:cNvPr id="8" name="Picture 7">
            <a:extLst>
              <a:ext uri="{FF2B5EF4-FFF2-40B4-BE49-F238E27FC236}">
                <a16:creationId xmlns:a16="http://schemas.microsoft.com/office/drawing/2014/main" id="{134F6A0E-FCAE-49B7-9002-C5C003C63F5F}"/>
              </a:ext>
            </a:extLst>
          </p:cNvPr>
          <p:cNvPicPr>
            <a:picLocks noChangeAspect="1"/>
          </p:cNvPicPr>
          <p:nvPr/>
        </p:nvPicPr>
        <p:blipFill>
          <a:blip r:embed="rId8"/>
          <a:stretch>
            <a:fillRect/>
          </a:stretch>
        </p:blipFill>
        <p:spPr>
          <a:xfrm>
            <a:off x="6922247" y="3658578"/>
            <a:ext cx="3316224" cy="707136"/>
          </a:xfrm>
          <a:prstGeom prst="rect">
            <a:avLst/>
          </a:prstGeom>
        </p:spPr>
      </p:pic>
      <p:pic>
        <p:nvPicPr>
          <p:cNvPr id="10" name="Picture 9">
            <a:extLst>
              <a:ext uri="{FF2B5EF4-FFF2-40B4-BE49-F238E27FC236}">
                <a16:creationId xmlns:a16="http://schemas.microsoft.com/office/drawing/2014/main" id="{CD85E7A7-5E96-4A79-8B9D-862BED71DD2A}"/>
              </a:ext>
            </a:extLst>
          </p:cNvPr>
          <p:cNvPicPr>
            <a:picLocks noChangeAspect="1"/>
          </p:cNvPicPr>
          <p:nvPr/>
        </p:nvPicPr>
        <p:blipFill>
          <a:blip r:embed="rId9"/>
          <a:stretch>
            <a:fillRect/>
          </a:stretch>
        </p:blipFill>
        <p:spPr>
          <a:xfrm>
            <a:off x="6922247" y="4440906"/>
            <a:ext cx="4526280" cy="929640"/>
          </a:xfrm>
          <a:prstGeom prst="rect">
            <a:avLst/>
          </a:prstGeom>
        </p:spPr>
      </p:pic>
      <p:pic>
        <p:nvPicPr>
          <p:cNvPr id="11" name="Picture 10">
            <a:extLst>
              <a:ext uri="{FF2B5EF4-FFF2-40B4-BE49-F238E27FC236}">
                <a16:creationId xmlns:a16="http://schemas.microsoft.com/office/drawing/2014/main" id="{DB79F63D-24E5-487A-BBB6-C74E663A5D34}"/>
              </a:ext>
            </a:extLst>
          </p:cNvPr>
          <p:cNvPicPr>
            <a:picLocks noChangeAspect="1"/>
          </p:cNvPicPr>
          <p:nvPr/>
        </p:nvPicPr>
        <p:blipFill>
          <a:blip r:embed="rId10"/>
          <a:stretch>
            <a:fillRect/>
          </a:stretch>
        </p:blipFill>
        <p:spPr>
          <a:xfrm>
            <a:off x="6885560" y="5410222"/>
            <a:ext cx="3864864" cy="252984"/>
          </a:xfrm>
          <a:prstGeom prst="rect">
            <a:avLst/>
          </a:prstGeom>
        </p:spPr>
      </p:pic>
      <p:pic>
        <p:nvPicPr>
          <p:cNvPr id="12" name="Picture 11">
            <a:extLst>
              <a:ext uri="{FF2B5EF4-FFF2-40B4-BE49-F238E27FC236}">
                <a16:creationId xmlns:a16="http://schemas.microsoft.com/office/drawing/2014/main" id="{F473C493-5642-4C9A-8971-AF1B5C53E570}"/>
              </a:ext>
            </a:extLst>
          </p:cNvPr>
          <p:cNvPicPr>
            <a:picLocks noChangeAspect="1"/>
          </p:cNvPicPr>
          <p:nvPr/>
        </p:nvPicPr>
        <p:blipFill>
          <a:blip r:embed="rId11"/>
          <a:stretch>
            <a:fillRect/>
          </a:stretch>
        </p:blipFill>
        <p:spPr>
          <a:xfrm>
            <a:off x="6885559" y="5745175"/>
            <a:ext cx="1594104" cy="246888"/>
          </a:xfrm>
          <a:prstGeom prst="rect">
            <a:avLst/>
          </a:prstGeom>
        </p:spPr>
      </p:pic>
      <p:pic>
        <p:nvPicPr>
          <p:cNvPr id="1026" name="Picture 2" descr="Cross entropy loss function - skillinfo">
            <a:extLst>
              <a:ext uri="{FF2B5EF4-FFF2-40B4-BE49-F238E27FC236}">
                <a16:creationId xmlns:a16="http://schemas.microsoft.com/office/drawing/2014/main" id="{E9C7A690-CEAE-446E-B82B-8C9EAB18102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6786" y="3657567"/>
            <a:ext cx="4514850"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8379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athological Curvature">
            <a:extLst>
              <a:ext uri="{FF2B5EF4-FFF2-40B4-BE49-F238E27FC236}">
                <a16:creationId xmlns:a16="http://schemas.microsoft.com/office/drawing/2014/main" id="{609E5A29-B92C-BE49-40C6-B67EB63D4C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248396" cy="4341716"/>
          </a:xfrm>
          <a:prstGeom prst="rect">
            <a:avLst/>
          </a:prstGeom>
          <a:noFill/>
          <a:extLst>
            <a:ext uri="{909E8E84-426E-40DD-AFC4-6F175D3DCCD1}">
              <a14:hiddenFill xmlns:a14="http://schemas.microsoft.com/office/drawing/2010/main">
                <a:solidFill>
                  <a:srgbClr val="FFFFFF"/>
                </a:solidFill>
              </a14:hiddenFill>
            </a:ext>
          </a:extLst>
        </p:spPr>
      </p:pic>
      <p:sp>
        <p:nvSpPr>
          <p:cNvPr id="5" name="Tytuł 4">
            <a:extLst>
              <a:ext uri="{FF2B5EF4-FFF2-40B4-BE49-F238E27FC236}">
                <a16:creationId xmlns:a16="http://schemas.microsoft.com/office/drawing/2014/main" id="{749658E0-488D-D737-61C2-9604F6D54FC1}"/>
              </a:ext>
            </a:extLst>
          </p:cNvPr>
          <p:cNvSpPr>
            <a:spLocks noGrp="1"/>
          </p:cNvSpPr>
          <p:nvPr>
            <p:ph type="title"/>
          </p:nvPr>
        </p:nvSpPr>
        <p:spPr>
          <a:xfrm>
            <a:off x="0" y="1"/>
            <a:ext cx="12192000" cy="655236"/>
          </a:xfrm>
        </p:spPr>
        <p:txBody>
          <a:bodyPr>
            <a:noAutofit/>
          </a:bodyPr>
          <a:lstStyle/>
          <a:p>
            <a:pPr algn="ctr"/>
            <a:r>
              <a:rPr lang="pl-PL" sz="3200" dirty="0"/>
              <a:t>Optymizator ADAM - </a:t>
            </a:r>
            <a:r>
              <a:rPr lang="pl-PL" sz="3200" dirty="0" err="1"/>
              <a:t>Adaptive</a:t>
            </a:r>
            <a:r>
              <a:rPr lang="pl-PL" sz="3200" dirty="0"/>
              <a:t> Moment </a:t>
            </a:r>
            <a:r>
              <a:rPr lang="pl-PL" sz="3200" dirty="0" err="1"/>
              <a:t>Estimation</a:t>
            </a:r>
            <a:endParaRPr lang="en-GB" sz="3200" dirty="0"/>
          </a:p>
        </p:txBody>
      </p:sp>
      <p:sp>
        <p:nvSpPr>
          <p:cNvPr id="3" name="pole tekstowe 2">
            <a:extLst>
              <a:ext uri="{FF2B5EF4-FFF2-40B4-BE49-F238E27FC236}">
                <a16:creationId xmlns:a16="http://schemas.microsoft.com/office/drawing/2014/main" id="{95861586-22A0-5C28-0728-D0F4404B7E8F}"/>
              </a:ext>
            </a:extLst>
          </p:cNvPr>
          <p:cNvSpPr txBox="1"/>
          <p:nvPr/>
        </p:nvSpPr>
        <p:spPr>
          <a:xfrm>
            <a:off x="0" y="6550222"/>
            <a:ext cx="12192000" cy="307777"/>
          </a:xfrm>
          <a:prstGeom prst="rect">
            <a:avLst/>
          </a:prstGeom>
          <a:noFill/>
        </p:spPr>
        <p:txBody>
          <a:bodyPr wrap="square">
            <a:spAutoFit/>
          </a:bodyPr>
          <a:lstStyle/>
          <a:p>
            <a:pPr algn="ctr"/>
            <a:r>
              <a:rPr lang="en-GB" sz="1400" dirty="0">
                <a:solidFill>
                  <a:schemeClr val="accent1">
                    <a:lumMod val="60000"/>
                    <a:lumOff val="40000"/>
                  </a:schemeClr>
                </a:solidFill>
              </a:rPr>
              <a:t>https://blog.paperspace.com/intro-to-optimization-momentum-rmsprop-adam/</a:t>
            </a:r>
          </a:p>
        </p:txBody>
      </p:sp>
      <p:pic>
        <p:nvPicPr>
          <p:cNvPr id="2054" name="Picture 6" descr="moment_compo">
            <a:extLst>
              <a:ext uri="{FF2B5EF4-FFF2-40B4-BE49-F238E27FC236}">
                <a16:creationId xmlns:a16="http://schemas.microsoft.com/office/drawing/2014/main" id="{599AFA0B-D7A1-A641-8977-48163F9896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832810"/>
            <a:ext cx="7620000" cy="4733925"/>
          </a:xfrm>
          <a:prstGeom prst="rect">
            <a:avLst/>
          </a:prstGeom>
          <a:noFill/>
          <a:extLst>
            <a:ext uri="{909E8E84-426E-40DD-AFC4-6F175D3DCCD1}">
              <a14:hiddenFill xmlns:a14="http://schemas.microsoft.com/office/drawing/2010/main">
                <a:solidFill>
                  <a:srgbClr val="FFFFFF"/>
                </a:solidFill>
              </a14:hiddenFill>
            </a:ext>
          </a:extLst>
        </p:spPr>
      </p:pic>
      <p:sp>
        <p:nvSpPr>
          <p:cNvPr id="6" name="pole tekstowe 5">
            <a:extLst>
              <a:ext uri="{FF2B5EF4-FFF2-40B4-BE49-F238E27FC236}">
                <a16:creationId xmlns:a16="http://schemas.microsoft.com/office/drawing/2014/main" id="{FAD52605-263D-9B8F-44C3-C599D2A5812B}"/>
              </a:ext>
            </a:extLst>
          </p:cNvPr>
          <p:cNvSpPr txBox="1"/>
          <p:nvPr/>
        </p:nvSpPr>
        <p:spPr>
          <a:xfrm>
            <a:off x="6604244" y="920858"/>
            <a:ext cx="5231907"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highlight>
                  <a:srgbClr val="FFFFFF"/>
                </a:highlight>
              </a:rPr>
              <a:t>ADAM accumulates gradients from previous steps to determine the direction in which to move.</a:t>
            </a:r>
            <a:endParaRPr lang="en-GB" dirty="0"/>
          </a:p>
        </p:txBody>
      </p:sp>
    </p:spTree>
    <p:extLst>
      <p:ext uri="{BB962C8B-B14F-4D97-AF65-F5344CB8AC3E}">
        <p14:creationId xmlns:p14="http://schemas.microsoft.com/office/powerpoint/2010/main" val="252003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ytuł 4">
            <a:extLst>
              <a:ext uri="{FF2B5EF4-FFF2-40B4-BE49-F238E27FC236}">
                <a16:creationId xmlns:a16="http://schemas.microsoft.com/office/drawing/2014/main" id="{749658E0-488D-D737-61C2-9604F6D54FC1}"/>
              </a:ext>
            </a:extLst>
          </p:cNvPr>
          <p:cNvSpPr>
            <a:spLocks noGrp="1"/>
          </p:cNvSpPr>
          <p:nvPr>
            <p:ph type="title"/>
          </p:nvPr>
        </p:nvSpPr>
        <p:spPr>
          <a:xfrm>
            <a:off x="0" y="1"/>
            <a:ext cx="12192000" cy="655236"/>
          </a:xfrm>
        </p:spPr>
        <p:txBody>
          <a:bodyPr>
            <a:noAutofit/>
          </a:bodyPr>
          <a:lstStyle/>
          <a:p>
            <a:pPr algn="ctr"/>
            <a:r>
              <a:rPr lang="pl-PL" sz="3200" dirty="0" err="1"/>
              <a:t>Code</a:t>
            </a:r>
            <a:endParaRPr lang="en-GB" sz="3200" dirty="0"/>
          </a:p>
        </p:txBody>
      </p:sp>
      <p:sp>
        <p:nvSpPr>
          <p:cNvPr id="7" name="pole tekstowe 6">
            <a:extLst>
              <a:ext uri="{FF2B5EF4-FFF2-40B4-BE49-F238E27FC236}">
                <a16:creationId xmlns:a16="http://schemas.microsoft.com/office/drawing/2014/main" id="{D3268626-2948-2E5D-A6C7-0D54E3703DB9}"/>
              </a:ext>
            </a:extLst>
          </p:cNvPr>
          <p:cNvSpPr txBox="1"/>
          <p:nvPr/>
        </p:nvSpPr>
        <p:spPr>
          <a:xfrm>
            <a:off x="207146" y="464572"/>
            <a:ext cx="11777707" cy="461665"/>
          </a:xfrm>
          <a:prstGeom prst="rect">
            <a:avLst/>
          </a:prstGeom>
          <a:noFill/>
        </p:spPr>
        <p:txBody>
          <a:bodyPr wrap="square">
            <a:spAutoFit/>
          </a:bodyPr>
          <a:lstStyle/>
          <a:p>
            <a:pPr>
              <a:spcBef>
                <a:spcPts val="600"/>
              </a:spcBef>
              <a:spcAft>
                <a:spcPts val="600"/>
              </a:spcAft>
            </a:pPr>
            <a:r>
              <a:rPr lang="pl-PL" sz="2400" i="1" dirty="0">
                <a:solidFill>
                  <a:srgbClr val="FF0000"/>
                </a:solidFill>
              </a:rPr>
              <a:t>	</a:t>
            </a:r>
            <a:r>
              <a:rPr lang="en-US" sz="2400" i="1" dirty="0">
                <a:solidFill>
                  <a:srgbClr val="FF0000"/>
                </a:solidFill>
              </a:rPr>
              <a:t>01_a_fashion_mnist_training</a:t>
            </a:r>
            <a:r>
              <a:rPr lang="pl-PL" sz="2400" i="1" dirty="0">
                <a:solidFill>
                  <a:srgbClr val="FF0000"/>
                </a:solidFill>
              </a:rPr>
              <a:t>		</a:t>
            </a:r>
            <a:r>
              <a:rPr lang="en-US" sz="2400" i="1" dirty="0">
                <a:solidFill>
                  <a:srgbClr val="FF0000"/>
                </a:solidFill>
              </a:rPr>
              <a:t> </a:t>
            </a:r>
            <a:r>
              <a:rPr lang="pl-PL" sz="2400" i="1" dirty="0">
                <a:solidFill>
                  <a:srgbClr val="FF0000"/>
                </a:solidFill>
              </a:rPr>
              <a:t>	</a:t>
            </a:r>
            <a:r>
              <a:rPr lang="en-US" sz="2400" i="1" dirty="0">
                <a:solidFill>
                  <a:srgbClr val="FF0000"/>
                </a:solidFill>
              </a:rPr>
              <a:t>01_b_fashion_mnist_import_completed</a:t>
            </a:r>
            <a:endParaRPr lang="pl-PL" sz="2400" i="1" dirty="0">
              <a:solidFill>
                <a:srgbClr val="FF0000"/>
              </a:solidFill>
            </a:endParaRPr>
          </a:p>
        </p:txBody>
      </p:sp>
      <p:pic>
        <p:nvPicPr>
          <p:cNvPr id="1028" name="Picture 4" descr="Keras - Platforma Akceleracji i Oprogramowania Masywnie Równoległego">
            <a:extLst>
              <a:ext uri="{FF2B5EF4-FFF2-40B4-BE49-F238E27FC236}">
                <a16:creationId xmlns:a16="http://schemas.microsoft.com/office/drawing/2014/main" id="{10D85140-3E13-4FE1-7EB0-14C39EF5D4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792" y="5483861"/>
            <a:ext cx="4187244" cy="12143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colab.google">
            <a:extLst>
              <a:ext uri="{FF2B5EF4-FFF2-40B4-BE49-F238E27FC236}">
                <a16:creationId xmlns:a16="http://schemas.microsoft.com/office/drawing/2014/main" id="{EC61CE70-8300-815C-7AAE-BBE1A2F867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5483861"/>
            <a:ext cx="5825123" cy="1214300"/>
          </a:xfrm>
          <a:prstGeom prst="rect">
            <a:avLst/>
          </a:prstGeom>
          <a:noFill/>
          <a:ln>
            <a:solidFill>
              <a:srgbClr val="FFFFFF"/>
            </a:solidFill>
          </a:ln>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514DA900-75B9-F7E4-4A3E-E3B6881D27D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25526"/>
          <a:stretch/>
        </p:blipFill>
        <p:spPr bwMode="auto">
          <a:xfrm>
            <a:off x="207146" y="1615631"/>
            <a:ext cx="4870881" cy="3775257"/>
          </a:xfrm>
          <a:prstGeom prst="rect">
            <a:avLst/>
          </a:prstGeom>
          <a:noFill/>
          <a:extLst>
            <a:ext uri="{909E8E84-426E-40DD-AFC4-6F175D3DCCD1}">
              <a14:hiddenFill xmlns:a14="http://schemas.microsoft.com/office/drawing/2010/main">
                <a:solidFill>
                  <a:srgbClr val="FFFFFF"/>
                </a:solidFill>
              </a14:hiddenFill>
            </a:ext>
          </a:extLst>
        </p:spPr>
      </p:pic>
      <p:sp>
        <p:nvSpPr>
          <p:cNvPr id="6" name="pole tekstowe 5">
            <a:extLst>
              <a:ext uri="{FF2B5EF4-FFF2-40B4-BE49-F238E27FC236}">
                <a16:creationId xmlns:a16="http://schemas.microsoft.com/office/drawing/2014/main" id="{68183D0E-88C9-EDE1-01DC-5D0410148FDD}"/>
              </a:ext>
            </a:extLst>
          </p:cNvPr>
          <p:cNvSpPr txBox="1"/>
          <p:nvPr/>
        </p:nvSpPr>
        <p:spPr>
          <a:xfrm>
            <a:off x="5166803" y="1655485"/>
            <a:ext cx="6754319" cy="3416320"/>
          </a:xfrm>
          <a:prstGeom prst="rect">
            <a:avLst/>
          </a:prstGeom>
          <a:solidFill>
            <a:schemeClr val="tx1"/>
          </a:solidFill>
        </p:spPr>
        <p:txBody>
          <a:bodyPr wrap="square">
            <a:spAutoFit/>
          </a:bodyPr>
          <a:lstStyle/>
          <a:p>
            <a:r>
              <a:rPr lang="pl-PL" b="0" dirty="0" err="1">
                <a:solidFill>
                  <a:srgbClr val="BBBBBB"/>
                </a:solidFill>
                <a:effectLst/>
                <a:latin typeface="Courier New" panose="02070309020205020404" pitchFamily="49" charset="0"/>
              </a:rPr>
              <a:t>inputs</a:t>
            </a:r>
            <a:r>
              <a:rPr lang="pl-PL" b="0" dirty="0">
                <a:solidFill>
                  <a:srgbClr val="BBBBBB"/>
                </a:solidFill>
                <a:effectLst/>
                <a:latin typeface="Courier New" panose="02070309020205020404" pitchFamily="49" charset="0"/>
              </a:rPr>
              <a:t> </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 </a:t>
            </a:r>
            <a:r>
              <a:rPr lang="pl-PL" b="0" dirty="0">
                <a:solidFill>
                  <a:srgbClr val="36F9F6"/>
                </a:solidFill>
                <a:effectLst/>
                <a:latin typeface="Courier New" panose="02070309020205020404" pitchFamily="49" charset="0"/>
              </a:rPr>
              <a:t>Input</a:t>
            </a:r>
            <a:r>
              <a:rPr lang="pl-PL" b="0" dirty="0">
                <a:solidFill>
                  <a:srgbClr val="BBBBBB"/>
                </a:solidFill>
                <a:effectLst/>
                <a:latin typeface="Courier New" panose="02070309020205020404" pitchFamily="49" charset="0"/>
              </a:rPr>
              <a:t>(</a:t>
            </a:r>
            <a:r>
              <a:rPr lang="pl-PL" b="0" dirty="0" err="1">
                <a:solidFill>
                  <a:srgbClr val="BBBBBB"/>
                </a:solidFill>
                <a:effectLst/>
                <a:latin typeface="Courier New" panose="02070309020205020404" pitchFamily="49" charset="0"/>
              </a:rPr>
              <a:t>shape</a:t>
            </a:r>
            <a:r>
              <a:rPr lang="pl-PL" b="0" dirty="0">
                <a:solidFill>
                  <a:srgbClr val="FFFFFF"/>
                </a:solidFill>
                <a:effectLst/>
                <a:latin typeface="Courier New" panose="02070309020205020404" pitchFamily="49" charset="0"/>
              </a:rPr>
              <a:t>=</a:t>
            </a:r>
            <a:r>
              <a:rPr lang="pl-PL" b="0" dirty="0" err="1">
                <a:solidFill>
                  <a:srgbClr val="BBBBBB"/>
                </a:solidFill>
                <a:effectLst/>
                <a:latin typeface="Courier New" panose="02070309020205020404" pitchFamily="49" charset="0"/>
              </a:rPr>
              <a:t>input_shape</a:t>
            </a:r>
            <a:r>
              <a:rPr lang="pl-PL" b="0" dirty="0">
                <a:solidFill>
                  <a:srgbClr val="BBBBBB"/>
                </a:solidFill>
                <a:effectLst/>
                <a:latin typeface="Courier New" panose="02070309020205020404" pitchFamily="49" charset="0"/>
              </a:rPr>
              <a:t>)</a:t>
            </a:r>
          </a:p>
          <a:p>
            <a:r>
              <a:rPr lang="pl-PL" b="0" dirty="0">
                <a:solidFill>
                  <a:srgbClr val="BBBBBB"/>
                </a:solidFill>
                <a:effectLst/>
                <a:latin typeface="Courier New" panose="02070309020205020404" pitchFamily="49" charset="0"/>
              </a:rPr>
              <a:t>x </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 </a:t>
            </a:r>
            <a:r>
              <a:rPr lang="pl-PL" b="0" dirty="0">
                <a:solidFill>
                  <a:srgbClr val="36F9F6"/>
                </a:solidFill>
                <a:effectLst/>
                <a:latin typeface="Courier New" panose="02070309020205020404" pitchFamily="49" charset="0"/>
              </a:rPr>
              <a:t>Conv2D</a:t>
            </a:r>
            <a:r>
              <a:rPr lang="pl-PL" b="0" dirty="0">
                <a:solidFill>
                  <a:srgbClr val="BBBBBB"/>
                </a:solidFill>
                <a:effectLst/>
                <a:latin typeface="Courier New" panose="02070309020205020404" pitchFamily="49" charset="0"/>
              </a:rPr>
              <a:t>(</a:t>
            </a:r>
            <a:r>
              <a:rPr lang="pl-PL" b="0" dirty="0">
                <a:solidFill>
                  <a:srgbClr val="F97E72"/>
                </a:solidFill>
                <a:effectLst/>
                <a:latin typeface="Courier New" panose="02070309020205020404" pitchFamily="49" charset="0"/>
              </a:rPr>
              <a:t>32</a:t>
            </a:r>
            <a:r>
              <a:rPr lang="pl-PL" b="0" dirty="0">
                <a:solidFill>
                  <a:srgbClr val="BBBBBB"/>
                </a:solidFill>
                <a:effectLst/>
                <a:latin typeface="Courier New" panose="02070309020205020404" pitchFamily="49" charset="0"/>
              </a:rPr>
              <a:t>, </a:t>
            </a:r>
            <a:r>
              <a:rPr lang="pl-PL" b="0" dirty="0" err="1">
                <a:solidFill>
                  <a:srgbClr val="BBBBBB"/>
                </a:solidFill>
                <a:effectLst/>
                <a:latin typeface="Courier New" panose="02070309020205020404" pitchFamily="49" charset="0"/>
              </a:rPr>
              <a:t>kernel_size</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a:t>
            </a:r>
            <a:r>
              <a:rPr lang="pl-PL" b="0" dirty="0">
                <a:solidFill>
                  <a:srgbClr val="F97E72"/>
                </a:solidFill>
                <a:effectLst/>
                <a:latin typeface="Courier New" panose="02070309020205020404" pitchFamily="49" charset="0"/>
              </a:rPr>
              <a:t>3</a:t>
            </a:r>
            <a:r>
              <a:rPr lang="pl-PL" b="0" dirty="0">
                <a:solidFill>
                  <a:srgbClr val="BBBBBB"/>
                </a:solidFill>
                <a:effectLst/>
                <a:latin typeface="Courier New" panose="02070309020205020404" pitchFamily="49" charset="0"/>
              </a:rPr>
              <a:t>, </a:t>
            </a:r>
            <a:r>
              <a:rPr lang="pl-PL" b="0" dirty="0">
                <a:solidFill>
                  <a:srgbClr val="F97E72"/>
                </a:solidFill>
                <a:effectLst/>
                <a:latin typeface="Courier New" panose="02070309020205020404" pitchFamily="49" charset="0"/>
              </a:rPr>
              <a:t>3</a:t>
            </a:r>
            <a:r>
              <a:rPr lang="pl-PL" b="0" dirty="0">
                <a:solidFill>
                  <a:srgbClr val="BBBBBB"/>
                </a:solidFill>
                <a:effectLst/>
                <a:latin typeface="Courier New" panose="02070309020205020404" pitchFamily="49" charset="0"/>
              </a:rPr>
              <a:t>), </a:t>
            </a:r>
            <a:r>
              <a:rPr lang="pl-PL" b="0" dirty="0" err="1">
                <a:solidFill>
                  <a:srgbClr val="BBBBBB"/>
                </a:solidFill>
                <a:effectLst/>
                <a:latin typeface="Courier New" panose="02070309020205020404" pitchFamily="49" charset="0"/>
              </a:rPr>
              <a:t>padding</a:t>
            </a:r>
            <a:r>
              <a:rPr lang="pl-PL" b="0" dirty="0">
                <a:solidFill>
                  <a:srgbClr val="FFFFFF"/>
                </a:solidFill>
                <a:effectLst/>
                <a:latin typeface="Courier New" panose="02070309020205020404" pitchFamily="49" charset="0"/>
              </a:rPr>
              <a:t>=</a:t>
            </a:r>
            <a:r>
              <a:rPr lang="pl-PL" b="0" dirty="0">
                <a:solidFill>
                  <a:srgbClr val="DD5500"/>
                </a:solidFill>
                <a:effectLst/>
                <a:latin typeface="Courier New" panose="02070309020205020404" pitchFamily="49" charset="0"/>
              </a:rPr>
              <a:t>'</a:t>
            </a:r>
            <a:r>
              <a:rPr lang="pl-PL" b="0" dirty="0">
                <a:solidFill>
                  <a:srgbClr val="FF8B39"/>
                </a:solidFill>
                <a:effectLst/>
                <a:latin typeface="Courier New" panose="02070309020205020404" pitchFamily="49" charset="0"/>
              </a:rPr>
              <a:t>same</a:t>
            </a:r>
            <a:r>
              <a:rPr lang="pl-PL" b="0" dirty="0">
                <a:solidFill>
                  <a:srgbClr val="DD5500"/>
                </a:solidFill>
                <a:effectLst/>
                <a:latin typeface="Courier New" panose="02070309020205020404" pitchFamily="49" charset="0"/>
              </a:rPr>
              <a:t>'</a:t>
            </a:r>
            <a:r>
              <a:rPr lang="pl-PL" b="0" dirty="0">
                <a:solidFill>
                  <a:srgbClr val="BBBBBB"/>
                </a:solidFill>
                <a:effectLst/>
                <a:latin typeface="Courier New" panose="02070309020205020404" pitchFamily="49" charset="0"/>
              </a:rPr>
              <a:t>,</a:t>
            </a:r>
            <a:r>
              <a:rPr lang="pl-PL" b="0" dirty="0" err="1">
                <a:solidFill>
                  <a:srgbClr val="BBBBBB"/>
                </a:solidFill>
                <a:effectLst/>
                <a:latin typeface="Courier New" panose="02070309020205020404" pitchFamily="49" charset="0"/>
              </a:rPr>
              <a:t>activation</a:t>
            </a:r>
            <a:r>
              <a:rPr lang="pl-PL" b="0" dirty="0">
                <a:solidFill>
                  <a:srgbClr val="FFFFFF"/>
                </a:solidFill>
                <a:effectLst/>
                <a:latin typeface="Courier New" panose="02070309020205020404" pitchFamily="49" charset="0"/>
              </a:rPr>
              <a:t>=</a:t>
            </a:r>
            <a:r>
              <a:rPr lang="pl-PL" b="0" dirty="0">
                <a:solidFill>
                  <a:srgbClr val="DD5500"/>
                </a:solidFill>
                <a:effectLst/>
                <a:latin typeface="Courier New" panose="02070309020205020404" pitchFamily="49" charset="0"/>
              </a:rPr>
              <a:t>'</a:t>
            </a:r>
            <a:r>
              <a:rPr lang="pl-PL" b="0" dirty="0" err="1">
                <a:solidFill>
                  <a:srgbClr val="FF8B39"/>
                </a:solidFill>
                <a:effectLst/>
                <a:latin typeface="Courier New" panose="02070309020205020404" pitchFamily="49" charset="0"/>
              </a:rPr>
              <a:t>relu</a:t>
            </a:r>
            <a:r>
              <a:rPr lang="pl-PL" b="0" dirty="0">
                <a:solidFill>
                  <a:srgbClr val="DD5500"/>
                </a:solidFill>
                <a:effectLst/>
                <a:latin typeface="Courier New" panose="02070309020205020404" pitchFamily="49" charset="0"/>
              </a:rPr>
              <a:t>'</a:t>
            </a:r>
            <a:r>
              <a:rPr lang="pl-PL" b="0" dirty="0">
                <a:solidFill>
                  <a:srgbClr val="BBBBBB"/>
                </a:solidFill>
                <a:effectLst/>
                <a:latin typeface="Courier New" panose="02070309020205020404" pitchFamily="49" charset="0"/>
              </a:rPr>
              <a:t>)(</a:t>
            </a:r>
            <a:r>
              <a:rPr lang="pl-PL" b="0" dirty="0" err="1">
                <a:solidFill>
                  <a:srgbClr val="BBBBBB"/>
                </a:solidFill>
                <a:effectLst/>
                <a:latin typeface="Courier New" panose="02070309020205020404" pitchFamily="49" charset="0"/>
              </a:rPr>
              <a:t>inputs</a:t>
            </a:r>
            <a:r>
              <a:rPr lang="pl-PL" b="0" dirty="0">
                <a:solidFill>
                  <a:srgbClr val="BBBBBB"/>
                </a:solidFill>
                <a:effectLst/>
                <a:latin typeface="Courier New" panose="02070309020205020404" pitchFamily="49" charset="0"/>
              </a:rPr>
              <a:t>)</a:t>
            </a:r>
          </a:p>
          <a:p>
            <a:r>
              <a:rPr lang="pl-PL" b="0" dirty="0">
                <a:solidFill>
                  <a:srgbClr val="BBBBBB"/>
                </a:solidFill>
                <a:effectLst/>
                <a:latin typeface="Courier New" panose="02070309020205020404" pitchFamily="49" charset="0"/>
              </a:rPr>
              <a:t>x </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 </a:t>
            </a:r>
            <a:r>
              <a:rPr lang="pl-PL" b="0" dirty="0">
                <a:solidFill>
                  <a:srgbClr val="36F9F6"/>
                </a:solidFill>
                <a:effectLst/>
                <a:latin typeface="Courier New" panose="02070309020205020404" pitchFamily="49" charset="0"/>
              </a:rPr>
              <a:t>Conv2D</a:t>
            </a:r>
            <a:r>
              <a:rPr lang="pl-PL" b="0" dirty="0">
                <a:solidFill>
                  <a:srgbClr val="BBBBBB"/>
                </a:solidFill>
                <a:effectLst/>
                <a:latin typeface="Courier New" panose="02070309020205020404" pitchFamily="49" charset="0"/>
              </a:rPr>
              <a:t>(</a:t>
            </a:r>
            <a:r>
              <a:rPr lang="pl-PL" b="0" dirty="0">
                <a:solidFill>
                  <a:srgbClr val="F97E72"/>
                </a:solidFill>
                <a:effectLst/>
                <a:latin typeface="Courier New" panose="02070309020205020404" pitchFamily="49" charset="0"/>
              </a:rPr>
              <a:t>32</a:t>
            </a:r>
            <a:r>
              <a:rPr lang="pl-PL" b="0" dirty="0">
                <a:solidFill>
                  <a:srgbClr val="BBBBBB"/>
                </a:solidFill>
                <a:effectLst/>
                <a:latin typeface="Courier New" panose="02070309020205020404" pitchFamily="49" charset="0"/>
              </a:rPr>
              <a:t>, </a:t>
            </a:r>
            <a:r>
              <a:rPr lang="pl-PL" b="0" dirty="0" err="1">
                <a:solidFill>
                  <a:srgbClr val="BBBBBB"/>
                </a:solidFill>
                <a:effectLst/>
                <a:latin typeface="Courier New" panose="02070309020205020404" pitchFamily="49" charset="0"/>
              </a:rPr>
              <a:t>kernel_size</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a:t>
            </a:r>
            <a:r>
              <a:rPr lang="pl-PL" b="0" dirty="0">
                <a:solidFill>
                  <a:srgbClr val="F97E72"/>
                </a:solidFill>
                <a:effectLst/>
                <a:latin typeface="Courier New" panose="02070309020205020404" pitchFamily="49" charset="0"/>
              </a:rPr>
              <a:t>3</a:t>
            </a:r>
            <a:r>
              <a:rPr lang="pl-PL" b="0" dirty="0">
                <a:solidFill>
                  <a:srgbClr val="BBBBBB"/>
                </a:solidFill>
                <a:effectLst/>
                <a:latin typeface="Courier New" panose="02070309020205020404" pitchFamily="49" charset="0"/>
              </a:rPr>
              <a:t>, </a:t>
            </a:r>
            <a:r>
              <a:rPr lang="pl-PL" b="0" dirty="0">
                <a:solidFill>
                  <a:srgbClr val="F97E72"/>
                </a:solidFill>
                <a:effectLst/>
                <a:latin typeface="Courier New" panose="02070309020205020404" pitchFamily="49" charset="0"/>
              </a:rPr>
              <a:t>3</a:t>
            </a:r>
            <a:r>
              <a:rPr lang="pl-PL" b="0" dirty="0">
                <a:solidFill>
                  <a:srgbClr val="BBBBBB"/>
                </a:solidFill>
                <a:effectLst/>
                <a:latin typeface="Courier New" panose="02070309020205020404" pitchFamily="49" charset="0"/>
              </a:rPr>
              <a:t>), </a:t>
            </a:r>
            <a:r>
              <a:rPr lang="pl-PL" b="0" dirty="0" err="1">
                <a:solidFill>
                  <a:srgbClr val="BBBBBB"/>
                </a:solidFill>
                <a:effectLst/>
                <a:latin typeface="Courier New" panose="02070309020205020404" pitchFamily="49" charset="0"/>
              </a:rPr>
              <a:t>padding</a:t>
            </a:r>
            <a:r>
              <a:rPr lang="pl-PL" b="0" dirty="0">
                <a:solidFill>
                  <a:srgbClr val="FFFFFF"/>
                </a:solidFill>
                <a:effectLst/>
                <a:latin typeface="Courier New" panose="02070309020205020404" pitchFamily="49" charset="0"/>
              </a:rPr>
              <a:t>=</a:t>
            </a:r>
            <a:r>
              <a:rPr lang="pl-PL" b="0" dirty="0">
                <a:solidFill>
                  <a:srgbClr val="DD5500"/>
                </a:solidFill>
                <a:effectLst/>
                <a:latin typeface="Courier New" panose="02070309020205020404" pitchFamily="49" charset="0"/>
              </a:rPr>
              <a:t>'</a:t>
            </a:r>
            <a:r>
              <a:rPr lang="pl-PL" b="0" dirty="0">
                <a:solidFill>
                  <a:srgbClr val="FF8B39"/>
                </a:solidFill>
                <a:effectLst/>
                <a:latin typeface="Courier New" panose="02070309020205020404" pitchFamily="49" charset="0"/>
              </a:rPr>
              <a:t>same</a:t>
            </a:r>
            <a:r>
              <a:rPr lang="pl-PL" b="0" dirty="0">
                <a:solidFill>
                  <a:srgbClr val="DD5500"/>
                </a:solidFill>
                <a:effectLst/>
                <a:latin typeface="Courier New" panose="02070309020205020404" pitchFamily="49" charset="0"/>
              </a:rPr>
              <a:t>'</a:t>
            </a:r>
            <a:r>
              <a:rPr lang="pl-PL" b="0" dirty="0">
                <a:solidFill>
                  <a:srgbClr val="BBBBBB"/>
                </a:solidFill>
                <a:effectLst/>
                <a:latin typeface="Courier New" panose="02070309020205020404" pitchFamily="49" charset="0"/>
              </a:rPr>
              <a:t>,</a:t>
            </a:r>
            <a:r>
              <a:rPr lang="pl-PL" b="0" dirty="0" err="1">
                <a:solidFill>
                  <a:srgbClr val="BBBBBB"/>
                </a:solidFill>
                <a:effectLst/>
                <a:latin typeface="Courier New" panose="02070309020205020404" pitchFamily="49" charset="0"/>
              </a:rPr>
              <a:t>activation</a:t>
            </a:r>
            <a:r>
              <a:rPr lang="pl-PL" b="0" dirty="0">
                <a:solidFill>
                  <a:srgbClr val="FFFFFF"/>
                </a:solidFill>
                <a:effectLst/>
                <a:latin typeface="Courier New" panose="02070309020205020404" pitchFamily="49" charset="0"/>
              </a:rPr>
              <a:t>=</a:t>
            </a:r>
            <a:r>
              <a:rPr lang="pl-PL" b="0" dirty="0">
                <a:solidFill>
                  <a:srgbClr val="DD5500"/>
                </a:solidFill>
                <a:effectLst/>
                <a:latin typeface="Courier New" panose="02070309020205020404" pitchFamily="49" charset="0"/>
              </a:rPr>
              <a:t>'</a:t>
            </a:r>
            <a:r>
              <a:rPr lang="pl-PL" b="0" dirty="0" err="1">
                <a:solidFill>
                  <a:srgbClr val="FF8B39"/>
                </a:solidFill>
                <a:effectLst/>
                <a:latin typeface="Courier New" panose="02070309020205020404" pitchFamily="49" charset="0"/>
              </a:rPr>
              <a:t>relu</a:t>
            </a:r>
            <a:r>
              <a:rPr lang="pl-PL" b="0" dirty="0">
                <a:solidFill>
                  <a:srgbClr val="DD5500"/>
                </a:solidFill>
                <a:effectLst/>
                <a:latin typeface="Courier New" panose="02070309020205020404" pitchFamily="49" charset="0"/>
              </a:rPr>
              <a:t>'</a:t>
            </a:r>
            <a:r>
              <a:rPr lang="pl-PL" b="0" dirty="0">
                <a:solidFill>
                  <a:srgbClr val="BBBBBB"/>
                </a:solidFill>
                <a:effectLst/>
                <a:latin typeface="Courier New" panose="02070309020205020404" pitchFamily="49" charset="0"/>
              </a:rPr>
              <a:t>)(x)</a:t>
            </a:r>
          </a:p>
          <a:p>
            <a:r>
              <a:rPr lang="pl-PL" b="0" dirty="0">
                <a:solidFill>
                  <a:srgbClr val="BBBBBB"/>
                </a:solidFill>
                <a:effectLst/>
                <a:latin typeface="Courier New" panose="02070309020205020404" pitchFamily="49" charset="0"/>
              </a:rPr>
              <a:t>x </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 </a:t>
            </a:r>
            <a:r>
              <a:rPr lang="pl-PL" b="0" dirty="0">
                <a:solidFill>
                  <a:srgbClr val="36F9F6"/>
                </a:solidFill>
                <a:effectLst/>
                <a:latin typeface="Courier New" panose="02070309020205020404" pitchFamily="49" charset="0"/>
              </a:rPr>
              <a:t>MaxPooling2D</a:t>
            </a:r>
            <a:r>
              <a:rPr lang="pl-PL" b="0" dirty="0">
                <a:solidFill>
                  <a:srgbClr val="BBBBBB"/>
                </a:solidFill>
                <a:effectLst/>
                <a:latin typeface="Courier New" panose="02070309020205020404" pitchFamily="49" charset="0"/>
              </a:rPr>
              <a:t>(</a:t>
            </a:r>
            <a:r>
              <a:rPr lang="pl-PL" b="0" dirty="0" err="1">
                <a:solidFill>
                  <a:srgbClr val="BBBBBB"/>
                </a:solidFill>
                <a:effectLst/>
                <a:latin typeface="Courier New" panose="02070309020205020404" pitchFamily="49" charset="0"/>
              </a:rPr>
              <a:t>pool_size</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a:t>
            </a:r>
            <a:r>
              <a:rPr lang="pl-PL" b="0" dirty="0">
                <a:solidFill>
                  <a:srgbClr val="F97E72"/>
                </a:solidFill>
                <a:effectLst/>
                <a:latin typeface="Courier New" panose="02070309020205020404" pitchFamily="49" charset="0"/>
              </a:rPr>
              <a:t>2</a:t>
            </a:r>
            <a:r>
              <a:rPr lang="pl-PL" b="0" dirty="0">
                <a:solidFill>
                  <a:srgbClr val="BBBBBB"/>
                </a:solidFill>
                <a:effectLst/>
                <a:latin typeface="Courier New" panose="02070309020205020404" pitchFamily="49" charset="0"/>
              </a:rPr>
              <a:t>, </a:t>
            </a:r>
            <a:r>
              <a:rPr lang="pl-PL" b="0" dirty="0">
                <a:solidFill>
                  <a:srgbClr val="F97E72"/>
                </a:solidFill>
                <a:effectLst/>
                <a:latin typeface="Courier New" panose="02070309020205020404" pitchFamily="49" charset="0"/>
              </a:rPr>
              <a:t>2</a:t>
            </a:r>
            <a:r>
              <a:rPr lang="pl-PL" b="0" dirty="0">
                <a:solidFill>
                  <a:srgbClr val="BBBBBB"/>
                </a:solidFill>
                <a:effectLst/>
                <a:latin typeface="Courier New" panose="02070309020205020404" pitchFamily="49" charset="0"/>
              </a:rPr>
              <a:t>))(x)</a:t>
            </a:r>
          </a:p>
          <a:p>
            <a:r>
              <a:rPr lang="pl-PL" b="0" dirty="0">
                <a:solidFill>
                  <a:srgbClr val="BBBBBB"/>
                </a:solidFill>
                <a:effectLst/>
                <a:latin typeface="Courier New" panose="02070309020205020404" pitchFamily="49" charset="0"/>
              </a:rPr>
              <a:t>x </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 </a:t>
            </a:r>
            <a:r>
              <a:rPr lang="pl-PL" b="1" dirty="0" err="1">
                <a:solidFill>
                  <a:srgbClr val="36F9F6"/>
                </a:solidFill>
                <a:effectLst/>
                <a:latin typeface="Courier New" panose="02070309020205020404" pitchFamily="49" charset="0"/>
              </a:rPr>
              <a:t>Dropout</a:t>
            </a:r>
            <a:r>
              <a:rPr lang="pl-PL" b="0" dirty="0">
                <a:solidFill>
                  <a:srgbClr val="BBBBBB"/>
                </a:solidFill>
                <a:effectLst/>
                <a:latin typeface="Courier New" panose="02070309020205020404" pitchFamily="49" charset="0"/>
              </a:rPr>
              <a:t>(</a:t>
            </a:r>
            <a:r>
              <a:rPr lang="pl-PL" b="0" dirty="0">
                <a:solidFill>
                  <a:srgbClr val="F97E72"/>
                </a:solidFill>
                <a:effectLst/>
                <a:latin typeface="Courier New" panose="02070309020205020404" pitchFamily="49" charset="0"/>
              </a:rPr>
              <a:t>0.5</a:t>
            </a:r>
            <a:r>
              <a:rPr lang="pl-PL" b="0" dirty="0">
                <a:solidFill>
                  <a:srgbClr val="BBBBBB"/>
                </a:solidFill>
                <a:effectLst/>
                <a:latin typeface="Courier New" panose="02070309020205020404" pitchFamily="49" charset="0"/>
              </a:rPr>
              <a:t>)(x)</a:t>
            </a:r>
          </a:p>
          <a:p>
            <a:r>
              <a:rPr lang="pl-PL" b="0" dirty="0">
                <a:solidFill>
                  <a:srgbClr val="BBBBBB"/>
                </a:solidFill>
                <a:effectLst/>
                <a:latin typeface="Courier New" panose="02070309020205020404" pitchFamily="49" charset="0"/>
              </a:rPr>
              <a:t>x </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 </a:t>
            </a:r>
            <a:r>
              <a:rPr lang="pl-PL" b="0" dirty="0" err="1">
                <a:solidFill>
                  <a:srgbClr val="36F9F6"/>
                </a:solidFill>
                <a:effectLst/>
                <a:latin typeface="Courier New" panose="02070309020205020404" pitchFamily="49" charset="0"/>
              </a:rPr>
              <a:t>Flatten</a:t>
            </a:r>
            <a:r>
              <a:rPr lang="pl-PL" b="0" dirty="0">
                <a:solidFill>
                  <a:srgbClr val="BBBBBB"/>
                </a:solidFill>
                <a:effectLst/>
                <a:latin typeface="Courier New" panose="02070309020205020404" pitchFamily="49" charset="0"/>
              </a:rPr>
              <a:t>()(x)</a:t>
            </a:r>
          </a:p>
          <a:p>
            <a:r>
              <a:rPr lang="pl-PL" b="0" dirty="0">
                <a:solidFill>
                  <a:srgbClr val="BBBBBB"/>
                </a:solidFill>
                <a:effectLst/>
                <a:latin typeface="Courier New" panose="02070309020205020404" pitchFamily="49" charset="0"/>
              </a:rPr>
              <a:t>x </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 </a:t>
            </a:r>
            <a:r>
              <a:rPr lang="pl-PL" b="0" dirty="0" err="1">
                <a:solidFill>
                  <a:srgbClr val="36F9F6"/>
                </a:solidFill>
                <a:effectLst/>
                <a:latin typeface="Courier New" panose="02070309020205020404" pitchFamily="49" charset="0"/>
              </a:rPr>
              <a:t>Dense</a:t>
            </a:r>
            <a:r>
              <a:rPr lang="pl-PL" b="0" dirty="0">
                <a:solidFill>
                  <a:srgbClr val="BBBBBB"/>
                </a:solidFill>
                <a:effectLst/>
                <a:latin typeface="Courier New" panose="02070309020205020404" pitchFamily="49" charset="0"/>
              </a:rPr>
              <a:t>(</a:t>
            </a:r>
            <a:r>
              <a:rPr lang="pl-PL" b="0" dirty="0">
                <a:solidFill>
                  <a:srgbClr val="F97E72"/>
                </a:solidFill>
                <a:effectLst/>
                <a:latin typeface="Courier New" panose="02070309020205020404" pitchFamily="49" charset="0"/>
              </a:rPr>
              <a:t>256</a:t>
            </a:r>
            <a:r>
              <a:rPr lang="pl-PL" b="0" dirty="0">
                <a:solidFill>
                  <a:srgbClr val="BBBBBB"/>
                </a:solidFill>
                <a:effectLst/>
                <a:latin typeface="Courier New" panose="02070309020205020404" pitchFamily="49" charset="0"/>
              </a:rPr>
              <a:t>, </a:t>
            </a:r>
            <a:r>
              <a:rPr lang="pl-PL" b="0" dirty="0" err="1">
                <a:solidFill>
                  <a:srgbClr val="BBBBBB"/>
                </a:solidFill>
                <a:effectLst/>
                <a:latin typeface="Courier New" panose="02070309020205020404" pitchFamily="49" charset="0"/>
              </a:rPr>
              <a:t>activation</a:t>
            </a:r>
            <a:r>
              <a:rPr lang="pl-PL" b="0" dirty="0">
                <a:solidFill>
                  <a:srgbClr val="FFFFFF"/>
                </a:solidFill>
                <a:effectLst/>
                <a:latin typeface="Courier New" panose="02070309020205020404" pitchFamily="49" charset="0"/>
              </a:rPr>
              <a:t>=</a:t>
            </a:r>
            <a:r>
              <a:rPr lang="pl-PL" b="0" dirty="0">
                <a:solidFill>
                  <a:srgbClr val="DD5500"/>
                </a:solidFill>
                <a:effectLst/>
                <a:latin typeface="Courier New" panose="02070309020205020404" pitchFamily="49" charset="0"/>
              </a:rPr>
              <a:t>'</a:t>
            </a:r>
            <a:r>
              <a:rPr lang="pl-PL" b="0" dirty="0" err="1">
                <a:solidFill>
                  <a:srgbClr val="FF8B39"/>
                </a:solidFill>
                <a:effectLst/>
                <a:latin typeface="Courier New" panose="02070309020205020404" pitchFamily="49" charset="0"/>
              </a:rPr>
              <a:t>relu</a:t>
            </a:r>
            <a:r>
              <a:rPr lang="pl-PL" b="0" dirty="0">
                <a:solidFill>
                  <a:srgbClr val="DD5500"/>
                </a:solidFill>
                <a:effectLst/>
                <a:latin typeface="Courier New" panose="02070309020205020404" pitchFamily="49" charset="0"/>
              </a:rPr>
              <a:t>'</a:t>
            </a:r>
            <a:r>
              <a:rPr lang="pl-PL" b="0" dirty="0">
                <a:solidFill>
                  <a:srgbClr val="BBBBBB"/>
                </a:solidFill>
                <a:effectLst/>
                <a:latin typeface="Courier New" panose="02070309020205020404" pitchFamily="49" charset="0"/>
              </a:rPr>
              <a:t>)(x)</a:t>
            </a:r>
            <a:endParaRPr lang="pl-PL" i="1" dirty="0">
              <a:solidFill>
                <a:srgbClr val="495495"/>
              </a:solidFill>
              <a:latin typeface="Courier New" panose="02070309020205020404" pitchFamily="49" charset="0"/>
            </a:endParaRPr>
          </a:p>
          <a:p>
            <a:r>
              <a:rPr lang="pl-PL" b="0" dirty="0">
                <a:solidFill>
                  <a:srgbClr val="BBBBBB"/>
                </a:solidFill>
                <a:effectLst/>
                <a:latin typeface="Courier New" panose="02070309020205020404" pitchFamily="49" charset="0"/>
              </a:rPr>
              <a:t>x </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 </a:t>
            </a:r>
            <a:r>
              <a:rPr lang="pl-PL" b="1" dirty="0" err="1">
                <a:solidFill>
                  <a:srgbClr val="36F9F6"/>
                </a:solidFill>
                <a:effectLst/>
                <a:latin typeface="Courier New" panose="02070309020205020404" pitchFamily="49" charset="0"/>
              </a:rPr>
              <a:t>Dropout</a:t>
            </a:r>
            <a:r>
              <a:rPr lang="pl-PL" b="0" dirty="0">
                <a:solidFill>
                  <a:srgbClr val="BBBBBB"/>
                </a:solidFill>
                <a:effectLst/>
                <a:latin typeface="Courier New" panose="02070309020205020404" pitchFamily="49" charset="0"/>
              </a:rPr>
              <a:t>(</a:t>
            </a:r>
            <a:r>
              <a:rPr lang="pl-PL" b="0" dirty="0">
                <a:solidFill>
                  <a:srgbClr val="F97E72"/>
                </a:solidFill>
                <a:effectLst/>
                <a:latin typeface="Courier New" panose="02070309020205020404" pitchFamily="49" charset="0"/>
              </a:rPr>
              <a:t>0.25</a:t>
            </a:r>
            <a:r>
              <a:rPr lang="pl-PL" b="0" dirty="0">
                <a:solidFill>
                  <a:srgbClr val="BBBBBB"/>
                </a:solidFill>
                <a:effectLst/>
                <a:latin typeface="Courier New" panose="02070309020205020404" pitchFamily="49" charset="0"/>
              </a:rPr>
              <a:t>)(x)</a:t>
            </a:r>
          </a:p>
          <a:p>
            <a:r>
              <a:rPr lang="pl-PL" b="0" dirty="0" err="1">
                <a:solidFill>
                  <a:srgbClr val="BBBBBB"/>
                </a:solidFill>
                <a:effectLst/>
                <a:latin typeface="Courier New" panose="02070309020205020404" pitchFamily="49" charset="0"/>
              </a:rPr>
              <a:t>outputs</a:t>
            </a:r>
            <a:r>
              <a:rPr lang="pl-PL" b="0" dirty="0">
                <a:solidFill>
                  <a:srgbClr val="BBBBBB"/>
                </a:solidFill>
                <a:effectLst/>
                <a:latin typeface="Courier New" panose="02070309020205020404" pitchFamily="49" charset="0"/>
              </a:rPr>
              <a:t> </a:t>
            </a:r>
            <a:r>
              <a:rPr lang="pl-PL" b="0" dirty="0">
                <a:solidFill>
                  <a:srgbClr val="FFFFFF"/>
                </a:solidFill>
                <a:effectLst/>
                <a:latin typeface="Courier New" panose="02070309020205020404" pitchFamily="49" charset="0"/>
              </a:rPr>
              <a:t>=</a:t>
            </a:r>
            <a:r>
              <a:rPr lang="pl-PL" b="0" dirty="0">
                <a:solidFill>
                  <a:srgbClr val="BBBBBB"/>
                </a:solidFill>
                <a:effectLst/>
                <a:latin typeface="Courier New" panose="02070309020205020404" pitchFamily="49" charset="0"/>
              </a:rPr>
              <a:t> </a:t>
            </a:r>
            <a:r>
              <a:rPr lang="pl-PL" b="0" dirty="0" err="1">
                <a:solidFill>
                  <a:srgbClr val="36F9F6"/>
                </a:solidFill>
                <a:effectLst/>
                <a:latin typeface="Courier New" panose="02070309020205020404" pitchFamily="49" charset="0"/>
              </a:rPr>
              <a:t>Dense</a:t>
            </a:r>
            <a:r>
              <a:rPr lang="pl-PL" b="0" dirty="0">
                <a:solidFill>
                  <a:srgbClr val="BBBBBB"/>
                </a:solidFill>
                <a:effectLst/>
                <a:latin typeface="Courier New" panose="02070309020205020404" pitchFamily="49" charset="0"/>
              </a:rPr>
              <a:t>(</a:t>
            </a:r>
            <a:r>
              <a:rPr lang="pl-PL" b="0" dirty="0" err="1">
                <a:solidFill>
                  <a:srgbClr val="BBBBBB"/>
                </a:solidFill>
                <a:effectLst/>
                <a:latin typeface="Courier New" panose="02070309020205020404" pitchFamily="49" charset="0"/>
              </a:rPr>
              <a:t>num_classes</a:t>
            </a:r>
            <a:r>
              <a:rPr lang="pl-PL" b="0" dirty="0">
                <a:solidFill>
                  <a:srgbClr val="BBBBBB"/>
                </a:solidFill>
                <a:effectLst/>
                <a:latin typeface="Courier New" panose="02070309020205020404" pitchFamily="49" charset="0"/>
              </a:rPr>
              <a:t>, </a:t>
            </a:r>
            <a:r>
              <a:rPr lang="pl-PL" b="0" dirty="0" err="1">
                <a:solidFill>
                  <a:srgbClr val="BBBBBB"/>
                </a:solidFill>
                <a:effectLst/>
                <a:latin typeface="Courier New" panose="02070309020205020404" pitchFamily="49" charset="0"/>
              </a:rPr>
              <a:t>activation</a:t>
            </a:r>
            <a:r>
              <a:rPr lang="pl-PL" b="0" dirty="0">
                <a:solidFill>
                  <a:srgbClr val="FFFFFF"/>
                </a:solidFill>
                <a:effectLst/>
                <a:latin typeface="Courier New" panose="02070309020205020404" pitchFamily="49" charset="0"/>
              </a:rPr>
              <a:t>=</a:t>
            </a:r>
            <a:r>
              <a:rPr lang="pl-PL" b="0" dirty="0">
                <a:solidFill>
                  <a:srgbClr val="DD5500"/>
                </a:solidFill>
                <a:effectLst/>
                <a:latin typeface="Courier New" panose="02070309020205020404" pitchFamily="49" charset="0"/>
              </a:rPr>
              <a:t>'</a:t>
            </a:r>
            <a:r>
              <a:rPr lang="pl-PL" b="0" dirty="0" err="1">
                <a:solidFill>
                  <a:srgbClr val="FF8B39"/>
                </a:solidFill>
                <a:effectLst/>
                <a:latin typeface="Courier New" panose="02070309020205020404" pitchFamily="49" charset="0"/>
              </a:rPr>
              <a:t>softmax</a:t>
            </a:r>
            <a:r>
              <a:rPr lang="pl-PL" b="0" dirty="0">
                <a:solidFill>
                  <a:srgbClr val="DD5500"/>
                </a:solidFill>
                <a:effectLst/>
                <a:latin typeface="Courier New" panose="02070309020205020404" pitchFamily="49" charset="0"/>
              </a:rPr>
              <a:t>'</a:t>
            </a:r>
            <a:r>
              <a:rPr lang="pl-PL" b="0" dirty="0">
                <a:solidFill>
                  <a:srgbClr val="BBBBBB"/>
                </a:solidFill>
                <a:effectLst/>
                <a:latin typeface="Courier New" panose="02070309020205020404" pitchFamily="49" charset="0"/>
              </a:rPr>
              <a:t>)(x)</a:t>
            </a:r>
          </a:p>
        </p:txBody>
      </p:sp>
    </p:spTree>
    <p:extLst>
      <p:ext uri="{BB962C8B-B14F-4D97-AF65-F5344CB8AC3E}">
        <p14:creationId xmlns:p14="http://schemas.microsoft.com/office/powerpoint/2010/main" val="37266358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ytuł 4">
            <a:extLst>
              <a:ext uri="{FF2B5EF4-FFF2-40B4-BE49-F238E27FC236}">
                <a16:creationId xmlns:a16="http://schemas.microsoft.com/office/drawing/2014/main" id="{749658E0-488D-D737-61C2-9604F6D54FC1}"/>
              </a:ext>
            </a:extLst>
          </p:cNvPr>
          <p:cNvSpPr>
            <a:spLocks noGrp="1"/>
          </p:cNvSpPr>
          <p:nvPr>
            <p:ph type="title"/>
          </p:nvPr>
        </p:nvSpPr>
        <p:spPr>
          <a:xfrm>
            <a:off x="0" y="1"/>
            <a:ext cx="12192000" cy="655236"/>
          </a:xfrm>
        </p:spPr>
        <p:txBody>
          <a:bodyPr>
            <a:noAutofit/>
          </a:bodyPr>
          <a:lstStyle/>
          <a:p>
            <a:pPr algn="ctr"/>
            <a:r>
              <a:rPr lang="pl-PL" sz="3200" dirty="0" err="1"/>
              <a:t>Dropout</a:t>
            </a:r>
            <a:r>
              <a:rPr lang="pl-PL" sz="3200" dirty="0"/>
              <a:t> </a:t>
            </a:r>
            <a:r>
              <a:rPr lang="pl-PL" sz="3200" dirty="0" err="1"/>
              <a:t>layer</a:t>
            </a:r>
            <a:endParaRPr lang="en-GB" sz="3200" dirty="0"/>
          </a:p>
        </p:txBody>
      </p:sp>
      <p:pic>
        <p:nvPicPr>
          <p:cNvPr id="1028" name="Picture 4" descr="Keras - Platforma Akceleracji i Oprogramowania Masywnie Równoległego">
            <a:extLst>
              <a:ext uri="{FF2B5EF4-FFF2-40B4-BE49-F238E27FC236}">
                <a16:creationId xmlns:a16="http://schemas.microsoft.com/office/drawing/2014/main" id="{10D85140-3E13-4FE1-7EB0-14C39EF5D4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792" y="5483861"/>
            <a:ext cx="4187244" cy="121430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Dropout in (Deep) Machine learning | by Amar Budhiraja | Medium">
            <a:extLst>
              <a:ext uri="{FF2B5EF4-FFF2-40B4-BE49-F238E27FC236}">
                <a16:creationId xmlns:a16="http://schemas.microsoft.com/office/drawing/2014/main" id="{3C6E58E0-27F2-DAC7-DC1E-9203B0D46B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125807"/>
            <a:ext cx="6262035" cy="3119022"/>
          </a:xfrm>
          <a:prstGeom prst="rect">
            <a:avLst/>
          </a:prstGeom>
          <a:noFill/>
          <a:extLst>
            <a:ext uri="{909E8E84-426E-40DD-AFC4-6F175D3DCCD1}">
              <a14:hiddenFill xmlns:a14="http://schemas.microsoft.com/office/drawing/2010/main">
                <a:solidFill>
                  <a:srgbClr val="FFFFFF"/>
                </a:solidFill>
              </a14:hiddenFill>
            </a:ext>
          </a:extLst>
        </p:spPr>
      </p:pic>
      <p:sp>
        <p:nvSpPr>
          <p:cNvPr id="4" name="pole tekstowe 3">
            <a:extLst>
              <a:ext uri="{FF2B5EF4-FFF2-40B4-BE49-F238E27FC236}">
                <a16:creationId xmlns:a16="http://schemas.microsoft.com/office/drawing/2014/main" id="{36D4851C-A151-194D-959B-61F3D9EF0845}"/>
              </a:ext>
            </a:extLst>
          </p:cNvPr>
          <p:cNvSpPr txBox="1"/>
          <p:nvPr/>
        </p:nvSpPr>
        <p:spPr>
          <a:xfrm>
            <a:off x="78351" y="470571"/>
            <a:ext cx="6094520" cy="369332"/>
          </a:xfrm>
          <a:prstGeom prst="rect">
            <a:avLst/>
          </a:prstGeom>
          <a:noFill/>
        </p:spPr>
        <p:txBody>
          <a:bodyPr wrap="square">
            <a:spAutoFit/>
          </a:bodyPr>
          <a:lstStyle/>
          <a:p>
            <a:r>
              <a:rPr lang="en-GB" dirty="0">
                <a:solidFill>
                  <a:schemeClr val="accent1">
                    <a:lumMod val="60000"/>
                    <a:lumOff val="40000"/>
                  </a:schemeClr>
                </a:solidFill>
              </a:rPr>
              <a:t>https://keras.io/api/layers/regularization_layers/dropout/</a:t>
            </a:r>
          </a:p>
        </p:txBody>
      </p:sp>
      <p:sp>
        <p:nvSpPr>
          <p:cNvPr id="9" name="pole tekstowe 8">
            <a:extLst>
              <a:ext uri="{FF2B5EF4-FFF2-40B4-BE49-F238E27FC236}">
                <a16:creationId xmlns:a16="http://schemas.microsoft.com/office/drawing/2014/main" id="{CD4ACD9C-1908-0045-7366-85CF9A5F766F}"/>
              </a:ext>
            </a:extLst>
          </p:cNvPr>
          <p:cNvSpPr txBox="1"/>
          <p:nvPr/>
        </p:nvSpPr>
        <p:spPr>
          <a:xfrm>
            <a:off x="6251222" y="655237"/>
            <a:ext cx="5740985" cy="5539978"/>
          </a:xfrm>
          <a:prstGeom prst="rect">
            <a:avLst/>
          </a:prstGeom>
          <a:noFill/>
        </p:spPr>
        <p:txBody>
          <a:bodyPr wrap="square">
            <a:spAutoFit/>
          </a:bodyPr>
          <a:lstStyle/>
          <a:p>
            <a:pPr algn="just">
              <a:spcBef>
                <a:spcPts val="600"/>
              </a:spcBef>
              <a:spcAft>
                <a:spcPts val="600"/>
              </a:spcAft>
            </a:pPr>
            <a:r>
              <a:rPr lang="en-GB" b="1" i="0" dirty="0">
                <a:solidFill>
                  <a:srgbClr val="0D0D0D"/>
                </a:solidFill>
                <a:effectLst/>
                <a:highlight>
                  <a:srgbClr val="FFFFFF"/>
                </a:highlight>
                <a:latin typeface="Söhne"/>
              </a:rPr>
              <a:t>Dropout layer prevents overfitting by randomly deactivating certain neurons during training</a:t>
            </a:r>
            <a:r>
              <a:rPr lang="en-GB" b="0" i="0" dirty="0">
                <a:solidFill>
                  <a:srgbClr val="0D0D0D"/>
                </a:solidFill>
                <a:effectLst/>
                <a:highlight>
                  <a:srgbClr val="FFFFFF"/>
                </a:highlight>
                <a:latin typeface="Söhne"/>
              </a:rPr>
              <a:t>.</a:t>
            </a:r>
          </a:p>
          <a:p>
            <a:pPr marL="285750" indent="-285750" algn="just">
              <a:spcBef>
                <a:spcPts val="600"/>
              </a:spcBef>
              <a:spcAft>
                <a:spcPts val="600"/>
              </a:spcAft>
              <a:buFont typeface="Wingdings" panose="05000000000000000000" pitchFamily="2" charset="2"/>
              <a:buChar char="ü"/>
            </a:pPr>
            <a:r>
              <a:rPr lang="en-GB" b="1" i="0" dirty="0">
                <a:solidFill>
                  <a:srgbClr val="0D0D0D"/>
                </a:solidFill>
                <a:effectLst/>
                <a:highlight>
                  <a:srgbClr val="FFFFFF"/>
                </a:highlight>
                <a:latin typeface="Söhne"/>
              </a:rPr>
              <a:t>Random neuron deactivation: </a:t>
            </a:r>
            <a:r>
              <a:rPr lang="en-GB" b="0" i="0" dirty="0">
                <a:solidFill>
                  <a:srgbClr val="0D0D0D"/>
                </a:solidFill>
                <a:effectLst/>
                <a:highlight>
                  <a:srgbClr val="FFFFFF"/>
                </a:highlight>
                <a:latin typeface="Söhne"/>
              </a:rPr>
              <a:t>During training, in each iteration, a certain number of neurons in the layer are randomly selected and deactivated (set to 0). This means their output is not passed to the next layers. This action is performed for each training sample and in each training epoch. Inputs that are not set to 0 are scaled up by 1 / (1 - rate), ensuring that the sum of all inputs remains unchanged.</a:t>
            </a:r>
          </a:p>
          <a:p>
            <a:pPr marL="285750" indent="-285750" algn="just">
              <a:spcBef>
                <a:spcPts val="600"/>
              </a:spcBef>
              <a:spcAft>
                <a:spcPts val="600"/>
              </a:spcAft>
              <a:buFont typeface="Wingdings" panose="05000000000000000000" pitchFamily="2" charset="2"/>
              <a:buChar char="ü"/>
            </a:pPr>
            <a:r>
              <a:rPr lang="en-GB" b="1" i="0" dirty="0">
                <a:solidFill>
                  <a:srgbClr val="0D0D0D"/>
                </a:solidFill>
                <a:effectLst/>
                <a:highlight>
                  <a:srgbClr val="FFFFFF"/>
                </a:highlight>
                <a:latin typeface="Söhne"/>
              </a:rPr>
              <a:t>Reducing interdependence between neurons: </a:t>
            </a:r>
            <a:r>
              <a:rPr lang="en-GB" b="0" i="0" dirty="0">
                <a:solidFill>
                  <a:srgbClr val="0D0D0D"/>
                </a:solidFill>
                <a:effectLst/>
                <a:highlight>
                  <a:srgbClr val="FFFFFF"/>
                </a:highlight>
                <a:latin typeface="Söhne"/>
              </a:rPr>
              <a:t>Deactivating random neurons forces the remaining neurons to function without their assistance, which can lead to better generalization.</a:t>
            </a:r>
          </a:p>
          <a:p>
            <a:pPr marL="285750" indent="-285750" algn="just">
              <a:spcBef>
                <a:spcPts val="600"/>
              </a:spcBef>
              <a:spcAft>
                <a:spcPts val="600"/>
              </a:spcAft>
              <a:buFont typeface="Wingdings" panose="05000000000000000000" pitchFamily="2" charset="2"/>
              <a:buChar char="ü"/>
            </a:pPr>
            <a:r>
              <a:rPr lang="en-GB" b="1" i="0" dirty="0">
                <a:solidFill>
                  <a:srgbClr val="0D0D0D"/>
                </a:solidFill>
                <a:effectLst/>
                <a:highlight>
                  <a:srgbClr val="FFFFFF"/>
                </a:highlight>
                <a:latin typeface="Söhne"/>
              </a:rPr>
              <a:t>Application only during training: </a:t>
            </a:r>
            <a:r>
              <a:rPr lang="en-GB" b="0" i="0" dirty="0">
                <a:solidFill>
                  <a:srgbClr val="0D0D0D"/>
                </a:solidFill>
                <a:effectLst/>
                <a:highlight>
                  <a:srgbClr val="FFFFFF"/>
                </a:highlight>
                <a:latin typeface="Söhne"/>
              </a:rPr>
              <a:t>The Dropout layer is applied only during training. During testing or model evaluation, all neurons are activated, and their outputs are normalized.</a:t>
            </a:r>
            <a:endParaRPr lang="pl-PL" b="0" i="0" dirty="0">
              <a:solidFill>
                <a:srgbClr val="0D0D0D"/>
              </a:solidFill>
              <a:effectLst/>
              <a:highlight>
                <a:srgbClr val="FFFFFF"/>
              </a:highlight>
              <a:latin typeface="Söhne"/>
            </a:endParaRPr>
          </a:p>
        </p:txBody>
      </p:sp>
    </p:spTree>
    <p:extLst>
      <p:ext uri="{BB962C8B-B14F-4D97-AF65-F5344CB8AC3E}">
        <p14:creationId xmlns:p14="http://schemas.microsoft.com/office/powerpoint/2010/main" val="31620648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575077B-3D8C-6E1C-0A45-C33B0935EE05}"/>
              </a:ext>
            </a:extLst>
          </p:cNvPr>
          <p:cNvSpPr>
            <a:spLocks noGrp="1"/>
          </p:cNvSpPr>
          <p:nvPr>
            <p:ph type="title"/>
          </p:nvPr>
        </p:nvSpPr>
        <p:spPr>
          <a:xfrm>
            <a:off x="838200" y="-9947"/>
            <a:ext cx="10515600" cy="840371"/>
          </a:xfrm>
        </p:spPr>
        <p:txBody>
          <a:bodyPr/>
          <a:lstStyle/>
          <a:p>
            <a:r>
              <a:rPr lang="pl-PL" dirty="0"/>
              <a:t>Project 4 (14 </a:t>
            </a:r>
            <a:r>
              <a:rPr lang="pl-PL" dirty="0" err="1"/>
              <a:t>points</a:t>
            </a:r>
            <a:r>
              <a:rPr lang="pl-PL" dirty="0"/>
              <a:t>)</a:t>
            </a:r>
            <a:endParaRPr lang="en-GB" dirty="0"/>
          </a:p>
        </p:txBody>
      </p:sp>
      <p:sp>
        <p:nvSpPr>
          <p:cNvPr id="3" name="Symbol zastępczy zawartości 2">
            <a:extLst>
              <a:ext uri="{FF2B5EF4-FFF2-40B4-BE49-F238E27FC236}">
                <a16:creationId xmlns:a16="http://schemas.microsoft.com/office/drawing/2014/main" id="{478300B1-4E02-E2D8-36CF-651461306B72}"/>
              </a:ext>
            </a:extLst>
          </p:cNvPr>
          <p:cNvSpPr>
            <a:spLocks noGrp="1"/>
          </p:cNvSpPr>
          <p:nvPr>
            <p:ph idx="1"/>
          </p:nvPr>
        </p:nvSpPr>
        <p:spPr>
          <a:xfrm>
            <a:off x="2618914" y="1119657"/>
            <a:ext cx="9126244" cy="5738341"/>
          </a:xfrm>
        </p:spPr>
        <p:txBody>
          <a:bodyPr>
            <a:normAutofit fontScale="85000" lnSpcReduction="20000"/>
          </a:bodyPr>
          <a:lstStyle/>
          <a:p>
            <a:pPr marL="0" indent="0" algn="l">
              <a:buNone/>
            </a:pPr>
            <a:r>
              <a:rPr lang="en-GB" b="0" i="0" dirty="0">
                <a:solidFill>
                  <a:srgbClr val="0D0D0D"/>
                </a:solidFill>
                <a:effectLst/>
                <a:highlight>
                  <a:srgbClr val="FFFFFF"/>
                </a:highlight>
                <a:latin typeface="Söhne"/>
              </a:rPr>
              <a:t>Your task is to implement and test a neural network model for classifying the CIFAR-10 dataset.</a:t>
            </a:r>
          </a:p>
          <a:p>
            <a:pPr marL="0" indent="0" algn="l">
              <a:buNone/>
            </a:pPr>
            <a:r>
              <a:rPr lang="en-GB" b="0" i="0" dirty="0">
                <a:solidFill>
                  <a:srgbClr val="0D0D0D"/>
                </a:solidFill>
                <a:effectLst/>
                <a:highlight>
                  <a:srgbClr val="FFFFFF"/>
                </a:highlight>
                <a:latin typeface="Söhne"/>
              </a:rPr>
              <a:t>CIFAR-10 is a popular dataset containing 60,000 </a:t>
            </a:r>
            <a:r>
              <a:rPr lang="en-GB" b="0" i="0" dirty="0" err="1">
                <a:solidFill>
                  <a:srgbClr val="0D0D0D"/>
                </a:solidFill>
                <a:effectLst/>
                <a:highlight>
                  <a:srgbClr val="FFFFFF"/>
                </a:highlight>
                <a:latin typeface="Söhne"/>
              </a:rPr>
              <a:t>color</a:t>
            </a:r>
            <a:r>
              <a:rPr lang="en-GB" b="0" i="0" dirty="0">
                <a:solidFill>
                  <a:srgbClr val="0D0D0D"/>
                </a:solidFill>
                <a:effectLst/>
                <a:highlight>
                  <a:srgbClr val="FFFFFF"/>
                </a:highlight>
                <a:latin typeface="Söhne"/>
              </a:rPr>
              <a:t> images of 32x32 pixels, divided into 10 classes. Each class represents different objects, such as cars, dogs, ships, etc.</a:t>
            </a:r>
          </a:p>
          <a:p>
            <a:pPr marL="0" indent="0" algn="l">
              <a:buNone/>
            </a:pPr>
            <a:r>
              <a:rPr lang="en-GB" b="0" i="0" dirty="0">
                <a:solidFill>
                  <a:srgbClr val="0D0D0D"/>
                </a:solidFill>
                <a:effectLst/>
                <a:highlight>
                  <a:srgbClr val="FFFFFF"/>
                </a:highlight>
                <a:latin typeface="Söhne"/>
              </a:rPr>
              <a:t>Suggested layers to use: Conv2D, Dropout, Dense, MaxPooling2D, Flatten.</a:t>
            </a:r>
          </a:p>
          <a:p>
            <a:pPr marL="0" indent="0" algn="l">
              <a:buNone/>
            </a:pPr>
            <a:r>
              <a:rPr lang="en-GB" b="0" i="0" dirty="0">
                <a:solidFill>
                  <a:srgbClr val="0D0D0D"/>
                </a:solidFill>
                <a:effectLst/>
                <a:highlight>
                  <a:srgbClr val="FFFFFF"/>
                </a:highlight>
                <a:latin typeface="Söhne"/>
              </a:rPr>
              <a:t>Note: If the number of layers exceeds 10, add a </a:t>
            </a:r>
            <a:r>
              <a:rPr lang="en-GB" b="0" i="0" dirty="0" err="1">
                <a:solidFill>
                  <a:srgbClr val="0D0D0D"/>
                </a:solidFill>
                <a:effectLst/>
                <a:highlight>
                  <a:srgbClr val="FFFFFF"/>
                </a:highlight>
                <a:latin typeface="Söhne"/>
              </a:rPr>
              <a:t>kernel_initializer</a:t>
            </a:r>
            <a:r>
              <a:rPr lang="en-GB" b="0" i="0" dirty="0">
                <a:solidFill>
                  <a:srgbClr val="0D0D0D"/>
                </a:solidFill>
                <a:effectLst/>
                <a:highlight>
                  <a:srgbClr val="FFFFFF"/>
                </a:highlight>
                <a:latin typeface="Söhne"/>
              </a:rPr>
              <a:t> to improve the CNN's performance and prevent the vanishing gradient problem.</a:t>
            </a:r>
          </a:p>
          <a:p>
            <a:pPr marL="0" indent="0" algn="l">
              <a:buNone/>
            </a:pPr>
            <a:r>
              <a:rPr lang="en-GB" b="0" i="0" dirty="0">
                <a:solidFill>
                  <a:srgbClr val="0D0D0D"/>
                </a:solidFill>
                <a:effectLst/>
                <a:highlight>
                  <a:srgbClr val="FFFFFF"/>
                </a:highlight>
                <a:latin typeface="Söhne"/>
              </a:rPr>
              <a:t>The results of the network should be presented in a report including:</a:t>
            </a:r>
          </a:p>
          <a:p>
            <a:pPr algn="l">
              <a:buFont typeface="Arial" panose="020B0604020202020204" pitchFamily="34" charset="0"/>
              <a:buChar char="•"/>
            </a:pPr>
            <a:r>
              <a:rPr lang="en-GB" b="0" i="0" dirty="0">
                <a:solidFill>
                  <a:srgbClr val="0D0D0D"/>
                </a:solidFill>
                <a:effectLst/>
                <a:highlight>
                  <a:srgbClr val="FFFFFF"/>
                </a:highlight>
                <a:latin typeface="Söhne"/>
              </a:rPr>
              <a:t>Network visualization</a:t>
            </a:r>
          </a:p>
          <a:p>
            <a:pPr algn="l">
              <a:buFont typeface="Arial" panose="020B0604020202020204" pitchFamily="34" charset="0"/>
              <a:buChar char="•"/>
            </a:pPr>
            <a:r>
              <a:rPr lang="en-GB" b="0" i="0" dirty="0">
                <a:solidFill>
                  <a:srgbClr val="0D0D0D"/>
                </a:solidFill>
                <a:effectLst/>
                <a:highlight>
                  <a:srgbClr val="FFFFFF"/>
                </a:highlight>
                <a:latin typeface="Söhne"/>
              </a:rPr>
              <a:t>Export the network as .</a:t>
            </a:r>
            <a:r>
              <a:rPr lang="en-GB" b="0" i="0" dirty="0" err="1">
                <a:solidFill>
                  <a:srgbClr val="0D0D0D"/>
                </a:solidFill>
                <a:effectLst/>
                <a:highlight>
                  <a:srgbClr val="FFFFFF"/>
                </a:highlight>
                <a:latin typeface="Söhne"/>
              </a:rPr>
              <a:t>keras</a:t>
            </a:r>
            <a:endParaRPr lang="en-GB" b="0" i="0" dirty="0">
              <a:solidFill>
                <a:srgbClr val="0D0D0D"/>
              </a:solidFill>
              <a:effectLst/>
              <a:highlight>
                <a:srgbClr val="FFFFFF"/>
              </a:highlight>
              <a:latin typeface="Söhne"/>
            </a:endParaRPr>
          </a:p>
          <a:p>
            <a:pPr algn="l">
              <a:buFont typeface="Arial" panose="020B0604020202020204" pitchFamily="34" charset="0"/>
              <a:buChar char="•"/>
            </a:pPr>
            <a:r>
              <a:rPr lang="en-GB" b="0" i="0" dirty="0">
                <a:solidFill>
                  <a:srgbClr val="0D0D0D"/>
                </a:solidFill>
                <a:effectLst/>
                <a:highlight>
                  <a:srgbClr val="FFFFFF"/>
                </a:highlight>
                <a:latin typeface="Söhne"/>
              </a:rPr>
              <a:t>Confusion Matrix</a:t>
            </a:r>
          </a:p>
          <a:p>
            <a:pPr algn="l">
              <a:buFont typeface="Arial" panose="020B0604020202020204" pitchFamily="34" charset="0"/>
              <a:buChar char="•"/>
            </a:pPr>
            <a:r>
              <a:rPr lang="en-GB" b="0" i="0" dirty="0">
                <a:solidFill>
                  <a:srgbClr val="0D0D0D"/>
                </a:solidFill>
                <a:effectLst/>
                <a:highlight>
                  <a:srgbClr val="FFFFFF"/>
                </a:highlight>
                <a:latin typeface="Söhne"/>
              </a:rPr>
              <a:t>Training history plot</a:t>
            </a:r>
          </a:p>
          <a:p>
            <a:pPr algn="l">
              <a:buFont typeface="Arial" panose="020B0604020202020204" pitchFamily="34" charset="0"/>
              <a:buChar char="•"/>
            </a:pPr>
            <a:r>
              <a:rPr lang="en-GB" b="0" i="0" dirty="0">
                <a:solidFill>
                  <a:srgbClr val="0D0D0D"/>
                </a:solidFill>
                <a:effectLst/>
                <a:highlight>
                  <a:srgbClr val="FFFFFF"/>
                </a:highlight>
                <a:latin typeface="Söhne"/>
              </a:rPr>
              <a:t>Final accuracy on the test data</a:t>
            </a:r>
          </a:p>
          <a:p>
            <a:pPr algn="l">
              <a:buFont typeface="Arial" panose="020B0604020202020204" pitchFamily="34" charset="0"/>
              <a:buChar char="•"/>
            </a:pPr>
            <a:r>
              <a:rPr lang="en-GB" b="0" i="0" dirty="0">
                <a:solidFill>
                  <a:srgbClr val="0D0D0D"/>
                </a:solidFill>
                <a:effectLst/>
                <a:highlight>
                  <a:srgbClr val="FFFFFF"/>
                </a:highlight>
                <a:latin typeface="Söhne"/>
              </a:rPr>
              <a:t>Source code</a:t>
            </a:r>
          </a:p>
        </p:txBody>
      </p:sp>
      <p:pic>
        <p:nvPicPr>
          <p:cNvPr id="4098" name="Picture 2">
            <a:extLst>
              <a:ext uri="{FF2B5EF4-FFF2-40B4-BE49-F238E27FC236}">
                <a16:creationId xmlns:a16="http://schemas.microsoft.com/office/drawing/2014/main" id="{251A46F2-3E78-D8AC-53F4-B20B3D8C9C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4292"/>
          <a:stretch/>
        </p:blipFill>
        <p:spPr bwMode="auto">
          <a:xfrm>
            <a:off x="98164" y="1109709"/>
            <a:ext cx="2520750" cy="425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40576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raz 5">
            <a:extLst>
              <a:ext uri="{FF2B5EF4-FFF2-40B4-BE49-F238E27FC236}">
                <a16:creationId xmlns:a16="http://schemas.microsoft.com/office/drawing/2014/main" id="{16F687A2-F975-4712-C817-69429E324F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2758" y="1159266"/>
            <a:ext cx="4256392" cy="3192294"/>
          </a:xfrm>
          <a:prstGeom prst="rect">
            <a:avLst/>
          </a:prstGeom>
        </p:spPr>
      </p:pic>
      <p:sp>
        <p:nvSpPr>
          <p:cNvPr id="2" name="Tytuł 1">
            <a:extLst>
              <a:ext uri="{FF2B5EF4-FFF2-40B4-BE49-F238E27FC236}">
                <a16:creationId xmlns:a16="http://schemas.microsoft.com/office/drawing/2014/main" id="{3575077B-3D8C-6E1C-0A45-C33B0935EE05}"/>
              </a:ext>
            </a:extLst>
          </p:cNvPr>
          <p:cNvSpPr>
            <a:spLocks noGrp="1"/>
          </p:cNvSpPr>
          <p:nvPr>
            <p:ph type="title"/>
          </p:nvPr>
        </p:nvSpPr>
        <p:spPr>
          <a:xfrm>
            <a:off x="838200" y="-9947"/>
            <a:ext cx="10515600" cy="840371"/>
          </a:xfrm>
        </p:spPr>
        <p:txBody>
          <a:bodyPr/>
          <a:lstStyle/>
          <a:p>
            <a:r>
              <a:rPr lang="pl-PL" dirty="0"/>
              <a:t>Project 4</a:t>
            </a:r>
            <a:endParaRPr lang="en-GB" dirty="0"/>
          </a:p>
        </p:txBody>
      </p:sp>
      <p:sp>
        <p:nvSpPr>
          <p:cNvPr id="8" name="Dymek mowy: prostokąt 7">
            <a:extLst>
              <a:ext uri="{FF2B5EF4-FFF2-40B4-BE49-F238E27FC236}">
                <a16:creationId xmlns:a16="http://schemas.microsoft.com/office/drawing/2014/main" id="{6FC27146-CC2A-7591-B790-D32BAAC3A7A3}"/>
              </a:ext>
            </a:extLst>
          </p:cNvPr>
          <p:cNvSpPr/>
          <p:nvPr/>
        </p:nvSpPr>
        <p:spPr>
          <a:xfrm>
            <a:off x="129305" y="620034"/>
            <a:ext cx="2943345"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Network </a:t>
            </a:r>
            <a:r>
              <a:rPr lang="pl-PL" sz="2000" dirty="0" err="1">
                <a:solidFill>
                  <a:schemeClr val="tx1"/>
                </a:solidFill>
                <a:latin typeface="Comic Sans MS" panose="030F0702030302020204" pitchFamily="66" charset="0"/>
              </a:rPr>
              <a:t>visualization</a:t>
            </a:r>
            <a:endParaRPr lang="pl-PL" sz="2000" dirty="0">
              <a:solidFill>
                <a:schemeClr val="tx1"/>
              </a:solidFill>
              <a:latin typeface="Comic Sans MS" panose="030F0702030302020204" pitchFamily="66" charset="0"/>
            </a:endParaRPr>
          </a:p>
        </p:txBody>
      </p:sp>
      <p:sp>
        <p:nvSpPr>
          <p:cNvPr id="9" name="Dymek mowy: prostokąt 8">
            <a:extLst>
              <a:ext uri="{FF2B5EF4-FFF2-40B4-BE49-F238E27FC236}">
                <a16:creationId xmlns:a16="http://schemas.microsoft.com/office/drawing/2014/main" id="{CEFEE77C-F479-D4B7-9D25-73800F178CD8}"/>
              </a:ext>
            </a:extLst>
          </p:cNvPr>
          <p:cNvSpPr/>
          <p:nvPr/>
        </p:nvSpPr>
        <p:spPr>
          <a:xfrm>
            <a:off x="8587753" y="620034"/>
            <a:ext cx="2943345"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2000" dirty="0" err="1">
                <a:solidFill>
                  <a:schemeClr val="tx1"/>
                </a:solidFill>
                <a:latin typeface="Comic Sans MS" panose="030F0702030302020204" pitchFamily="66" charset="0"/>
              </a:rPr>
              <a:t>Confusion</a:t>
            </a:r>
            <a:r>
              <a:rPr lang="pl-PL" sz="2000" dirty="0">
                <a:solidFill>
                  <a:schemeClr val="tx1"/>
                </a:solidFill>
                <a:latin typeface="Comic Sans MS" panose="030F0702030302020204" pitchFamily="66" charset="0"/>
              </a:rPr>
              <a:t> Matrix</a:t>
            </a:r>
          </a:p>
        </p:txBody>
      </p:sp>
      <p:sp>
        <p:nvSpPr>
          <p:cNvPr id="10" name="Dymek mowy: prostokąt 9">
            <a:extLst>
              <a:ext uri="{FF2B5EF4-FFF2-40B4-BE49-F238E27FC236}">
                <a16:creationId xmlns:a16="http://schemas.microsoft.com/office/drawing/2014/main" id="{7F07113A-7522-679F-3F39-E4F4DC8EDCA9}"/>
              </a:ext>
            </a:extLst>
          </p:cNvPr>
          <p:cNvSpPr/>
          <p:nvPr/>
        </p:nvSpPr>
        <p:spPr>
          <a:xfrm>
            <a:off x="4387777" y="661499"/>
            <a:ext cx="2943345" cy="539232"/>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pl-PL" sz="2000" dirty="0">
                <a:solidFill>
                  <a:schemeClr val="tx1"/>
                </a:solidFill>
                <a:latin typeface="Comic Sans MS" panose="030F0702030302020204" pitchFamily="66" charset="0"/>
              </a:rPr>
              <a:t>Training </a:t>
            </a:r>
            <a:r>
              <a:rPr lang="pl-PL" sz="2000" dirty="0" err="1">
                <a:solidFill>
                  <a:schemeClr val="tx1"/>
                </a:solidFill>
                <a:latin typeface="Comic Sans MS" panose="030F0702030302020204" pitchFamily="66" charset="0"/>
              </a:rPr>
              <a:t>history</a:t>
            </a:r>
            <a:r>
              <a:rPr lang="pl-PL" sz="2000" dirty="0">
                <a:solidFill>
                  <a:schemeClr val="tx1"/>
                </a:solidFill>
                <a:latin typeface="Comic Sans MS" panose="030F0702030302020204" pitchFamily="66" charset="0"/>
              </a:rPr>
              <a:t> plot</a:t>
            </a:r>
          </a:p>
        </p:txBody>
      </p:sp>
      <p:sp>
        <p:nvSpPr>
          <p:cNvPr id="11" name="Dymek mowy: prostokąt 10">
            <a:extLst>
              <a:ext uri="{FF2B5EF4-FFF2-40B4-BE49-F238E27FC236}">
                <a16:creationId xmlns:a16="http://schemas.microsoft.com/office/drawing/2014/main" id="{3EA11080-751F-5C91-AA63-8466B91B98BA}"/>
              </a:ext>
            </a:extLst>
          </p:cNvPr>
          <p:cNvSpPr/>
          <p:nvPr/>
        </p:nvSpPr>
        <p:spPr>
          <a:xfrm>
            <a:off x="4387777" y="4403738"/>
            <a:ext cx="3310635" cy="840371"/>
          </a:xfrm>
          <a:prstGeom prst="wedgeRectCallout">
            <a:avLst>
              <a:gd name="adj1" fmla="val -33895"/>
              <a:gd name="adj2" fmla="val 47286"/>
            </a:avLst>
          </a:prstGeom>
          <a:ln w="34925">
            <a:solidFill>
              <a:schemeClr val="tx1"/>
            </a:solidFill>
            <a:round/>
          </a:ln>
        </p:spPr>
        <p:style>
          <a:lnRef idx="2">
            <a:schemeClr val="accent4"/>
          </a:lnRef>
          <a:fillRef idx="1">
            <a:schemeClr val="lt1"/>
          </a:fillRef>
          <a:effectRef idx="0">
            <a:schemeClr val="accent4"/>
          </a:effectRef>
          <a:fontRef idx="minor">
            <a:schemeClr val="dk1"/>
          </a:fontRef>
        </p:style>
        <p:txBody>
          <a:bodyPr rtlCol="0" anchor="ctr"/>
          <a:lstStyle/>
          <a:p>
            <a:pPr algn="ctr"/>
            <a:r>
              <a:rPr lang="en-GB" sz="2000" dirty="0">
                <a:solidFill>
                  <a:schemeClr val="tx1"/>
                </a:solidFill>
                <a:latin typeface="Comic Sans MS" panose="030F0702030302020204" pitchFamily="66" charset="0"/>
              </a:rPr>
              <a:t>Final accuracy on the test data</a:t>
            </a:r>
            <a:r>
              <a:rPr lang="pl-PL" sz="2000" dirty="0">
                <a:solidFill>
                  <a:schemeClr val="tx1"/>
                </a:solidFill>
                <a:latin typeface="Comic Sans MS" panose="030F0702030302020204" pitchFamily="66" charset="0"/>
              </a:rPr>
              <a:t> 0. 81</a:t>
            </a:r>
          </a:p>
        </p:txBody>
      </p:sp>
      <p:pic>
        <p:nvPicPr>
          <p:cNvPr id="4" name="Obraz 3">
            <a:extLst>
              <a:ext uri="{FF2B5EF4-FFF2-40B4-BE49-F238E27FC236}">
                <a16:creationId xmlns:a16="http://schemas.microsoft.com/office/drawing/2014/main" id="{5A73F857-7D9E-3B28-A8EF-971CB6089966}"/>
              </a:ext>
            </a:extLst>
          </p:cNvPr>
          <p:cNvPicPr>
            <a:picLocks noChangeAspect="1"/>
          </p:cNvPicPr>
          <p:nvPr/>
        </p:nvPicPr>
        <p:blipFill rotWithShape="1">
          <a:blip r:embed="rId3">
            <a:extLst>
              <a:ext uri="{28A0092B-C50C-407E-A947-70E740481C1C}">
                <a14:useLocalDpi xmlns:a14="http://schemas.microsoft.com/office/drawing/2010/main" val="0"/>
              </a:ext>
            </a:extLst>
          </a:blip>
          <a:srcRect l="255" t="11010" r="13499" b="6332"/>
          <a:stretch/>
        </p:blipFill>
        <p:spPr>
          <a:xfrm>
            <a:off x="7774375" y="1218492"/>
            <a:ext cx="4256392" cy="4079334"/>
          </a:xfrm>
          <a:prstGeom prst="rect">
            <a:avLst/>
          </a:prstGeom>
        </p:spPr>
      </p:pic>
      <p:pic>
        <p:nvPicPr>
          <p:cNvPr id="12" name="Obraz 11">
            <a:extLst>
              <a:ext uri="{FF2B5EF4-FFF2-40B4-BE49-F238E27FC236}">
                <a16:creationId xmlns:a16="http://schemas.microsoft.com/office/drawing/2014/main" id="{B0DF6EDA-4FB9-8BF1-BB1B-CF812D7BA89A}"/>
              </a:ext>
            </a:extLst>
          </p:cNvPr>
          <p:cNvPicPr>
            <a:picLocks noChangeAspect="1"/>
          </p:cNvPicPr>
          <p:nvPr/>
        </p:nvPicPr>
        <p:blipFill rotWithShape="1">
          <a:blip r:embed="rId4">
            <a:extLst>
              <a:ext uri="{28A0092B-C50C-407E-A947-70E740481C1C}">
                <a14:useLocalDpi xmlns:a14="http://schemas.microsoft.com/office/drawing/2010/main" val="0"/>
              </a:ext>
            </a:extLst>
          </a:blip>
          <a:srcRect t="77923"/>
          <a:stretch/>
        </p:blipFill>
        <p:spPr>
          <a:xfrm>
            <a:off x="596900" y="4459738"/>
            <a:ext cx="1866900" cy="2398262"/>
          </a:xfrm>
          <a:prstGeom prst="rect">
            <a:avLst/>
          </a:prstGeom>
        </p:spPr>
      </p:pic>
      <p:pic>
        <p:nvPicPr>
          <p:cNvPr id="16" name="Obraz 15">
            <a:extLst>
              <a:ext uri="{FF2B5EF4-FFF2-40B4-BE49-F238E27FC236}">
                <a16:creationId xmlns:a16="http://schemas.microsoft.com/office/drawing/2014/main" id="{BF848CA3-869D-C5B5-F621-F4BF2FD64B36}"/>
              </a:ext>
            </a:extLst>
          </p:cNvPr>
          <p:cNvPicPr>
            <a:picLocks noChangeAspect="1"/>
          </p:cNvPicPr>
          <p:nvPr/>
        </p:nvPicPr>
        <p:blipFill rotWithShape="1">
          <a:blip r:embed="rId4">
            <a:extLst>
              <a:ext uri="{28A0092B-C50C-407E-A947-70E740481C1C}">
                <a14:useLocalDpi xmlns:a14="http://schemas.microsoft.com/office/drawing/2010/main" val="0"/>
              </a:ext>
            </a:extLst>
          </a:blip>
          <a:srcRect t="1" b="73490"/>
          <a:stretch/>
        </p:blipFill>
        <p:spPr>
          <a:xfrm>
            <a:off x="596900" y="1200730"/>
            <a:ext cx="1866900" cy="2879860"/>
          </a:xfrm>
          <a:prstGeom prst="rect">
            <a:avLst/>
          </a:prstGeom>
        </p:spPr>
      </p:pic>
      <p:sp>
        <p:nvSpPr>
          <p:cNvPr id="17" name="Dymek mowy: prostokąt 16">
            <a:extLst>
              <a:ext uri="{FF2B5EF4-FFF2-40B4-BE49-F238E27FC236}">
                <a16:creationId xmlns:a16="http://schemas.microsoft.com/office/drawing/2014/main" id="{069BB61B-96C2-15AB-FB42-CE12F1D4CEA1}"/>
              </a:ext>
            </a:extLst>
          </p:cNvPr>
          <p:cNvSpPr/>
          <p:nvPr/>
        </p:nvSpPr>
        <p:spPr>
          <a:xfrm>
            <a:off x="838200" y="4122054"/>
            <a:ext cx="1371600" cy="308342"/>
          </a:xfrm>
          <a:prstGeom prst="wedgeRectCallout">
            <a:avLst>
              <a:gd name="adj1" fmla="val -33895"/>
              <a:gd name="adj2" fmla="val 47286"/>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pl-PL" sz="900" dirty="0">
                <a:solidFill>
                  <a:schemeClr val="tx1"/>
                </a:solidFill>
                <a:latin typeface="Comic Sans MS" panose="030F0702030302020204" pitchFamily="66" charset="0"/>
              </a:rPr>
              <a:t>….</a:t>
            </a:r>
          </a:p>
        </p:txBody>
      </p:sp>
    </p:spTree>
    <p:extLst>
      <p:ext uri="{BB962C8B-B14F-4D97-AF65-F5344CB8AC3E}">
        <p14:creationId xmlns:p14="http://schemas.microsoft.com/office/powerpoint/2010/main" val="39689666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575077B-3D8C-6E1C-0A45-C33B0935EE05}"/>
              </a:ext>
            </a:extLst>
          </p:cNvPr>
          <p:cNvSpPr>
            <a:spLocks noGrp="1"/>
          </p:cNvSpPr>
          <p:nvPr>
            <p:ph type="title"/>
          </p:nvPr>
        </p:nvSpPr>
        <p:spPr>
          <a:xfrm>
            <a:off x="838200" y="-9947"/>
            <a:ext cx="10515600" cy="840371"/>
          </a:xfrm>
        </p:spPr>
        <p:txBody>
          <a:bodyPr/>
          <a:lstStyle/>
          <a:p>
            <a:r>
              <a:rPr lang="pl-PL" dirty="0"/>
              <a:t>Project 4</a:t>
            </a:r>
            <a:endParaRPr lang="en-GB" dirty="0"/>
          </a:p>
        </p:txBody>
      </p:sp>
      <p:sp>
        <p:nvSpPr>
          <p:cNvPr id="3" name="Symbol zastępczy zawartości 2">
            <a:extLst>
              <a:ext uri="{FF2B5EF4-FFF2-40B4-BE49-F238E27FC236}">
                <a16:creationId xmlns:a16="http://schemas.microsoft.com/office/drawing/2014/main" id="{478300B1-4E02-E2D8-36CF-651461306B72}"/>
              </a:ext>
            </a:extLst>
          </p:cNvPr>
          <p:cNvSpPr>
            <a:spLocks noGrp="1"/>
          </p:cNvSpPr>
          <p:nvPr>
            <p:ph idx="1"/>
          </p:nvPr>
        </p:nvSpPr>
        <p:spPr>
          <a:xfrm>
            <a:off x="2763405" y="1109709"/>
            <a:ext cx="9330431" cy="4853774"/>
          </a:xfrm>
        </p:spPr>
        <p:txBody>
          <a:bodyPr>
            <a:normAutofit/>
          </a:bodyPr>
          <a:lstStyle/>
          <a:p>
            <a:pPr marL="0" indent="0" algn="l">
              <a:buNone/>
            </a:pPr>
            <a:endParaRPr lang="pl-PL" b="0" i="0" dirty="0">
              <a:solidFill>
                <a:srgbClr val="0D0D0D"/>
              </a:solidFill>
              <a:effectLst/>
              <a:highlight>
                <a:srgbClr val="FFFFFF"/>
              </a:highlight>
              <a:latin typeface="Söhne"/>
            </a:endParaRPr>
          </a:p>
          <a:p>
            <a:pPr marL="0" indent="0" algn="l">
              <a:buNone/>
            </a:pPr>
            <a:r>
              <a:rPr lang="en-GB" b="0" i="0" dirty="0">
                <a:solidFill>
                  <a:srgbClr val="0D0D0D"/>
                </a:solidFill>
                <a:effectLst/>
                <a:highlight>
                  <a:srgbClr val="FFFFFF"/>
                </a:highlight>
                <a:latin typeface="Söhne"/>
              </a:rPr>
              <a:t>Grading criteria:</a:t>
            </a:r>
          </a:p>
          <a:p>
            <a:r>
              <a:rPr lang="pl-PL" dirty="0">
                <a:highlight>
                  <a:srgbClr val="FFFFFF"/>
                </a:highlight>
              </a:rPr>
              <a:t>- </a:t>
            </a:r>
            <a:r>
              <a:rPr lang="pl-PL" dirty="0" err="1">
                <a:highlight>
                  <a:srgbClr val="FFFFFF"/>
                </a:highlight>
              </a:rPr>
              <a:t>Accuracy</a:t>
            </a:r>
            <a:r>
              <a:rPr lang="pl-PL" dirty="0">
                <a:highlight>
                  <a:srgbClr val="FFFFFF"/>
                </a:highlight>
              </a:rPr>
              <a:t> &lt; 0.599 → 0 </a:t>
            </a:r>
            <a:r>
              <a:rPr lang="pl-PL" dirty="0" err="1">
                <a:highlight>
                  <a:srgbClr val="FFFFFF"/>
                </a:highlight>
              </a:rPr>
              <a:t>points</a:t>
            </a:r>
            <a:r>
              <a:rPr lang="pl-PL" dirty="0">
                <a:highlight>
                  <a:srgbClr val="FFFFFF"/>
                </a:highlight>
              </a:rPr>
              <a:t>    </a:t>
            </a:r>
          </a:p>
          <a:p>
            <a:r>
              <a:rPr lang="pl-PL" dirty="0">
                <a:highlight>
                  <a:srgbClr val="FFFFFF"/>
                </a:highlight>
              </a:rPr>
              <a:t>- 0.600 &lt; </a:t>
            </a:r>
            <a:r>
              <a:rPr lang="pl-PL" dirty="0" err="1">
                <a:highlight>
                  <a:srgbClr val="FFFFFF"/>
                </a:highlight>
              </a:rPr>
              <a:t>Accuracy</a:t>
            </a:r>
            <a:r>
              <a:rPr lang="pl-PL" dirty="0">
                <a:highlight>
                  <a:srgbClr val="FFFFFF"/>
                </a:highlight>
              </a:rPr>
              <a:t> &lt; 0.699 → 7 </a:t>
            </a:r>
            <a:r>
              <a:rPr lang="pl-PL" dirty="0" err="1">
                <a:highlight>
                  <a:srgbClr val="FFFFFF"/>
                </a:highlight>
              </a:rPr>
              <a:t>points</a:t>
            </a:r>
            <a:r>
              <a:rPr lang="pl-PL" dirty="0">
                <a:highlight>
                  <a:srgbClr val="FFFFFF"/>
                </a:highlight>
              </a:rPr>
              <a:t>  </a:t>
            </a:r>
          </a:p>
          <a:p>
            <a:r>
              <a:rPr lang="pl-PL" dirty="0">
                <a:highlight>
                  <a:srgbClr val="FFFFFF"/>
                </a:highlight>
              </a:rPr>
              <a:t>- 0.700 &lt; </a:t>
            </a:r>
            <a:r>
              <a:rPr lang="pl-PL" dirty="0" err="1">
                <a:highlight>
                  <a:srgbClr val="FFFFFF"/>
                </a:highlight>
              </a:rPr>
              <a:t>Accuracy</a:t>
            </a:r>
            <a:r>
              <a:rPr lang="pl-PL" dirty="0">
                <a:highlight>
                  <a:srgbClr val="FFFFFF"/>
                </a:highlight>
              </a:rPr>
              <a:t> &gt; 0.779 → 9 </a:t>
            </a:r>
            <a:r>
              <a:rPr lang="pl-PL" dirty="0" err="1">
                <a:highlight>
                  <a:srgbClr val="FFFFFF"/>
                </a:highlight>
              </a:rPr>
              <a:t>points</a:t>
            </a:r>
            <a:endParaRPr lang="pl-PL" dirty="0">
              <a:highlight>
                <a:srgbClr val="FFFFFF"/>
              </a:highlight>
            </a:endParaRPr>
          </a:p>
          <a:p>
            <a:r>
              <a:rPr lang="pl-PL" dirty="0">
                <a:highlight>
                  <a:srgbClr val="FFFFFF"/>
                </a:highlight>
              </a:rPr>
              <a:t>- 0.78 &lt; </a:t>
            </a:r>
            <a:r>
              <a:rPr lang="pl-PL" dirty="0" err="1">
                <a:highlight>
                  <a:srgbClr val="FFFFFF"/>
                </a:highlight>
              </a:rPr>
              <a:t>Accuracy</a:t>
            </a:r>
            <a:r>
              <a:rPr lang="pl-PL" dirty="0">
                <a:highlight>
                  <a:srgbClr val="FFFFFF"/>
                </a:highlight>
              </a:rPr>
              <a:t> &gt; 0.799 → 12 </a:t>
            </a:r>
            <a:r>
              <a:rPr lang="pl-PL" dirty="0" err="1">
                <a:highlight>
                  <a:srgbClr val="FFFFFF"/>
                </a:highlight>
              </a:rPr>
              <a:t>points</a:t>
            </a:r>
            <a:endParaRPr lang="pl-PL" dirty="0">
              <a:highlight>
                <a:srgbClr val="FFFFFF"/>
              </a:highlight>
            </a:endParaRPr>
          </a:p>
          <a:p>
            <a:r>
              <a:rPr lang="pl-PL" dirty="0">
                <a:highlight>
                  <a:srgbClr val="FFFFFF"/>
                </a:highlight>
              </a:rPr>
              <a:t>- </a:t>
            </a:r>
            <a:r>
              <a:rPr lang="pl-PL" dirty="0" err="1">
                <a:highlight>
                  <a:srgbClr val="FFFFFF"/>
                </a:highlight>
              </a:rPr>
              <a:t>Accuracy</a:t>
            </a:r>
            <a:r>
              <a:rPr lang="pl-PL" dirty="0">
                <a:highlight>
                  <a:srgbClr val="FFFFFF"/>
                </a:highlight>
              </a:rPr>
              <a:t> &gt; 0.800 → 14 </a:t>
            </a:r>
            <a:r>
              <a:rPr lang="pl-PL" dirty="0" err="1">
                <a:highlight>
                  <a:srgbClr val="FFFFFF"/>
                </a:highlight>
              </a:rPr>
              <a:t>points</a:t>
            </a:r>
            <a:endParaRPr lang="pl-PL" dirty="0">
              <a:highlight>
                <a:srgbClr val="FFFFFF"/>
              </a:highlight>
            </a:endParaRPr>
          </a:p>
        </p:txBody>
      </p:sp>
      <p:sp>
        <p:nvSpPr>
          <p:cNvPr id="6" name="pole tekstowe 5">
            <a:extLst>
              <a:ext uri="{FF2B5EF4-FFF2-40B4-BE49-F238E27FC236}">
                <a16:creationId xmlns:a16="http://schemas.microsoft.com/office/drawing/2014/main" id="{95CBDEDE-F487-D775-F91D-1DACA3AC9E17}"/>
              </a:ext>
            </a:extLst>
          </p:cNvPr>
          <p:cNvSpPr txBox="1"/>
          <p:nvPr/>
        </p:nvSpPr>
        <p:spPr>
          <a:xfrm>
            <a:off x="0" y="6119336"/>
            <a:ext cx="12192000" cy="738664"/>
          </a:xfrm>
          <a:prstGeom prst="rect">
            <a:avLst/>
          </a:prstGeom>
          <a:noFill/>
        </p:spPr>
        <p:txBody>
          <a:bodyPr wrap="square">
            <a:spAutoFit/>
          </a:bodyPr>
          <a:lstStyle/>
          <a:p>
            <a:pPr algn="r"/>
            <a:r>
              <a:rPr lang="pl-PL" sz="1400" dirty="0">
                <a:solidFill>
                  <a:schemeClr val="accent1">
                    <a:lumMod val="60000"/>
                    <a:lumOff val="40000"/>
                  </a:schemeClr>
                </a:solidFill>
                <a:hlinkClick r:id="rId2"/>
              </a:rPr>
              <a:t>https://franky07724-57962.medium.com/once-upon-a-time-in-cifar-10-c26bb056b4ce</a:t>
            </a:r>
            <a:r>
              <a:rPr lang="pl-PL" sz="1400" dirty="0">
                <a:solidFill>
                  <a:schemeClr val="accent1">
                    <a:lumMod val="60000"/>
                    <a:lumOff val="40000"/>
                  </a:schemeClr>
                </a:solidFill>
              </a:rPr>
              <a:t> </a:t>
            </a:r>
            <a:br>
              <a:rPr lang="pl-PL" sz="1400" dirty="0">
                <a:solidFill>
                  <a:schemeClr val="accent1">
                    <a:lumMod val="60000"/>
                    <a:lumOff val="40000"/>
                  </a:schemeClr>
                </a:solidFill>
              </a:rPr>
            </a:br>
            <a:r>
              <a:rPr lang="pl-PL" sz="1400" dirty="0">
                <a:solidFill>
                  <a:schemeClr val="accent1">
                    <a:lumMod val="60000"/>
                    <a:lumOff val="40000"/>
                  </a:schemeClr>
                </a:solidFill>
                <a:hlinkClick r:id="rId3"/>
              </a:rPr>
              <a:t>https://www.kaggle.com/code/kedarsai/cifar-10-88-accuracy-using-keras/</a:t>
            </a:r>
            <a:r>
              <a:rPr lang="pl-PL" sz="1400" dirty="0">
                <a:solidFill>
                  <a:schemeClr val="accent1">
                    <a:lumMod val="60000"/>
                    <a:lumOff val="40000"/>
                  </a:schemeClr>
                </a:solidFill>
              </a:rPr>
              <a:t> </a:t>
            </a:r>
            <a:br>
              <a:rPr lang="pl-PL" sz="1400" dirty="0">
                <a:solidFill>
                  <a:schemeClr val="accent1">
                    <a:lumMod val="60000"/>
                    <a:lumOff val="40000"/>
                  </a:schemeClr>
                </a:solidFill>
              </a:rPr>
            </a:br>
            <a:r>
              <a:rPr lang="pl-PL" sz="1400" dirty="0">
                <a:solidFill>
                  <a:schemeClr val="accent1">
                    <a:lumMod val="60000"/>
                    <a:lumOff val="40000"/>
                  </a:schemeClr>
                </a:solidFill>
                <a:hlinkClick r:id="rId4"/>
              </a:rPr>
              <a:t>https://machinelearningmastery.com/how-to-develop-a-cnn-from-scratch-for-cifar-10-photo-classification/</a:t>
            </a:r>
            <a:r>
              <a:rPr lang="pl-PL" sz="1400" dirty="0">
                <a:solidFill>
                  <a:schemeClr val="accent1">
                    <a:lumMod val="60000"/>
                    <a:lumOff val="40000"/>
                  </a:schemeClr>
                </a:solidFill>
              </a:rPr>
              <a:t> </a:t>
            </a:r>
            <a:endParaRPr lang="en-GB" sz="1400" dirty="0">
              <a:solidFill>
                <a:schemeClr val="accent1">
                  <a:lumMod val="60000"/>
                  <a:lumOff val="40000"/>
                </a:schemeClr>
              </a:solidFill>
            </a:endParaRPr>
          </a:p>
        </p:txBody>
      </p:sp>
      <p:pic>
        <p:nvPicPr>
          <p:cNvPr id="4098" name="Picture 2">
            <a:extLst>
              <a:ext uri="{FF2B5EF4-FFF2-40B4-BE49-F238E27FC236}">
                <a16:creationId xmlns:a16="http://schemas.microsoft.com/office/drawing/2014/main" id="{251A46F2-3E78-D8AC-53F4-B20B3D8C9C0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4292"/>
          <a:stretch/>
        </p:blipFill>
        <p:spPr bwMode="auto">
          <a:xfrm>
            <a:off x="98164" y="1109709"/>
            <a:ext cx="2520750" cy="425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85548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575077B-3D8C-6E1C-0A45-C33B0935EE05}"/>
              </a:ext>
            </a:extLst>
          </p:cNvPr>
          <p:cNvSpPr>
            <a:spLocks noGrp="1"/>
          </p:cNvSpPr>
          <p:nvPr>
            <p:ph type="title"/>
          </p:nvPr>
        </p:nvSpPr>
        <p:spPr>
          <a:xfrm>
            <a:off x="0" y="-9947"/>
            <a:ext cx="12192000" cy="840371"/>
          </a:xfrm>
        </p:spPr>
        <p:txBody>
          <a:bodyPr>
            <a:noAutofit/>
          </a:bodyPr>
          <a:lstStyle/>
          <a:p>
            <a:r>
              <a:rPr lang="en-GB" sz="3600" dirty="0"/>
              <a:t>Addendum: the initialized kernel weights in a given layer.</a:t>
            </a:r>
          </a:p>
        </p:txBody>
      </p:sp>
      <p:sp>
        <p:nvSpPr>
          <p:cNvPr id="3" name="Symbol zastępczy zawartości 2">
            <a:extLst>
              <a:ext uri="{FF2B5EF4-FFF2-40B4-BE49-F238E27FC236}">
                <a16:creationId xmlns:a16="http://schemas.microsoft.com/office/drawing/2014/main" id="{478300B1-4E02-E2D8-36CF-651461306B72}"/>
              </a:ext>
            </a:extLst>
          </p:cNvPr>
          <p:cNvSpPr>
            <a:spLocks noGrp="1"/>
          </p:cNvSpPr>
          <p:nvPr>
            <p:ph idx="1"/>
          </p:nvPr>
        </p:nvSpPr>
        <p:spPr>
          <a:xfrm>
            <a:off x="428577" y="1002113"/>
            <a:ext cx="11210048" cy="4853774"/>
          </a:xfrm>
        </p:spPr>
        <p:txBody>
          <a:bodyPr>
            <a:normAutofit fontScale="92500" lnSpcReduction="10000"/>
          </a:bodyPr>
          <a:lstStyle/>
          <a:p>
            <a:pPr marL="0" indent="0" algn="l">
              <a:buNone/>
            </a:pPr>
            <a:r>
              <a:rPr lang="en-GB" i="0" dirty="0">
                <a:solidFill>
                  <a:srgbClr val="0D0D0D"/>
                </a:solidFill>
                <a:effectLst/>
                <a:highlight>
                  <a:srgbClr val="FFFFFF"/>
                </a:highlight>
                <a:latin typeface="Söhne"/>
              </a:rPr>
              <a:t>The `</a:t>
            </a:r>
            <a:r>
              <a:rPr lang="en-GB" b="1" i="0" dirty="0" err="1">
                <a:solidFill>
                  <a:srgbClr val="0D0D0D"/>
                </a:solidFill>
                <a:effectLst/>
                <a:highlight>
                  <a:srgbClr val="FFFFFF"/>
                </a:highlight>
                <a:latin typeface="Söhne"/>
              </a:rPr>
              <a:t>kernel_initializer</a:t>
            </a:r>
            <a:r>
              <a:rPr lang="en-GB" i="0" dirty="0">
                <a:solidFill>
                  <a:srgbClr val="0D0D0D"/>
                </a:solidFill>
                <a:effectLst/>
                <a:highlight>
                  <a:srgbClr val="FFFFFF"/>
                </a:highlight>
                <a:latin typeface="Söhne"/>
              </a:rPr>
              <a:t>` in the </a:t>
            </a:r>
            <a:r>
              <a:rPr lang="en-GB" i="0" dirty="0" err="1">
                <a:solidFill>
                  <a:srgbClr val="0D0D0D"/>
                </a:solidFill>
                <a:effectLst/>
                <a:highlight>
                  <a:srgbClr val="FFFFFF"/>
                </a:highlight>
                <a:latin typeface="Söhne"/>
              </a:rPr>
              <a:t>Keras</a:t>
            </a:r>
            <a:r>
              <a:rPr lang="en-GB" i="0" dirty="0">
                <a:solidFill>
                  <a:srgbClr val="0D0D0D"/>
                </a:solidFill>
                <a:effectLst/>
                <a:highlight>
                  <a:srgbClr val="FFFFFF"/>
                </a:highlight>
                <a:latin typeface="Söhne"/>
              </a:rPr>
              <a:t> library is a parameter of a layer that allows defining the weight initialization strategy in neural network layers:</a:t>
            </a:r>
          </a:p>
          <a:p>
            <a:pPr algn="l">
              <a:buFont typeface="Wingdings" panose="05000000000000000000" pitchFamily="2" charset="2"/>
              <a:buChar char="Ø"/>
            </a:pPr>
            <a:r>
              <a:rPr lang="en-GB" b="1" i="0" dirty="0">
                <a:solidFill>
                  <a:srgbClr val="0D0D0D"/>
                </a:solidFill>
                <a:effectLst/>
                <a:highlight>
                  <a:srgbClr val="FFFFFF"/>
                </a:highlight>
                <a:latin typeface="Söhne"/>
              </a:rPr>
              <a:t>`</a:t>
            </a:r>
            <a:r>
              <a:rPr lang="en-GB" b="1" i="0" dirty="0" err="1">
                <a:solidFill>
                  <a:srgbClr val="0D0D0D"/>
                </a:solidFill>
                <a:effectLst/>
                <a:highlight>
                  <a:srgbClr val="FFFFFF"/>
                </a:highlight>
                <a:latin typeface="Söhne"/>
              </a:rPr>
              <a:t>random_uniform</a:t>
            </a:r>
            <a:r>
              <a:rPr lang="en-GB" b="1" i="0" dirty="0">
                <a:solidFill>
                  <a:srgbClr val="0D0D0D"/>
                </a:solidFill>
                <a:effectLst/>
                <a:highlight>
                  <a:srgbClr val="FFFFFF"/>
                </a:highlight>
                <a:latin typeface="Söhne"/>
              </a:rPr>
              <a:t>`: </a:t>
            </a:r>
            <a:r>
              <a:rPr lang="en-GB" i="0" dirty="0">
                <a:solidFill>
                  <a:srgbClr val="0D0D0D"/>
                </a:solidFill>
                <a:effectLst/>
                <a:highlight>
                  <a:srgbClr val="FFFFFF"/>
                </a:highlight>
                <a:latin typeface="Söhne"/>
              </a:rPr>
              <a:t>Initializes weights according to a uniform distribution.</a:t>
            </a:r>
          </a:p>
          <a:p>
            <a:pPr algn="l">
              <a:buFont typeface="Wingdings" panose="05000000000000000000" pitchFamily="2" charset="2"/>
              <a:buChar char="Ø"/>
            </a:pPr>
            <a:r>
              <a:rPr lang="pl-PL" b="1" dirty="0">
                <a:solidFill>
                  <a:srgbClr val="0D0D0D"/>
                </a:solidFill>
                <a:highlight>
                  <a:srgbClr val="FFFFFF"/>
                </a:highlight>
                <a:latin typeface="Söhne"/>
              </a:rPr>
              <a:t>`</a:t>
            </a:r>
            <a:r>
              <a:rPr lang="en-GB" b="1" i="0" dirty="0" err="1">
                <a:solidFill>
                  <a:srgbClr val="0D0D0D"/>
                </a:solidFill>
                <a:effectLst/>
                <a:highlight>
                  <a:srgbClr val="FFFFFF"/>
                </a:highlight>
                <a:latin typeface="Söhne"/>
              </a:rPr>
              <a:t>random_normal</a:t>
            </a:r>
            <a:r>
              <a:rPr lang="en-GB" b="1" i="0" dirty="0">
                <a:solidFill>
                  <a:srgbClr val="0D0D0D"/>
                </a:solidFill>
                <a:effectLst/>
                <a:highlight>
                  <a:srgbClr val="FFFFFF"/>
                </a:highlight>
                <a:latin typeface="Söhne"/>
              </a:rPr>
              <a:t>`: </a:t>
            </a:r>
            <a:r>
              <a:rPr lang="en-GB" i="0" dirty="0">
                <a:solidFill>
                  <a:srgbClr val="0D0D0D"/>
                </a:solidFill>
                <a:effectLst/>
                <a:highlight>
                  <a:srgbClr val="FFFFFF"/>
                </a:highlight>
                <a:latin typeface="Söhne"/>
              </a:rPr>
              <a:t>Initializes weights according to a normal distribution.</a:t>
            </a:r>
          </a:p>
          <a:p>
            <a:pPr algn="l">
              <a:buFont typeface="Wingdings" panose="05000000000000000000" pitchFamily="2" charset="2"/>
              <a:buChar char="Ø"/>
            </a:pPr>
            <a:r>
              <a:rPr lang="pl-PL" i="0" dirty="0">
                <a:solidFill>
                  <a:srgbClr val="0D0D0D"/>
                </a:solidFill>
                <a:effectLst/>
                <a:highlight>
                  <a:srgbClr val="FFFFFF"/>
                </a:highlight>
                <a:latin typeface="Söhne"/>
              </a:rPr>
              <a:t>`</a:t>
            </a:r>
            <a:r>
              <a:rPr lang="en-GB" b="1" i="0" dirty="0" err="1">
                <a:solidFill>
                  <a:srgbClr val="0D0D0D"/>
                </a:solidFill>
                <a:effectLst/>
                <a:highlight>
                  <a:srgbClr val="FFFFFF"/>
                </a:highlight>
                <a:latin typeface="Söhne"/>
              </a:rPr>
              <a:t>glorot_uniform</a:t>
            </a:r>
            <a:r>
              <a:rPr lang="en-GB" i="0" dirty="0">
                <a:solidFill>
                  <a:srgbClr val="0D0D0D"/>
                </a:solidFill>
                <a:effectLst/>
                <a:highlight>
                  <a:srgbClr val="FFFFFF"/>
                </a:highlight>
                <a:latin typeface="Söhne"/>
              </a:rPr>
              <a:t>` (also known as Xavier): Initializes weights according to the strategy proposed by </a:t>
            </a:r>
            <a:r>
              <a:rPr lang="en-GB" i="0" dirty="0" err="1">
                <a:solidFill>
                  <a:srgbClr val="0D0D0D"/>
                </a:solidFill>
                <a:effectLst/>
                <a:highlight>
                  <a:srgbClr val="FFFFFF"/>
                </a:highlight>
                <a:latin typeface="Söhne"/>
              </a:rPr>
              <a:t>Glorot</a:t>
            </a:r>
            <a:r>
              <a:rPr lang="en-GB" i="0" dirty="0">
                <a:solidFill>
                  <a:srgbClr val="0D0D0D"/>
                </a:solidFill>
                <a:effectLst/>
                <a:highlight>
                  <a:srgbClr val="FFFFFF"/>
                </a:highlight>
                <a:latin typeface="Söhne"/>
              </a:rPr>
              <a:t> and Bengio, which handles the vanishing gradient problem better in deep neural networks.</a:t>
            </a:r>
          </a:p>
          <a:p>
            <a:pPr algn="l">
              <a:buFont typeface="Wingdings" panose="05000000000000000000" pitchFamily="2" charset="2"/>
              <a:buChar char="Ø"/>
            </a:pPr>
            <a:r>
              <a:rPr lang="en-GB" i="0" dirty="0">
                <a:solidFill>
                  <a:srgbClr val="0D0D0D"/>
                </a:solidFill>
                <a:effectLst/>
                <a:highlight>
                  <a:srgbClr val="FFFFFF"/>
                </a:highlight>
                <a:latin typeface="Söhne"/>
              </a:rPr>
              <a:t>`</a:t>
            </a:r>
            <a:r>
              <a:rPr lang="en-GB" b="1" i="0" dirty="0" err="1">
                <a:solidFill>
                  <a:srgbClr val="0D0D0D"/>
                </a:solidFill>
                <a:effectLst/>
                <a:highlight>
                  <a:srgbClr val="FFFFFF"/>
                </a:highlight>
                <a:latin typeface="Söhne"/>
              </a:rPr>
              <a:t>glorot_normal</a:t>
            </a:r>
            <a:r>
              <a:rPr lang="en-GB" i="0" dirty="0">
                <a:solidFill>
                  <a:srgbClr val="0D0D0D"/>
                </a:solidFill>
                <a:effectLst/>
                <a:highlight>
                  <a:srgbClr val="FFFFFF"/>
                </a:highlight>
                <a:latin typeface="Söhne"/>
              </a:rPr>
              <a:t>`: Similar to `</a:t>
            </a:r>
            <a:r>
              <a:rPr lang="en-GB" i="0" dirty="0" err="1">
                <a:solidFill>
                  <a:srgbClr val="0D0D0D"/>
                </a:solidFill>
                <a:effectLst/>
                <a:highlight>
                  <a:srgbClr val="FFFFFF"/>
                </a:highlight>
                <a:latin typeface="Söhne"/>
              </a:rPr>
              <a:t>glorot_uniform</a:t>
            </a:r>
            <a:r>
              <a:rPr lang="en-GB" i="0" dirty="0">
                <a:solidFill>
                  <a:srgbClr val="0D0D0D"/>
                </a:solidFill>
                <a:effectLst/>
                <a:highlight>
                  <a:srgbClr val="FFFFFF"/>
                </a:highlight>
                <a:latin typeface="Söhne"/>
              </a:rPr>
              <a:t>`, but initializes weights according to a normal distribution.</a:t>
            </a:r>
          </a:p>
          <a:p>
            <a:pPr algn="l">
              <a:buFont typeface="Wingdings" panose="05000000000000000000" pitchFamily="2" charset="2"/>
              <a:buChar char="Ø"/>
            </a:pPr>
            <a:r>
              <a:rPr lang="en-GB" i="0" dirty="0">
                <a:solidFill>
                  <a:srgbClr val="0D0D0D"/>
                </a:solidFill>
                <a:effectLst/>
                <a:highlight>
                  <a:srgbClr val="FFFFFF"/>
                </a:highlight>
                <a:latin typeface="Söhne"/>
              </a:rPr>
              <a:t>Other initialization strategies, such as `</a:t>
            </a:r>
            <a:r>
              <a:rPr lang="en-GB" b="1" i="0" dirty="0" err="1">
                <a:solidFill>
                  <a:srgbClr val="0D0D0D"/>
                </a:solidFill>
                <a:effectLst/>
                <a:highlight>
                  <a:srgbClr val="FFFFFF"/>
                </a:highlight>
                <a:latin typeface="Söhne"/>
              </a:rPr>
              <a:t>he_uniform</a:t>
            </a:r>
            <a:r>
              <a:rPr lang="en-GB" i="0" dirty="0">
                <a:solidFill>
                  <a:srgbClr val="0D0D0D"/>
                </a:solidFill>
                <a:effectLst/>
                <a:highlight>
                  <a:srgbClr val="FFFFFF"/>
                </a:highlight>
                <a:latin typeface="Söhne"/>
              </a:rPr>
              <a:t>`, `</a:t>
            </a:r>
            <a:r>
              <a:rPr lang="en-GB" b="1" i="0" dirty="0" err="1">
                <a:solidFill>
                  <a:srgbClr val="0D0D0D"/>
                </a:solidFill>
                <a:effectLst/>
                <a:highlight>
                  <a:srgbClr val="FFFFFF"/>
                </a:highlight>
                <a:latin typeface="Söhne"/>
              </a:rPr>
              <a:t>he_normal</a:t>
            </a:r>
            <a:r>
              <a:rPr lang="en-GB" i="0" dirty="0">
                <a:solidFill>
                  <a:srgbClr val="0D0D0D"/>
                </a:solidFill>
                <a:effectLst/>
                <a:highlight>
                  <a:srgbClr val="FFFFFF"/>
                </a:highlight>
                <a:latin typeface="Söhne"/>
              </a:rPr>
              <a:t>`, `</a:t>
            </a:r>
            <a:r>
              <a:rPr lang="en-GB" b="1" i="0" dirty="0" err="1">
                <a:solidFill>
                  <a:srgbClr val="0D0D0D"/>
                </a:solidFill>
                <a:effectLst/>
                <a:highlight>
                  <a:srgbClr val="FFFFFF"/>
                </a:highlight>
                <a:latin typeface="Söhne"/>
              </a:rPr>
              <a:t>lecun_uniform</a:t>
            </a:r>
            <a:r>
              <a:rPr lang="en-GB" i="0" dirty="0">
                <a:solidFill>
                  <a:srgbClr val="0D0D0D"/>
                </a:solidFill>
                <a:effectLst/>
                <a:highlight>
                  <a:srgbClr val="FFFFFF"/>
                </a:highlight>
                <a:latin typeface="Söhne"/>
              </a:rPr>
              <a:t>`, `</a:t>
            </a:r>
            <a:r>
              <a:rPr lang="en-GB" b="1" i="0" dirty="0" err="1">
                <a:solidFill>
                  <a:srgbClr val="0D0D0D"/>
                </a:solidFill>
                <a:effectLst/>
                <a:highlight>
                  <a:srgbClr val="FFFFFF"/>
                </a:highlight>
                <a:latin typeface="Söhne"/>
              </a:rPr>
              <a:t>lecun_normal</a:t>
            </a:r>
            <a:r>
              <a:rPr lang="en-GB" i="0" dirty="0">
                <a:solidFill>
                  <a:srgbClr val="0D0D0D"/>
                </a:solidFill>
                <a:effectLst/>
                <a:highlight>
                  <a:srgbClr val="FFFFFF"/>
                </a:highlight>
                <a:latin typeface="Söhne"/>
              </a:rPr>
              <a:t>`, which have also been proposed to improve the performance of neural networks in various scenarios.</a:t>
            </a:r>
            <a:endParaRPr lang="pl-PL" i="0" dirty="0">
              <a:solidFill>
                <a:srgbClr val="0D0D0D"/>
              </a:solidFill>
              <a:effectLst/>
              <a:highlight>
                <a:srgbClr val="FFFFFF"/>
              </a:highlight>
              <a:latin typeface="Söhne"/>
            </a:endParaRPr>
          </a:p>
        </p:txBody>
      </p:sp>
    </p:spTree>
    <p:extLst>
      <p:ext uri="{BB962C8B-B14F-4D97-AF65-F5344CB8AC3E}">
        <p14:creationId xmlns:p14="http://schemas.microsoft.com/office/powerpoint/2010/main" val="40537553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575077B-3D8C-6E1C-0A45-C33B0935EE05}"/>
              </a:ext>
            </a:extLst>
          </p:cNvPr>
          <p:cNvSpPr>
            <a:spLocks noGrp="1"/>
          </p:cNvSpPr>
          <p:nvPr>
            <p:ph type="title"/>
          </p:nvPr>
        </p:nvSpPr>
        <p:spPr>
          <a:xfrm>
            <a:off x="0" y="-9947"/>
            <a:ext cx="12192000" cy="840371"/>
          </a:xfrm>
        </p:spPr>
        <p:txBody>
          <a:bodyPr>
            <a:noAutofit/>
          </a:bodyPr>
          <a:lstStyle/>
          <a:p>
            <a:r>
              <a:rPr lang="pl-PL" sz="3600" dirty="0" err="1"/>
              <a:t>Addendum</a:t>
            </a:r>
            <a:r>
              <a:rPr lang="pl-PL" sz="3600" dirty="0"/>
              <a:t>: </a:t>
            </a:r>
            <a:r>
              <a:rPr lang="pl-PL" sz="3600" dirty="0" err="1"/>
              <a:t>layer</a:t>
            </a:r>
            <a:r>
              <a:rPr lang="pl-PL" sz="3600" dirty="0"/>
              <a:t> </a:t>
            </a:r>
            <a:r>
              <a:rPr lang="pl-PL" sz="3600" dirty="0" err="1"/>
              <a:t>normalization</a:t>
            </a:r>
            <a:endParaRPr lang="en-GB" sz="3600" dirty="0"/>
          </a:p>
        </p:txBody>
      </p:sp>
      <p:sp>
        <p:nvSpPr>
          <p:cNvPr id="3" name="Symbol zastępczy zawartości 2">
            <a:extLst>
              <a:ext uri="{FF2B5EF4-FFF2-40B4-BE49-F238E27FC236}">
                <a16:creationId xmlns:a16="http://schemas.microsoft.com/office/drawing/2014/main" id="{478300B1-4E02-E2D8-36CF-651461306B72}"/>
              </a:ext>
            </a:extLst>
          </p:cNvPr>
          <p:cNvSpPr>
            <a:spLocks noGrp="1"/>
          </p:cNvSpPr>
          <p:nvPr>
            <p:ph idx="1"/>
          </p:nvPr>
        </p:nvSpPr>
        <p:spPr>
          <a:xfrm>
            <a:off x="428577" y="1002112"/>
            <a:ext cx="10890452" cy="5486555"/>
          </a:xfrm>
        </p:spPr>
        <p:txBody>
          <a:bodyPr>
            <a:normAutofit fontScale="77500" lnSpcReduction="20000"/>
          </a:bodyPr>
          <a:lstStyle/>
          <a:p>
            <a:pPr marL="0" indent="0" algn="l">
              <a:lnSpc>
                <a:spcPct val="120000"/>
              </a:lnSpc>
              <a:buNone/>
            </a:pPr>
            <a:r>
              <a:rPr lang="en-GB" b="1" i="0" dirty="0" err="1">
                <a:solidFill>
                  <a:srgbClr val="0D0D0D"/>
                </a:solidFill>
                <a:effectLst/>
                <a:highlight>
                  <a:srgbClr val="FFFFFF"/>
                </a:highlight>
                <a:latin typeface="Söhne"/>
              </a:rPr>
              <a:t>BatchNormalization</a:t>
            </a:r>
            <a:r>
              <a:rPr lang="en-GB" b="1" i="0" dirty="0">
                <a:solidFill>
                  <a:srgbClr val="0D0D0D"/>
                </a:solidFill>
                <a:effectLst/>
                <a:highlight>
                  <a:srgbClr val="FFFFFF"/>
                </a:highlight>
                <a:latin typeface="Söhne"/>
              </a:rPr>
              <a:t>() </a:t>
            </a:r>
            <a:r>
              <a:rPr lang="en-GB" i="0" dirty="0">
                <a:solidFill>
                  <a:srgbClr val="0D0D0D"/>
                </a:solidFill>
                <a:effectLst/>
                <a:highlight>
                  <a:srgbClr val="FFFFFF"/>
                </a:highlight>
                <a:latin typeface="Söhne"/>
              </a:rPr>
              <a:t>is a technique for </a:t>
            </a:r>
            <a:r>
              <a:rPr lang="en-GB" b="1" i="0" dirty="0">
                <a:solidFill>
                  <a:srgbClr val="0D0D0D"/>
                </a:solidFill>
                <a:effectLst/>
                <a:highlight>
                  <a:srgbClr val="FFFFFF"/>
                </a:highlight>
                <a:latin typeface="Söhne"/>
              </a:rPr>
              <a:t>normalizing input data for each mini-batch during the training of a neural network</a:t>
            </a:r>
            <a:r>
              <a:rPr lang="en-GB" i="0" dirty="0">
                <a:solidFill>
                  <a:srgbClr val="0D0D0D"/>
                </a:solidFill>
                <a:effectLst/>
                <a:highlight>
                  <a:srgbClr val="FFFFFF"/>
                </a:highlight>
                <a:latin typeface="Söhne"/>
              </a:rPr>
              <a:t>. The normalization of input data involves </a:t>
            </a:r>
            <a:r>
              <a:rPr lang="en-GB" b="1" i="0" dirty="0">
                <a:solidFill>
                  <a:srgbClr val="0D0D0D"/>
                </a:solidFill>
                <a:effectLst/>
                <a:highlight>
                  <a:srgbClr val="FFFFFF"/>
                </a:highlight>
                <a:latin typeface="Söhne"/>
              </a:rPr>
              <a:t>scaling activations </a:t>
            </a:r>
            <a:r>
              <a:rPr lang="en-GB" i="0" dirty="0">
                <a:solidFill>
                  <a:srgbClr val="0D0D0D"/>
                </a:solidFill>
                <a:effectLst/>
                <a:highlight>
                  <a:srgbClr val="FFFFFF"/>
                </a:highlight>
                <a:latin typeface="Söhne"/>
              </a:rPr>
              <a:t>(e.g., output values from activation functions) to have a mean close to 0 and a variance close to 1. This is achieved by computing the mean and standard deviation for each batch of training data and applying a linear transformation to each activation. This transformation normalizes activations by subtracting the mean and dividing by the standard deviation.</a:t>
            </a:r>
          </a:p>
          <a:p>
            <a:pPr marL="0" indent="0" algn="l">
              <a:lnSpc>
                <a:spcPct val="120000"/>
              </a:lnSpc>
              <a:buNone/>
            </a:pPr>
            <a:endParaRPr lang="en-GB" i="0" dirty="0">
              <a:solidFill>
                <a:srgbClr val="0D0D0D"/>
              </a:solidFill>
              <a:effectLst/>
              <a:highlight>
                <a:srgbClr val="FFFFFF"/>
              </a:highlight>
              <a:latin typeface="Söhne"/>
            </a:endParaRPr>
          </a:p>
          <a:p>
            <a:pPr marL="0" indent="0" algn="l">
              <a:lnSpc>
                <a:spcPct val="120000"/>
              </a:lnSpc>
              <a:buNone/>
            </a:pPr>
            <a:r>
              <a:rPr lang="en-GB" i="0" dirty="0">
                <a:solidFill>
                  <a:srgbClr val="0D0D0D"/>
                </a:solidFill>
                <a:effectLst/>
                <a:highlight>
                  <a:srgbClr val="FFFFFF"/>
                </a:highlight>
                <a:latin typeface="Söhne"/>
              </a:rPr>
              <a:t>The benefits of using </a:t>
            </a:r>
            <a:r>
              <a:rPr lang="en-GB" i="0" dirty="0" err="1">
                <a:solidFill>
                  <a:srgbClr val="0D0D0D"/>
                </a:solidFill>
                <a:effectLst/>
                <a:highlight>
                  <a:srgbClr val="FFFFFF"/>
                </a:highlight>
                <a:latin typeface="Söhne"/>
              </a:rPr>
              <a:t>BatchNormalization</a:t>
            </a:r>
            <a:r>
              <a:rPr lang="en-GB" i="0" dirty="0">
                <a:solidFill>
                  <a:srgbClr val="0D0D0D"/>
                </a:solidFill>
                <a:effectLst/>
                <a:highlight>
                  <a:srgbClr val="FFFFFF"/>
                </a:highlight>
                <a:latin typeface="Söhne"/>
              </a:rPr>
              <a:t> include:</a:t>
            </a:r>
          </a:p>
          <a:p>
            <a:pPr marL="0" indent="0" algn="l">
              <a:lnSpc>
                <a:spcPct val="120000"/>
              </a:lnSpc>
              <a:buNone/>
            </a:pPr>
            <a:r>
              <a:rPr lang="en-GB" i="0" dirty="0">
                <a:solidFill>
                  <a:srgbClr val="0D0D0D"/>
                </a:solidFill>
                <a:effectLst/>
                <a:highlight>
                  <a:srgbClr val="FFFFFF"/>
                </a:highlight>
                <a:latin typeface="Söhne"/>
              </a:rPr>
              <a:t>1. Reduction of the vanishing/exploding gradient problem.</a:t>
            </a:r>
          </a:p>
          <a:p>
            <a:pPr marL="0" indent="0" algn="l">
              <a:lnSpc>
                <a:spcPct val="120000"/>
              </a:lnSpc>
              <a:buNone/>
            </a:pPr>
            <a:r>
              <a:rPr lang="en-GB" i="0" dirty="0">
                <a:solidFill>
                  <a:srgbClr val="0D0D0D"/>
                </a:solidFill>
                <a:effectLst/>
                <a:highlight>
                  <a:srgbClr val="FFFFFF"/>
                </a:highlight>
                <a:latin typeface="Söhne"/>
              </a:rPr>
              <a:t>2. Faster learning.</a:t>
            </a:r>
          </a:p>
          <a:p>
            <a:pPr marL="0" indent="0" algn="l">
              <a:lnSpc>
                <a:spcPct val="120000"/>
              </a:lnSpc>
              <a:buNone/>
            </a:pPr>
            <a:r>
              <a:rPr lang="en-GB" i="0" dirty="0">
                <a:solidFill>
                  <a:srgbClr val="0D0D0D"/>
                </a:solidFill>
                <a:effectLst/>
                <a:highlight>
                  <a:srgbClr val="FFFFFF"/>
                </a:highlight>
                <a:latin typeface="Söhne"/>
              </a:rPr>
              <a:t>3. Regularization.</a:t>
            </a:r>
          </a:p>
          <a:p>
            <a:pPr marL="0" indent="0" algn="l">
              <a:lnSpc>
                <a:spcPct val="120000"/>
              </a:lnSpc>
              <a:buNone/>
            </a:pPr>
            <a:r>
              <a:rPr lang="en-GB" i="0" dirty="0">
                <a:solidFill>
                  <a:srgbClr val="0D0D0D"/>
                </a:solidFill>
                <a:effectLst/>
                <a:highlight>
                  <a:srgbClr val="FFFFFF"/>
                </a:highlight>
                <a:latin typeface="Söhne"/>
              </a:rPr>
              <a:t>4. Increased ability to use larger learning rates.</a:t>
            </a:r>
            <a:endParaRPr lang="pl-PL" i="0" dirty="0">
              <a:solidFill>
                <a:srgbClr val="0D0D0D"/>
              </a:solidFill>
              <a:effectLst/>
              <a:highlight>
                <a:srgbClr val="FFFFFF"/>
              </a:highlight>
              <a:latin typeface="Söhne"/>
            </a:endParaRPr>
          </a:p>
        </p:txBody>
      </p:sp>
      <p:sp>
        <p:nvSpPr>
          <p:cNvPr id="5" name="pole tekstowe 4">
            <a:extLst>
              <a:ext uri="{FF2B5EF4-FFF2-40B4-BE49-F238E27FC236}">
                <a16:creationId xmlns:a16="http://schemas.microsoft.com/office/drawing/2014/main" id="{DF92DB40-C32E-3829-EB50-3E9E35281002}"/>
              </a:ext>
            </a:extLst>
          </p:cNvPr>
          <p:cNvSpPr txBox="1"/>
          <p:nvPr/>
        </p:nvSpPr>
        <p:spPr>
          <a:xfrm>
            <a:off x="0" y="6488668"/>
            <a:ext cx="12192000" cy="369332"/>
          </a:xfrm>
          <a:prstGeom prst="rect">
            <a:avLst/>
          </a:prstGeom>
          <a:noFill/>
        </p:spPr>
        <p:txBody>
          <a:bodyPr wrap="square">
            <a:spAutoFit/>
          </a:bodyPr>
          <a:lstStyle/>
          <a:p>
            <a:pPr algn="ctr"/>
            <a:r>
              <a:rPr lang="pl-PL" dirty="0"/>
              <a:t> </a:t>
            </a:r>
            <a:r>
              <a:rPr lang="en-GB" dirty="0">
                <a:hlinkClick r:id="rId2"/>
              </a:rPr>
              <a:t>https://keras.io/api/layers/normalization_layers/batch_normalization/</a:t>
            </a:r>
            <a:r>
              <a:rPr lang="pl-PL" dirty="0"/>
              <a:t> </a:t>
            </a:r>
            <a:endParaRPr lang="en-GB" dirty="0"/>
          </a:p>
        </p:txBody>
      </p:sp>
    </p:spTree>
    <p:extLst>
      <p:ext uri="{BB962C8B-B14F-4D97-AF65-F5344CB8AC3E}">
        <p14:creationId xmlns:p14="http://schemas.microsoft.com/office/powerpoint/2010/main" val="2417221253"/>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39560DD5EACC3A4883931CE25E681C13" ma:contentTypeVersion="12" ma:contentTypeDescription="Utwórz nowy dokument." ma:contentTypeScope="" ma:versionID="225414537788ba921602c93429d1862c">
  <xsd:schema xmlns:xsd="http://www.w3.org/2001/XMLSchema" xmlns:xs="http://www.w3.org/2001/XMLSchema" xmlns:p="http://schemas.microsoft.com/office/2006/metadata/properties" xmlns:ns2="9cc3bcd5-69bb-4e02-b16f-4726ff52c97b" xmlns:ns3="6c192778-bd33-427a-a015-88c5b575c2e6" targetNamespace="http://schemas.microsoft.com/office/2006/metadata/properties" ma:root="true" ma:fieldsID="add4e3fd5c8be1f7c44a4cc726c1fd88" ns2:_="" ns3:_="">
    <xsd:import namespace="9cc3bcd5-69bb-4e02-b16f-4726ff52c97b"/>
    <xsd:import namespace="6c192778-bd33-427a-a015-88c5b575c2e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c3bcd5-69bb-4e02-b16f-4726ff52c9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Tagi obrazów" ma:readOnly="false" ma:fieldId="{5cf76f15-5ced-4ddc-b409-7134ff3c332f}" ma:taxonomyMulti="true" ma:sspId="6acc8a4f-7760-4777-b4cb-e58fd8606a5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c192778-bd33-427a-a015-88c5b575c2e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8e26047-da94-4cfb-b406-53ca9e0f70e5}" ma:internalName="TaxCatchAll" ma:showField="CatchAllData" ma:web="6c192778-bd33-427a-a015-88c5b575c2e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cc3bcd5-69bb-4e02-b16f-4726ff52c97b">
      <Terms xmlns="http://schemas.microsoft.com/office/infopath/2007/PartnerControls"/>
    </lcf76f155ced4ddcb4097134ff3c332f>
    <TaxCatchAll xmlns="6c192778-bd33-427a-a015-88c5b575c2e6" xsi:nil="true"/>
  </documentManagement>
</p:properties>
</file>

<file path=customXml/itemProps1.xml><?xml version="1.0" encoding="utf-8"?>
<ds:datastoreItem xmlns:ds="http://schemas.openxmlformats.org/officeDocument/2006/customXml" ds:itemID="{D62C7CB9-A1C4-4FC7-B006-620122D53010}"/>
</file>

<file path=customXml/itemProps2.xml><?xml version="1.0" encoding="utf-8"?>
<ds:datastoreItem xmlns:ds="http://schemas.openxmlformats.org/officeDocument/2006/customXml" ds:itemID="{56770F79-A8E0-473F-85D2-97AF505702CA}"/>
</file>

<file path=customXml/itemProps3.xml><?xml version="1.0" encoding="utf-8"?>
<ds:datastoreItem xmlns:ds="http://schemas.openxmlformats.org/officeDocument/2006/customXml" ds:itemID="{382B19E0-8976-45BC-9512-F94BBD98260A}"/>
</file>

<file path=docProps/app.xml><?xml version="1.0" encoding="utf-8"?>
<Properties xmlns="http://schemas.openxmlformats.org/officeDocument/2006/extended-properties" xmlns:vt="http://schemas.openxmlformats.org/officeDocument/2006/docPropsVTypes">
  <TotalTime>3997</TotalTime>
  <Words>2505</Words>
  <Application>Microsoft Office PowerPoint</Application>
  <PresentationFormat>Panoramiczny</PresentationFormat>
  <Paragraphs>240</Paragraphs>
  <Slides>37</Slides>
  <Notes>32</Notes>
  <HiddenSlides>0</HiddenSlides>
  <MMClips>1</MMClips>
  <ScaleCrop>false</ScaleCrop>
  <HeadingPairs>
    <vt:vector size="6" baseType="variant">
      <vt:variant>
        <vt:lpstr>Używane czcionki</vt:lpstr>
      </vt:variant>
      <vt:variant>
        <vt:i4>8</vt:i4>
      </vt:variant>
      <vt:variant>
        <vt:lpstr>Motyw</vt:lpstr>
      </vt:variant>
      <vt:variant>
        <vt:i4>1</vt:i4>
      </vt:variant>
      <vt:variant>
        <vt:lpstr>Tytuły slajdów</vt:lpstr>
      </vt:variant>
      <vt:variant>
        <vt:i4>37</vt:i4>
      </vt:variant>
    </vt:vector>
  </HeadingPairs>
  <TitlesOfParts>
    <vt:vector size="46" baseType="lpstr">
      <vt:lpstr>Arial</vt:lpstr>
      <vt:lpstr>Bahnschrift Light</vt:lpstr>
      <vt:lpstr>Calibri</vt:lpstr>
      <vt:lpstr>Calibri Light</vt:lpstr>
      <vt:lpstr>Comic Sans MS</vt:lpstr>
      <vt:lpstr>Courier New</vt:lpstr>
      <vt:lpstr>Söhne</vt:lpstr>
      <vt:lpstr>Wingdings</vt:lpstr>
      <vt:lpstr>Motyw pakietu Office</vt:lpstr>
      <vt:lpstr>Machine Vision</vt:lpstr>
      <vt:lpstr>Image classification</vt:lpstr>
      <vt:lpstr>Image recognition in tic-tac-toe game</vt:lpstr>
      <vt:lpstr>Image recognition in tic-tac-toe game</vt:lpstr>
      <vt:lpstr>Image recognition - a regular neural network</vt:lpstr>
      <vt:lpstr>Image recognition - a regular neural network</vt:lpstr>
      <vt:lpstr>Image recognition - a regular neural network</vt:lpstr>
      <vt:lpstr>Image recognition - a regular neural network</vt:lpstr>
      <vt:lpstr>Image recognition - a regular neural network</vt:lpstr>
      <vt:lpstr>Convolutional Neural Network:   </vt:lpstr>
      <vt:lpstr>Convolutional Neural Network: 1. Convolution 2. Max pooling 3. Regular neural network</vt:lpstr>
      <vt:lpstr>Convolutional Neural Network: 1. Convolution 2. Max pooling 3. Regular neural network</vt:lpstr>
      <vt:lpstr>Convolutional Neural Network: 1. Convolution  </vt:lpstr>
      <vt:lpstr>Convolutional Neural Network: 1. Convolution  </vt:lpstr>
      <vt:lpstr>Convolutional Neural Network: 1. Convolution  </vt:lpstr>
      <vt:lpstr>Convolutional Neural Network: 1. Convolution  </vt:lpstr>
      <vt:lpstr>Convolutional Neural Network: 1. Convolution  </vt:lpstr>
      <vt:lpstr>Convolutional Neural Network: 1. Convolution  </vt:lpstr>
      <vt:lpstr>Convolutional Neural Network: 1. Convolution  </vt:lpstr>
      <vt:lpstr>Convolutional Neural Network: 1. Convolution  </vt:lpstr>
      <vt:lpstr>Convolutional Neural Network: 1. Convolution 2. Max pooling 3. Regular neural network</vt:lpstr>
      <vt:lpstr>Prezentacja programu PowerPoint</vt:lpstr>
      <vt:lpstr>Prezentacja programu PowerPoint</vt:lpstr>
      <vt:lpstr>Prezentacja programu PowerPoint</vt:lpstr>
      <vt:lpstr>Prezentacja programu PowerPoint</vt:lpstr>
      <vt:lpstr>Convolutional Neural Network: &gt; 3x3 filter, stride 1 + Relu &gt; Max Pooling 2x2, stride 2 &gt; 2x2 -&gt; 1x4 flatten &gt; Dense layer 1 node + Relu &gt; Output layer, 2 nodes</vt:lpstr>
      <vt:lpstr>Prezentacja programu PowerPoint</vt:lpstr>
      <vt:lpstr>Code</vt:lpstr>
      <vt:lpstr>Cross-entropy loss function</vt:lpstr>
      <vt:lpstr>Optymizator ADAM - Adaptive Moment Estimation</vt:lpstr>
      <vt:lpstr>Code</vt:lpstr>
      <vt:lpstr>Dropout layer</vt:lpstr>
      <vt:lpstr>Project 4 (14 points)</vt:lpstr>
      <vt:lpstr>Project 4</vt:lpstr>
      <vt:lpstr>Project 4</vt:lpstr>
      <vt:lpstr>Addendum: the initialized kernel weights in a given layer.</vt:lpstr>
      <vt:lpstr>Addendum: layer normalization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Metody Inżynierii Wiedzy</dc:title>
  <dc:creator>Michał Majewski</dc:creator>
  <cp:lastModifiedBy>Julia Wiśniewska</cp:lastModifiedBy>
  <cp:revision>54</cp:revision>
  <dcterms:created xsi:type="dcterms:W3CDTF">2024-02-17T08:37:25Z</dcterms:created>
  <dcterms:modified xsi:type="dcterms:W3CDTF">2026-05-03T19:38:09Z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0x01010039560DD5EACC3A4883931CE25E681C13</vt:lpwstr>
  </property>
</Properties>
</file>